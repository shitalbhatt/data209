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3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4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Insulin (µU/mL)</c:v>
                </c:pt>
              </c:strCache>
            </c:strRef>
          </c:tx>
          <c:spPr>
            <a:solidFill>
              <a:srgbClr val="3B6E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6E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19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Mean</c:v>
                  </c:pt>
                  <c:pt idx="1">
                    <c:v>Median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155.5</c:v>
                </c:pt>
                <c:pt idx="1">
                  <c:v>125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</c:scaling>
        <c:delete val="0"/>
        <c:axPos val="l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Skewness</c:v>
                </c:pt>
              </c:strCache>
            </c:strRef>
          </c:tx>
          <c:spPr>
            <a:solidFill>
              <a:srgbClr val="3B6E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Insulin</c:v>
                  </c:pt>
                  <c:pt idx="1">
                    <c:v>DiabetesPedigree</c:v>
                  </c:pt>
                  <c:pt idx="2">
                    <c:v>Age</c:v>
                  </c:pt>
                  <c:pt idx="3">
                    <c:v>Pregnancies</c:v>
                  </c:pt>
                  <c:pt idx="4">
                    <c:v>Glucose</c:v>
                  </c:pt>
                  <c:pt idx="5">
                    <c:v>SkinThickness</c:v>
                  </c:pt>
                  <c:pt idx="6">
                    <c:v>BMI</c:v>
                  </c:pt>
                  <c:pt idx="7">
                    <c:v>BloodPressure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2.27</c:v>
                </c:pt>
                <c:pt idx="1">
                  <c:v>1.92</c:v>
                </c:pt>
                <c:pt idx="2">
                  <c:v>1.13</c:v>
                </c:pt>
                <c:pt idx="3">
                  <c:v>0.9</c:v>
                </c:pt>
                <c:pt idx="4">
                  <c:v>0.17</c:v>
                </c:pt>
                <c:pt idx="5">
                  <c:v>0.11</c:v>
                </c:pt>
                <c:pt idx="6">
                  <c:v>-0.43</c:v>
                </c:pt>
                <c:pt idx="7">
                  <c:v>-1.84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8"/>
          <c:min val="-2.5"/>
        </c:scaling>
        <c:delete val="0"/>
        <c:axPos val="b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3B6E8F"/>
            </a:solidFill>
            <a:ln w="31750" cap="flat">
              <a:solidFill>
                <a:srgbClr val="3B6E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3B6E8F"/>
              </a:solidFill>
              <a:ln w="9525" cap="flat">
                <a:solidFill>
                  <a:srgbClr val="3B6E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102</c:v>
                </c:pt>
                <c:pt idx="1">
                  <c:v>108</c:v>
                </c:pt>
                <c:pt idx="2">
                  <c:v>116</c:v>
                </c:pt>
                <c:pt idx="3">
                  <c:v>112</c:v>
                </c:pt>
                <c:pt idx="4">
                  <c:v>124</c:v>
                </c:pt>
                <c:pt idx="5">
                  <c:v>133</c:v>
                </c:pt>
                <c:pt idx="6">
                  <c:v>141</c:v>
                </c:pt>
                <c:pt idx="7">
                  <c:v>138</c:v>
                </c:pt>
                <c:pt idx="8">
                  <c:v>147</c:v>
                </c:pt>
                <c:pt idx="9">
                  <c:v>158</c:v>
                </c:pt>
                <c:pt idx="10">
                  <c:v>181</c:v>
                </c:pt>
                <c:pt idx="11">
                  <c:v>190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8B9199"/>
            </a:solidFill>
            <a:ln w="31750" cap="flat">
              <a:solidFill>
                <a:srgbClr val="8B91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B9199"/>
              </a:solidFill>
              <a:ln w="9525" cap="flat">
                <a:solidFill>
                  <a:srgbClr val="8B91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104</c:v>
                </c:pt>
                <c:pt idx="1">
                  <c:v>110</c:v>
                </c:pt>
                <c:pt idx="2">
                  <c:v>115</c:v>
                </c:pt>
                <c:pt idx="3">
                  <c:v>121</c:v>
                </c:pt>
                <c:pt idx="4">
                  <c:v>126</c:v>
                </c:pt>
                <c:pt idx="5">
                  <c:v>132</c:v>
                </c:pt>
                <c:pt idx="6">
                  <c:v>137</c:v>
                </c:pt>
                <c:pt idx="7">
                  <c:v>143</c:v>
                </c:pt>
                <c:pt idx="8">
                  <c:v>148</c:v>
                </c:pt>
                <c:pt idx="9">
                  <c:v>154</c:v>
                </c:pt>
                <c:pt idx="10">
                  <c:v>159</c:v>
                </c:pt>
                <c:pt idx="11">
                  <c:v>165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 unit cube within 0.1 of an edge</c:v>
                </c:pt>
              </c:strCache>
            </c:strRef>
          </c:tx>
          <c:spPr>
            <a:solidFill>
              <a:srgbClr val="3B6E8F"/>
            </a:solidFill>
            <a:ln w="34925" cap="flat">
              <a:solidFill>
                <a:srgbClr val="3B6E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29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6E8F"/>
              </a:solidFill>
              <a:ln w="9525" cap="flat">
                <a:solidFill>
                  <a:srgbClr val="3B6E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 D</c:v>
                  </c:pt>
                  <c:pt idx="1">
                    <c:v>2 D</c:v>
                  </c:pt>
                  <c:pt idx="2">
                    <c:v>3 D</c:v>
                  </c:pt>
                  <c:pt idx="3">
                    <c:v>5 D</c:v>
                  </c:pt>
                  <c:pt idx="4">
                    <c:v>10 D</c:v>
                  </c:pt>
                  <c:pt idx="5">
                    <c:v>20 D</c:v>
                  </c:pt>
                  <c:pt idx="6">
                    <c:v>50 D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36</c:v>
                </c:pt>
                <c:pt idx="2">
                  <c:v>49</c:v>
                </c:pt>
                <c:pt idx="3">
                  <c:v>67</c:v>
                </c:pt>
                <c:pt idx="4">
                  <c:v>89</c:v>
                </c:pt>
                <c:pt idx="5">
                  <c:v>99</c:v>
                </c:pt>
                <c:pt idx="6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29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D8DD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6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sets the vocabulary for the whole course. Emphasise that everything here is about reading data, not modelling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the arc. Each module produces an artefact; the final project chains all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Tukey coined the term in Exploratory Data Analysis (1977). Contrast with the then-dominant confirmatory tradition.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feedback arrows: EDA sends you back to acquisition as often as it sends you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Pima dataset is women of Pima heritage aged 21+. Every conclusion is conditional on that frame — say so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an ungrouped example on the board. Ask which measure a news headline should have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mean is not wrong, it answers a different question. Skewness decides which to lead with.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BloodPressure's negative skew is an artefact of the disguised zeros — a preview of Module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run this live on pima.csv and call out the columns where mean and median diverge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exercise: postal codes are integers but nominal. Ask students for three more examples from their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read the Cytecare .xlsx with pandas and discover the merged-header problem for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ahead to Module 4: time-ordered data requires a time-based train/test split, never a random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on online_shoppers_intention.csv; the Month ordering problem is immediately visible in any plot.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brief — it is a flag planted for week 13, not a full treatment.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Pima is a single population; a model trained on it should not be presented as a general diabetes screener.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41732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10570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01 · WEEKS 1–3 · CO1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965960"/>
            <a:ext cx="97475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&amp; Data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for EDA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794760"/>
            <a:ext cx="8101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structure and distributional behaviour before any model is fitted.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Lectures · 3 Practicals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374136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74136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· Comprehension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181344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81344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· Online Shoppers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88552" y="502920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988552" y="5266944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seaborn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598932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Advanced Exploratory Data Analysis · BTech Hons. (Data Science), Semester III · Vidyashilp University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THIS MODULE SITS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modules,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behaviour, measurement scales, and how every kind of data is represented. You are here.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and multivariate technique. Graphical and non-graphical.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outliers, duplicates, encoding. Building a dataset you can trust.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Transformation, feature engineering, dimensionality reduction, closing the loop.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OUTCOME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be able to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where EDA sits in the data science lifecycle, and how it differs from confirmatory analysis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interpret measures of position, dispersion and shape — and say which to trust when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any variable as nominal, ordinal, interval or ratio, and know which operations are legal on each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text, time series, images, audio and video are represented numerically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sampling bias and ethical risk in a dataset before analysing 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203704"/>
          </a:xfrm>
          <a:prstGeom prst="roundRect">
            <a:avLst>
              <a:gd name="adj" fmla="val 2490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by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(week 7)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assessment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course outcome CO1 — analyse the statistical and structural characteristics of datasets for exploratory purposes.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4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L1–2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EDA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position · exploratory vs confirmatory · sampling and bias · distribution behaviour · robust statistics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0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1828800"/>
            <a:ext cx="274320" cy="274320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331720"/>
            <a:ext cx="95646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3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is looking at what the data seems to say — before you impose a hypothesis on it.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66928" y="4434840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Tukey's argument, 1977: the analyst's first job is detective work, not confirmation. You cannot draw reliable conclusions from a large quantity of data by gleaning over it.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LIFECYCLE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EDA sits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framing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 does this analysis support? What would a useful answer look like?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the data come from, who collected it, why, and what is missing by design?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quality, distributions, relationships, hypotheses. The subject of this course.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16736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encoding, transformation, feature construction. Driven by what EDA found.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0352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8096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8096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90160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96384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is a consequence of the distribution shape and structure EDA revealed.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13776" y="3918204"/>
            <a:ext cx="3480816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1520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31" name="Text 29"/>
          <p:cNvSpPr/>
          <p:nvPr/>
        </p:nvSpPr>
        <p:spPr>
          <a:xfrm>
            <a:off x="8351520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63584" y="4137660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9808" y="4668012"/>
            <a:ext cx="2968752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caveats, and what the data cannot tell you. Also an EDA product.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TWO MODES OF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vs. confirmatory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(EDA)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is open: what is going on here?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are an output, not an input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Graphical, iterative, sceptical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p-values to defend — you are generating leads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a surprising, checkable claim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Confirmatory (CDA)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is fixed before the data is seen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is an input, stated in advance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tests, significance, error rates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must hold and be checked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= a defensible accept/reject decision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cardinal sin is silently switching modes: exploring until something looks significant, then reporting it as confirmatory. That is p-hacking.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A COMMON CONFUSION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IDA vs. EDA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35254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Data Analysis (IDA)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Data Analysis (EDA)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the data is fit to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 structure and generate hypotheses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Immediately after 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IDA, before modelling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anything missing, malformed, duplicated?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patterns, groups and relationships exist?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cleaning log and a go/no-go 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Plots, summaries and a list of hypotheses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fails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back and fix the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back and ask a different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is quality control. EDA is discovery. Both happen before a model is fitted, and Module 3 returns to IDA in depth.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SAMPLING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ways a sample lies to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bias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sampling mechanism favours certain units. Website analytics only see people who reached the website.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cases are absent. Loan data holds approved applicants; rejected ones are invisible.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Non-response bias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who did not answer differ systematically from those who did.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bias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distorts. A sensor drifts; a survey question leads; a zero means 'not recorded'.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· INFERENCE INTUITION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Population, sample, and what you may claim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is a window, not the room. Every statistic you compute is an estimate carrying uncertainty.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samples reduce variance, not bias. A biased sampling frame stays biased at any size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sampling frame defines the population you may generalise to — usually narrower than the one you want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matters: repeated measurements of the same subject are not independent observations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generalising, ask: who could have been in this dataset but is not?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3154680"/>
          </a:xfrm>
          <a:prstGeom prst="roundRect">
            <a:avLst>
              <a:gd name="adj" fmla="val 1739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of every dataset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collected it?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Why, and for whom?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excluded?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was it collected?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changed since?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cynical about your data. Provenance questions are cheaper to ask now than to explain later.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A4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and robust statistics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of position, dispersion and shape — and knowing which of them to trust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MEASURES OF POSITION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tendency, and where each one fails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291840"/>
                <a:gridCol w="2926080"/>
                <a:gridCol w="28895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when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point of the distribution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Roughly symmetric, no extreme values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Skewed or outlier-contaminated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splitting the data into two halves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Skewed data, or outliers present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an algebraically tractable 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frequent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data, or multimodality matters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data with no repeats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Trimmed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after discarding the 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compromise between mean and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tails are the phenomenon of interest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WHY ROBUST STATISTICS EXIST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Mean vs. median on a skewed variable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· Insulin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= +2.27, a long right tail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sits 30 units above the median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'correct'; only one describes a typical patient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median and the IQR for skewed variables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pima.csv with the disguised zeros removed. A single summary number always conceals a shape.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MEASURES OF DISPERSION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Spread: four ways to say how much variation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931920"/>
                <a:gridCol w="1188720"/>
                <a:gridCol w="36210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in words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minus minimum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only two points; grows with sample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squared deviation from the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Squared units — hard to interpret directly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Square root of the 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units as the data; assumes symmetry to read well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IQR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minus Q1 — the middle 50%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spread measure to pair with the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report mean with standard deviation, or median with IQR. Never mix a mean with an IQR.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MEASURES OF SHAPE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Skewness across the Pima variables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11027664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long right tail. Negative = long left tail. Roughly |skew| &lt; 0.5 is near-symmetric; &gt; 1 is strongly skewed.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SHAPE, CONTINUED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Skewness and kurtosis, read plainly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— horizontal asymmetry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means symmetric about the mean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Positive: tail stretches right, mean &gt; median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Negative: tail stretches left, mean &lt; median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choice of summary statistic and, later, of transformation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 — weight in the tails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has excess kurtosis 0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(leptokurtic): heavy tails, more extreme values than normal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(platykurtic): light tails, values bunched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kurtosis warns that outlier rules tuned for normal data will over-flag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statistic replaces looking at the histogram. They compress the picture; they do not substitute for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FIRST CONTACT WITH OUTLIERS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boxplot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spans Q1 to Q3; the line inside is the median — not the mean.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Whiskers extend to the furthest point within 1.5 × IQR of the box edges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beyond the whiskers are flagged — flagged, not condemned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position within the whiskers reveals skew: Q3−Q2 &gt; Q2−Q1 means right skew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boxplot hides multimodality entirely — always pair it with a histogram or density plot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3154680"/>
          </a:xfrm>
          <a:prstGeom prst="roundRect">
            <a:avLst>
              <a:gd name="adj" fmla="val 1739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Five-number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(25th percentile)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(Q2)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(75th percentile)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returns to outliers properly: detection, influence, and the decision to treat, keep or investigate.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first-pass summary, in pandas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840480"/>
          </a:xfrm>
          <a:prstGeom prst="roundRect">
            <a:avLst>
              <a:gd name="adj" fmla="val 1429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pd.read_csv('pima.csv')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— structure before statistics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   # (768, 9)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         # is every column the type you expect?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 — position, dispersion, shape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df.describe().T   # count, mean, std, min, quartiles, max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df.skew()         # asymmetry per column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df.median(numeric_only=True)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— the robust pair, for skewed columns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q1, q3 = df['Insulin'].quantile([.25, .75])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print(df['Insulin'].median(), q3 - q1)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in this order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and dtypes first — a wrong dtype invalidates every statistic below it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describe().T is easier to read transposed when there are many columns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mean and median column by column: a large gap flags skew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P1–2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and summarise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problem statement, then load the dataset and check its shape and dtypes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dependent from independent variables and justify the split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mean, median, variance, standard deviation and IQR for every numeric column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histogram, boxplot and density plot for at least four variables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pivot table summarising one numeric variable across one categorical variable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per plot stating what it shows about the problem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diabetes.csv · winequality-red.csv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Practical 1.ipynb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Statistical Analysis Measures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central tendency and dispersion.ipynb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to summarize data.ipynb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notebook, run top to bottom, with an interpretation under every figure.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A4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L3–4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and representation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scales · discrete and continuous · structured to unstructured · text basics · time-series behaviour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MEASUREMENT SCALES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scales, and what they permit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with no order. Blood type, city, VisitorType. Legal: counts, mode, chi-square. Not: mean.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but gaps are not equal. Pain 1–10, satisfaction, education level. Legal: median, rank tests.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gaps, arbitrary zero. Temperature in °C, calendar year. Legal: mean, difference. Not: ratios.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gaps, true zero. Age, glucose, price, count. Legal: everything, including 'twice as much'.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CONSEQUENCES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scale allows you to do</a:t>
            </a:r>
            <a:endParaRPr lang="en-US" sz="3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956816"/>
                <a:gridCol w="1956816"/>
                <a:gridCol w="1956816"/>
                <a:gridCol w="195681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 /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/ percentiles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/ standard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Debatable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Ratios ('twice as large')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plot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Bar, pie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Bar, ordered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Histogram, 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Histogram, 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89788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a Likert scale is the most common breach of this table — widespread, occasionally defensible, always worth stating.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· A SECOND DISTINCTION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Discrete vs. continuous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Countable values, often integers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Pregnancies, page views, number of claims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plots and count plots; bins are natural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zero-inflation — many zeros with a long tail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value within a range, limited only by instrument precision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glucose, duration, price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and density plots; bin width is a choice you must defend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rounding that makes continuous data look discrete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be ratio-scaled. Discrete versus continuous decides the plot; the measurement scale decides the statistic.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DATA STRUCTURE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Structured, semi-structured, unstructured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schema, rows and columns. CSV, SQL tables, spreadsheets. Directly analysable — the Pima and shoppers datasets.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Self-describing but irregular. JSON, XML, logs, nested API responses. Needs flattening before analysis.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inherent tabular form. Free text, images, audio, video. Must be represented numerically first — L5–6.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FORMATS YOU WILL MEET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storage format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27664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3657600"/>
                <a:gridCol w="37124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out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F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Universal, human-readable, diff-friendly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dtypes; delimiters inside text; encoding errors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(.xlsx)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Ubiquitous in business; multiple sheets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headers; silent type coercion; hidden 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Semi-structured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Nested, self-describing, API-native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normalising; ragged records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Parquet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Columnar, typed, compressed, fast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human-readable; needs a library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2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Unstructured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at 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A64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— you define the parse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CATEGORICAL DATA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a categorical variable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frequency table — counts and proportions side by side.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cardinality: 5 categories is a bar plot, 500 is a grouping problem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imbalance: the Pima outcome is 65% / 35%, and the shoppers Revenue flag is roughly 85% / 15%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near-duplicate labels: 'Male', 'male', 'M ' are three categories to pandas and one to you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an empty string, 'Unknown', and NaN each mean — they are rarely the same thing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that work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 (counts)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plot (proportions)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bar for ordinal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Cross-tab for two categoricals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discovered here changes your sampling and evaluation strategy in Module 4. Note it now.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TEXT BASICS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free text to something countable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text is human-readable and machine-useless. Exploration begins after a representation choice.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— split into words; then normalise case, strip punctuation, optionally remove stop words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Bag-of-words: count each vocabulary term per document. Simple, interpretable, ignores word order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TF-IDF: down-weight terms common across all documents, up-weight distinctive ones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N-grams capture short phrases; embeddings capture meaning — both cost interpretability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EDA purposes, word frequency and document length distributions are usually enough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203704"/>
          </a:xfrm>
          <a:prstGeom prst="roundRect">
            <a:avLst>
              <a:gd name="adj" fmla="val 2490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text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Dataset.csv — 50,000 reviews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consumer reviews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product reviews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text like any other variable: length distribution, vocabulary size, most frequent terms, missing entries.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TIME-SERIES BEHAVIOUR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components in every series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before you model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— long-term direction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— a repeating pattern of fixed period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 — long waves with no fixed period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 — the residual noise and shocks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monthly series. Order matters: with time series you may not shuffle rows, and you may not split randomly.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· IN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Auditing and converting types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947428" cy="3607308"/>
          </a:xfrm>
          <a:prstGeom prst="roundRect">
            <a:avLst>
              <a:gd name="adj" fmla="val 1521"/>
            </a:avLst>
          </a:prstGeom>
          <a:solidFill>
            <a:srgbClr val="1B222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38528"/>
            <a:ext cx="6435364" cy="32964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what pandas guessed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df.dtypes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df.select_dtypes('object').nunique()   # cardinality of text columns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 what it guessed wrong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df['Month']  = pd.Categorical(df['Month'],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categories=['Feb','Mar','May','June','Jul',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'Aug','Sep','Oct','Nov','Dec'],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ordered=True)             # ordinal, not nominal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df['Revenue'] = df['Revenue'].astype(bool)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df['Date']    = pd.to_datetime(df['Date'], errors='coerce')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7FA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near-duplicate categories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df['VisitorType'] = df['VisitorType'].str.strip().str.lower()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4E9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df['VisitorType'].value_counts(normalize=True)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955463" y="1828800"/>
            <a:ext cx="36391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463" y="2286000"/>
            <a:ext cx="3639129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ordered Categorical sorts and plots in calendar order, not alphabetically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errors='coerce' turns unparseable dates into NaT instead of crashing — then count them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and lower before counting, or the same category appears twice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P3–4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handling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 column's dtype and correct the ones pandas guessed wrongly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an ordinal column to an ordered Categorical and show the effect on a plot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word-frequency table for a text column and plot the top 20 terms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 time series and describe its trend and any seasonality in words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frequency table for each categorical column and identify the imbalance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near-duplicate category label you found and how you resolved 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online_shoppers_intention.csv · HistoricalPrices.csv · IMDB Dataset.csv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Data Types.ipynb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Exploring Categorical Data.ipynb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 Text Data.ipynb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series.ipynb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notebook plus a short table of every type correction you made and why.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A4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2860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3B6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L5–6</a:t>
            </a:r>
            <a:endParaRPr lang="en-US" sz="7600" dirty="0"/>
          </a:p>
        </p:txBody>
      </p:sp>
      <p:sp>
        <p:nvSpPr>
          <p:cNvPr id="3" name="Shape 1"/>
          <p:cNvSpPr/>
          <p:nvPr/>
        </p:nvSpPr>
        <p:spPr>
          <a:xfrm>
            <a:off x="2944368" y="2395728"/>
            <a:ext cx="18288" cy="1371600"/>
          </a:xfrm>
          <a:prstGeom prst="rect">
            <a:avLst/>
          </a:prstGeom>
          <a:solidFill>
            <a:srgbClr val="6E7C86"/>
          </a:solidFill>
          <a:ln/>
        </p:spPr>
      </p:sp>
      <p:sp>
        <p:nvSpPr>
          <p:cNvPr id="4" name="Text 2"/>
          <p:cNvSpPr/>
          <p:nvPr/>
        </p:nvSpPr>
        <p:spPr>
          <a:xfrm>
            <a:off x="3310128" y="2286000"/>
            <a:ext cx="81930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Unstructured data and ethics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310128" y="3127248"/>
            <a:ext cx="79187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3CC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as matrix · audio as waveform · video as frames · curse of dimensionality · bias and ethical concern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MODALITIES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becomes an array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grid of pixel values. Grayscale is height × width; colour is height × width × 3 channels. Explore the intensity histogram.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0352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8096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1" name="Text 9"/>
          <p:cNvSpPr/>
          <p:nvPr/>
        </p:nvSpPr>
        <p:spPr>
          <a:xfrm>
            <a:off x="4578096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90160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96384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sampled over time. A 1-D array plus a sample rate. Explore the waveform, then the spectrogram.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13776" y="1783080"/>
            <a:ext cx="348081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1520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6" name="Text 14"/>
          <p:cNvSpPr/>
          <p:nvPr/>
        </p:nvSpPr>
        <p:spPr>
          <a:xfrm>
            <a:off x="8351520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863584" y="2002536"/>
            <a:ext cx="2474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9808" y="2532888"/>
            <a:ext cx="2968752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of frames. Frames × height × width × channels, plus a frame rate. Each frame is an image.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· READING THE REPRESENTATION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look at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29968"/>
            <a:ext cx="201168" cy="201168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and dtype — (H, W) or (H, W, 3), values 0–255 or 0–1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intensity histogram — exposure, contrast, clipping at 0 or 255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means — a colour cast reveals inconsistent capture conditions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consistency across the set — resizing is a modelling decision made here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85232" cy="3886200"/>
          </a:xfrm>
          <a:prstGeom prst="roundRect">
            <a:avLst>
              <a:gd name="adj" fmla="val 1412"/>
            </a:avLst>
          </a:prstGeom>
          <a:solidFill>
            <a:srgbClr val="F2F4F5"/>
          </a:solidFill>
          <a:ln w="9525">
            <a:solidFill>
              <a:srgbClr val="D8DD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029968"/>
            <a:ext cx="201168" cy="201168"/>
          </a:xfrm>
          <a:prstGeom prst="rect">
            <a:avLst/>
          </a:prstGeom>
          <a:solidFill>
            <a:srgbClr val="1B2229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947672"/>
            <a:ext cx="4443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01968" y="2450592"/>
            <a:ext cx="4700016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 and duration — 22,050 Hz or 44,100 Hz are typical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range and clipping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for loudness over time; spectrogram for frequency content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proportion — often the majority of a field recording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5852160"/>
            <a:ext cx="11027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exploratory checks, not preprocessing. You are establishing what the data is before deciding what to do with it.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· A WARNING FOR MODULE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curse of dimensionality, illustrated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837152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45186" y="1783080"/>
            <a:ext cx="3749406" cy="3840480"/>
          </a:xfrm>
          <a:prstGeom prst="roundRect">
            <a:avLst>
              <a:gd name="adj" fmla="val 1463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01218" y="2011680"/>
            <a:ext cx="32373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01218" y="2468880"/>
            <a:ext cx="323734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high dimensions almost every point is near a boundary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between points converge — 'nearest' stops meaning much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becomes sparse: you need exponentially more rows to fill the space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methods (KNN, k-means) degrade first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5779008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here only. Module 4 covers feature selection and dimensionality reduction as the response.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· ETHICS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 enters before you write any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16736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bias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the data records was already unequal. Faithful data can encode unfair outcomes.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7064" y="1783080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002536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20025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002536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bias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83096" y="2532888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groups are under-sampled. Findings will not transfer to them, however good the model.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16736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bias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proxy is not the thing. Arrests are not crime; clicks are not interest; cost is not need.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27064" y="3918204"/>
            <a:ext cx="5367528" cy="1842516"/>
          </a:xfrm>
          <a:prstGeom prst="roundRect">
            <a:avLst>
              <a:gd name="adj" fmla="val 3474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  <a:effectLst>
            <a:outerShdw sx="100000" sy="100000" kx="0" ky="0" algn="bl" rotWithShape="0" blurRad="88900" dist="12700" dir="5400000">
              <a:srgbClr val="9AA5AC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137660"/>
            <a:ext cx="402336" cy="402336"/>
          </a:xfrm>
          <a:prstGeom prst="ellipse">
            <a:avLst/>
          </a:prstGeom>
          <a:solidFill>
            <a:srgbClr val="EAF0F4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376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76872" y="4137660"/>
            <a:ext cx="4361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bias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83096" y="4668012"/>
            <a:ext cx="4855464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for everyone hides subgroup differences. Simpson's paradox is the statistical form.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 · PRACTICE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ethics checklist before you analyse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661659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in this dataset, who is missing, and would they have consented to this use?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dataset contain personal or sensitive attributes? If so, do you actually need them?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a finding here be used to disadvantage a group represented in the data?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proxy variables standing in for protected attributes — postcode for ethnicity, for example?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claim would be unsupportable outside the sampling frame, and have you written that caveat down?</a:t>
            </a:r>
            <a:endParaRPr lang="en-US" sz="1500" dirty="0"/>
          </a:p>
          <a:p>
            <a:pPr marL="228600" indent="-2286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be comfortable if the subjects of this data read your report?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4633" y="1783080"/>
            <a:ext cx="3969959" cy="2679192"/>
          </a:xfrm>
          <a:prstGeom prst="roundRect">
            <a:avLst>
              <a:gd name="adj" fmla="val 2048"/>
            </a:avLst>
          </a:prstGeom>
          <a:solidFill>
            <a:srgbClr val="EAF0F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80665" y="1993392"/>
            <a:ext cx="345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in the report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80665" y="2395728"/>
            <a:ext cx="3457895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frame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exclusions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variables used</a:t>
            </a:r>
            <a:endParaRPr lang="en-US" sz="12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you cannot make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5833872"/>
            <a:ext cx="10661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review is not a separate step at the end. It belongs in the same notebook as the first summary table.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237744" cy="237744"/>
          </a:xfrm>
          <a:prstGeom prst="rect">
            <a:avLst/>
          </a:prstGeom>
          <a:solidFill>
            <a:srgbClr val="3B6E8F"/>
          </a:solidFill>
          <a:ln/>
        </p:spPr>
      </p:sp>
      <p:sp>
        <p:nvSpPr>
          <p:cNvPr id="3" name="Text 1"/>
          <p:cNvSpPr/>
          <p:nvPr/>
        </p:nvSpPr>
        <p:spPr>
          <a:xfrm>
            <a:off x="950976" y="40233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A4F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SESSION P5–6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276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signals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6175492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865376"/>
            <a:ext cx="5590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77824" y="2286000"/>
            <a:ext cx="55537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 image, print its shape and dtype, and plot its pixel-intensity histogram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colour image into channels and compare the three distributions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 audio file, report its sample rate and duration, and plot the waveform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frames from a video and confirm each is an image array of the expected shape</a:t>
            </a:r>
            <a:endParaRPr lang="en-US" sz="1350" dirty="0"/>
          </a:p>
          <a:p>
            <a:pPr marL="254000" indent="-2540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note on what exploratory question each representation makes answerable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83526" y="1664208"/>
            <a:ext cx="4411066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1270" y="1810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21270" y="2066544"/>
            <a:ext cx="39355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1.png · 1.wav · 2.mp3 · 1.mp4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83526" y="2807208"/>
            <a:ext cx="4411066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1270" y="2953512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IN THE COURSE DRIVE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21270" y="320954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 IMAGE.ipynb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 data in  Audio.ipynb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 VIDEO.ipynb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2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modalities.ipynb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83526" y="4215384"/>
            <a:ext cx="4411066" cy="1014984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1430">
            <a:solidFill>
              <a:srgbClr val="D8DD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1270" y="4361688"/>
            <a:ext cx="39355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20" kern="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21270" y="4617720"/>
            <a:ext cx="393557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notebook covering all three modalities, with shapes and ranges stated explicitly.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A4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58368"/>
            <a:ext cx="11027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— what you should now be able to 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417320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now be able to: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EDA correctly in the lifecycle and distinguish it from confirmatory analysis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sampling biases that threaten a dataset and state its sampling frame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between mean and median, and between standard deviation and IQR, with a reason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skewness and kurtosis, and connect them to the shape of a histogram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263640" y="1874520"/>
            <a:ext cx="523951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variables by measurement scale and know which statistics are legal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dtypes correctly, including ordered categoricals and dates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text, time series, images, audio and video become numeric arrays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2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 ethics checklist to a dataset before analysing it</a:t>
            </a:r>
            <a:endParaRPr lang="en-US" sz="14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3B6E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TO READ MORE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for Module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Myatt &amp; Johnson — Making Sense of Data I, Ch. 1–2 (Wiley)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Mukhiya &amp; Ahmed — Hands-On EDA with Python, Ch. 1–3 (Packt, 2020)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Tukey — Exploratory Data Analysis (1977), Ch.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0352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access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0352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9" name="Text 7"/>
          <p:cNvSpPr/>
          <p:nvPr/>
        </p:nvSpPr>
        <p:spPr>
          <a:xfrm>
            <a:off x="4340352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NIST/SEMATECH e-Handbook, Ch. 1 — Exploratory Data Analysis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McKinney — Python for Data Analysis, 3rd ed. (wesmckinney.com/book)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Downey — Think Stats, 2nd ed., Ch. 1–4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Adhikari &amp; DeNero — Computational and Inferential Thinking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13776" y="1783080"/>
            <a:ext cx="3480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4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13776" y="2176272"/>
            <a:ext cx="3480816" cy="13716"/>
          </a:xfrm>
          <a:prstGeom prst="rect">
            <a:avLst/>
          </a:prstGeom>
          <a:solidFill>
            <a:srgbClr val="D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8113776" y="2331720"/>
            <a:ext cx="348081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user guide — categorical data, time series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tutorial — visualising distributions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scikit-image — images as NumPy arrays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5A6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Learn — Pandas (4-hour micro-course)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64373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DATA209 · Module 1 — Statistical &amp; Data Foundations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54512" y="64373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Vidyashilp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DATA209 Module 1 — Statistical &amp; Data Foundations</dc:title>
  <dc:subject>Advanced Exploratory Data Analysis</dc:subject>
  <dc:creator>Dr. Shital Bhatt</dc:creator>
  <cp:lastModifiedBy>Dr. Shital Bhatt</cp:lastModifiedBy>
  <cp:revision>1</cp:revision>
  <dcterms:created xsi:type="dcterms:W3CDTF">2026-07-29T13:14:08Z</dcterms:created>
  <dcterms:modified xsi:type="dcterms:W3CDTF">2026-07-29T13:14:08Z</dcterms:modified>
</cp:coreProperties>
</file>