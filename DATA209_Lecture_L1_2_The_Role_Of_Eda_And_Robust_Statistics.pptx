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Lecture L1-2. Every code result on these slides was produced by running the code, not typed by hand.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Example 1 of 4. Walk through the reasoning before showing the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Example 2 of 4. Walk through the reasoning before showing the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Example 3 of 4. Walk through the reasoning before showing the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Example 4 of 4. Walk through the reasoning before showing the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2229"/>
        </a:solidFill>
      </p:bgPr>
    </p:bg>
    <p:spTree>
      <p:nvGrpSpPr>
        <p:cNvPr id="1" name=""/>
        <p:cNvGrpSpPr/>
        <p:nvPr/>
      </p:nvGrpSpPr>
      <p:grpSpPr>
        <a:xfrm>
          <a:off x="0" y="0"/>
          <a:ext cx="0" cy="0"/>
          <a:chOff x="0" y="0"/>
          <a:chExt cx="0" cy="0"/>
        </a:xfrm>
      </p:grpSpPr>
      <p:sp>
        <p:nvSpPr>
          <p:cNvPr id="2" name="Shape 0"/>
          <p:cNvSpPr/>
          <p:nvPr/>
        </p:nvSpPr>
        <p:spPr>
          <a:xfrm>
            <a:off x="566928" y="1417320"/>
            <a:ext cx="274320" cy="274320"/>
          </a:xfrm>
          <a:prstGeom prst="rect">
            <a:avLst/>
          </a:prstGeom>
          <a:solidFill>
            <a:srgbClr val="3B6E8F"/>
          </a:solidFill>
          <a:ln/>
        </p:spPr>
      </p:sp>
      <p:sp>
        <p:nvSpPr>
          <p:cNvPr id="3" name="Text 1"/>
          <p:cNvSpPr/>
          <p:nvPr/>
        </p:nvSpPr>
        <p:spPr>
          <a:xfrm>
            <a:off x="1005840" y="1371600"/>
            <a:ext cx="10570464" cy="365760"/>
          </a:xfrm>
          <a:prstGeom prst="rect">
            <a:avLst/>
          </a:prstGeom>
          <a:noFill/>
          <a:ln/>
        </p:spPr>
        <p:txBody>
          <a:bodyPr wrap="square" lIns="0" tIns="0" rIns="0" bIns="0" rtlCol="0" anchor="ctr"/>
          <a:lstStyle/>
          <a:p>
            <a:pPr indent="0" marL="0">
              <a:buNone/>
            </a:pPr>
            <a:r>
              <a:rPr lang="en-US" sz="1200" b="1" spc="200" kern="0" dirty="0">
                <a:solidFill>
                  <a:srgbClr val="3B6E8F"/>
                </a:solidFill>
                <a:latin typeface="Courier New" pitchFamily="34" charset="0"/>
                <a:ea typeface="Courier New" pitchFamily="34" charset="-122"/>
                <a:cs typeface="Courier New" pitchFamily="34" charset="-120"/>
              </a:rPr>
              <a:t>LECTURE L1-2 · MODULE 1 · CO1</a:t>
            </a:r>
            <a:endParaRPr lang="en-US" sz="1200" dirty="0"/>
          </a:p>
        </p:txBody>
      </p:sp>
      <p:sp>
        <p:nvSpPr>
          <p:cNvPr id="4" name="Text 2"/>
          <p:cNvSpPr/>
          <p:nvPr/>
        </p:nvSpPr>
        <p:spPr>
          <a:xfrm>
            <a:off x="566928" y="1965960"/>
            <a:ext cx="9747504" cy="1737360"/>
          </a:xfrm>
          <a:prstGeom prst="rect">
            <a:avLst/>
          </a:prstGeom>
          <a:noFill/>
          <a:ln/>
        </p:spPr>
        <p:txBody>
          <a:bodyPr wrap="square" lIns="0" tIns="0" rIns="0" bIns="0" rtlCol="0" anchor="t"/>
          <a:lstStyle/>
          <a:p>
            <a:pPr indent="0" marL="0">
              <a:lnSpc>
                <a:spcPct val="102000"/>
              </a:lnSpc>
              <a:buNone/>
            </a:pPr>
            <a:r>
              <a:rPr lang="en-US" sz="4600" b="1" dirty="0">
                <a:solidFill>
                  <a:srgbClr val="FFFFFF"/>
                </a:solidFill>
                <a:latin typeface="Cambria" pitchFamily="34" charset="0"/>
                <a:ea typeface="Cambria" pitchFamily="34" charset="-122"/>
                <a:cs typeface="Cambria" pitchFamily="34" charset="-120"/>
              </a:rPr>
              <a:t>The role of EDA, and robust statistics</a:t>
            </a:r>
            <a:endParaRPr lang="en-US" sz="4600" dirty="0"/>
          </a:p>
        </p:txBody>
      </p:sp>
      <p:sp>
        <p:nvSpPr>
          <p:cNvPr id="5" name="Text 3"/>
          <p:cNvSpPr/>
          <p:nvPr/>
        </p:nvSpPr>
        <p:spPr>
          <a:xfrm>
            <a:off x="566928" y="3794760"/>
            <a:ext cx="8101584" cy="822960"/>
          </a:xfrm>
          <a:prstGeom prst="rect">
            <a:avLst/>
          </a:prstGeom>
          <a:noFill/>
          <a:ln/>
        </p:spPr>
        <p:txBody>
          <a:bodyPr wrap="square" lIns="0" tIns="0" rIns="0" bIns="0" rtlCol="0" anchor="ctr"/>
          <a:lstStyle/>
          <a:p>
            <a:pPr indent="0" marL="0">
              <a:buNone/>
            </a:pPr>
            <a:r>
              <a:rPr lang="en-US" sz="1600" dirty="0">
                <a:solidFill>
                  <a:srgbClr val="B9C2C9"/>
                </a:solidFill>
                <a:latin typeface="Calibri" pitchFamily="34" charset="0"/>
                <a:ea typeface="Calibri" pitchFamily="34" charset="-122"/>
                <a:cs typeface="Calibri" pitchFamily="34" charset="-120"/>
              </a:rPr>
              <a:t>Week 1 · Statistical &amp; Data Foundations — with worked examples on the Online Shoppers dataset (12,330 sessions × 18 columns).</a:t>
            </a:r>
            <a:endParaRPr lang="en-US" sz="1600" dirty="0"/>
          </a:p>
        </p:txBody>
      </p:sp>
      <p:sp>
        <p:nvSpPr>
          <p:cNvPr id="6" name="Text 4"/>
          <p:cNvSpPr/>
          <p:nvPr/>
        </p:nvSpPr>
        <p:spPr>
          <a:xfrm>
            <a:off x="566928" y="5029200"/>
            <a:ext cx="2606040" cy="219456"/>
          </a:xfrm>
          <a:prstGeom prst="rect">
            <a:avLst/>
          </a:prstGeom>
          <a:noFill/>
          <a:ln/>
        </p:spPr>
        <p:txBody>
          <a:bodyPr wrap="square" lIns="0" tIns="0" rIns="0" bIns="0" rtlCol="0" anchor="ctr"/>
          <a:lstStyle/>
          <a:p>
            <a:pPr indent="0" marL="0">
              <a:buNone/>
            </a:pPr>
            <a:r>
              <a:rPr lang="en-US" sz="900" spc="120" kern="0" dirty="0">
                <a:solidFill>
                  <a:srgbClr val="8B9199"/>
                </a:solidFill>
                <a:latin typeface="Courier New" pitchFamily="34" charset="0"/>
                <a:ea typeface="Courier New" pitchFamily="34" charset="-122"/>
                <a:cs typeface="Courier New" pitchFamily="34" charset="-120"/>
              </a:rPr>
              <a:t>WEEK</a:t>
            </a:r>
            <a:endParaRPr lang="en-US" sz="900" dirty="0"/>
          </a:p>
        </p:txBody>
      </p:sp>
      <p:sp>
        <p:nvSpPr>
          <p:cNvPr id="7" name="Text 5"/>
          <p:cNvSpPr/>
          <p:nvPr/>
        </p:nvSpPr>
        <p:spPr>
          <a:xfrm>
            <a:off x="566928" y="5266944"/>
            <a:ext cx="2606040" cy="310896"/>
          </a:xfrm>
          <a:prstGeom prst="rect">
            <a:avLst/>
          </a:prstGeom>
          <a:noFill/>
          <a:ln/>
        </p:spPr>
        <p:txBody>
          <a:bodyPr wrap="square" lIns="0" tIns="0" rIns="0" bIns="0" rtlCol="0" anchor="ctr"/>
          <a:lstStyle/>
          <a:p>
            <a:pPr indent="0" marL="0">
              <a:buNone/>
            </a:pPr>
            <a:r>
              <a:rPr lang="en-US" sz="1450" b="1" dirty="0">
                <a:solidFill>
                  <a:srgbClr val="FFFFFF"/>
                </a:solidFill>
                <a:latin typeface="Calibri" pitchFamily="34" charset="0"/>
                <a:ea typeface="Calibri" pitchFamily="34" charset="-122"/>
                <a:cs typeface="Calibri" pitchFamily="34" charset="-120"/>
              </a:rPr>
              <a:t>1</a:t>
            </a:r>
            <a:endParaRPr lang="en-US" sz="1450" dirty="0"/>
          </a:p>
        </p:txBody>
      </p:sp>
      <p:sp>
        <p:nvSpPr>
          <p:cNvPr id="8" name="Text 6"/>
          <p:cNvSpPr/>
          <p:nvPr/>
        </p:nvSpPr>
        <p:spPr>
          <a:xfrm>
            <a:off x="3374136" y="5029200"/>
            <a:ext cx="2606040" cy="219456"/>
          </a:xfrm>
          <a:prstGeom prst="rect">
            <a:avLst/>
          </a:prstGeom>
          <a:noFill/>
          <a:ln/>
        </p:spPr>
        <p:txBody>
          <a:bodyPr wrap="square" lIns="0" tIns="0" rIns="0" bIns="0" rtlCol="0" anchor="ctr"/>
          <a:lstStyle/>
          <a:p>
            <a:pPr indent="0" marL="0">
              <a:buNone/>
            </a:pPr>
            <a:r>
              <a:rPr lang="en-US" sz="900" spc="120" kern="0" dirty="0">
                <a:solidFill>
                  <a:srgbClr val="8B9199"/>
                </a:solidFill>
                <a:latin typeface="Courier New" pitchFamily="34" charset="0"/>
                <a:ea typeface="Courier New" pitchFamily="34" charset="-122"/>
                <a:cs typeface="Courier New" pitchFamily="34" charset="-120"/>
              </a:rPr>
              <a:t>SLIDES</a:t>
            </a:r>
            <a:endParaRPr lang="en-US" sz="900" dirty="0"/>
          </a:p>
        </p:txBody>
      </p:sp>
      <p:sp>
        <p:nvSpPr>
          <p:cNvPr id="9" name="Text 7"/>
          <p:cNvSpPr/>
          <p:nvPr/>
        </p:nvSpPr>
        <p:spPr>
          <a:xfrm>
            <a:off x="3374136" y="5266944"/>
            <a:ext cx="2606040" cy="310896"/>
          </a:xfrm>
          <a:prstGeom prst="rect">
            <a:avLst/>
          </a:prstGeom>
          <a:noFill/>
          <a:ln/>
        </p:spPr>
        <p:txBody>
          <a:bodyPr wrap="square" lIns="0" tIns="0" rIns="0" bIns="0" rtlCol="0" anchor="ctr"/>
          <a:lstStyle/>
          <a:p>
            <a:pPr indent="0" marL="0">
              <a:buNone/>
            </a:pPr>
            <a:r>
              <a:rPr lang="en-US" sz="1450" b="1" dirty="0">
                <a:solidFill>
                  <a:srgbClr val="FFFFFF"/>
                </a:solidFill>
                <a:latin typeface="Calibri" pitchFamily="34" charset="0"/>
                <a:ea typeface="Calibri" pitchFamily="34" charset="-122"/>
                <a:cs typeface="Calibri" pitchFamily="34" charset="-120"/>
              </a:rPr>
              <a:t>Deck pages 4–19</a:t>
            </a:r>
            <a:endParaRPr lang="en-US" sz="1450" dirty="0"/>
          </a:p>
        </p:txBody>
      </p:sp>
      <p:sp>
        <p:nvSpPr>
          <p:cNvPr id="10" name="Text 8"/>
          <p:cNvSpPr/>
          <p:nvPr/>
        </p:nvSpPr>
        <p:spPr>
          <a:xfrm>
            <a:off x="6181344" y="5029200"/>
            <a:ext cx="2606040" cy="219456"/>
          </a:xfrm>
          <a:prstGeom prst="rect">
            <a:avLst/>
          </a:prstGeom>
          <a:noFill/>
          <a:ln/>
        </p:spPr>
        <p:txBody>
          <a:bodyPr wrap="square" lIns="0" tIns="0" rIns="0" bIns="0" rtlCol="0" anchor="ctr"/>
          <a:lstStyle/>
          <a:p>
            <a:pPr indent="0" marL="0">
              <a:buNone/>
            </a:pPr>
            <a:r>
              <a:rPr lang="en-US" sz="900" spc="120" kern="0" dirty="0">
                <a:solidFill>
                  <a:srgbClr val="8B9199"/>
                </a:solidFill>
                <a:latin typeface="Courier New" pitchFamily="34" charset="0"/>
                <a:ea typeface="Courier New" pitchFamily="34" charset="-122"/>
                <a:cs typeface="Courier New" pitchFamily="34" charset="-120"/>
              </a:rPr>
              <a:t>LABORATORY</a:t>
            </a:r>
            <a:endParaRPr lang="en-US" sz="900" dirty="0"/>
          </a:p>
        </p:txBody>
      </p:sp>
      <p:sp>
        <p:nvSpPr>
          <p:cNvPr id="11" name="Text 9"/>
          <p:cNvSpPr/>
          <p:nvPr/>
        </p:nvSpPr>
        <p:spPr>
          <a:xfrm>
            <a:off x="6181344" y="5266944"/>
            <a:ext cx="2606040" cy="310896"/>
          </a:xfrm>
          <a:prstGeom prst="rect">
            <a:avLst/>
          </a:prstGeom>
          <a:noFill/>
          <a:ln/>
        </p:spPr>
        <p:txBody>
          <a:bodyPr wrap="square" lIns="0" tIns="0" rIns="0" bIns="0" rtlCol="0" anchor="ctr"/>
          <a:lstStyle/>
          <a:p>
            <a:pPr indent="0" marL="0">
              <a:buNone/>
            </a:pPr>
            <a:r>
              <a:rPr lang="en-US" sz="1450" b="1" dirty="0">
                <a:solidFill>
                  <a:srgbClr val="FFFFFF"/>
                </a:solidFill>
                <a:latin typeface="Calibri" pitchFamily="34" charset="0"/>
                <a:ea typeface="Calibri" pitchFamily="34" charset="-122"/>
                <a:cs typeface="Calibri" pitchFamily="34" charset="-120"/>
              </a:rPr>
              <a:t>P1-2</a:t>
            </a:r>
            <a:endParaRPr lang="en-US" sz="1450" dirty="0"/>
          </a:p>
        </p:txBody>
      </p:sp>
      <p:sp>
        <p:nvSpPr>
          <p:cNvPr id="12" name="Text 10"/>
          <p:cNvSpPr/>
          <p:nvPr/>
        </p:nvSpPr>
        <p:spPr>
          <a:xfrm>
            <a:off x="8988552" y="5029200"/>
            <a:ext cx="2606040" cy="219456"/>
          </a:xfrm>
          <a:prstGeom prst="rect">
            <a:avLst/>
          </a:prstGeom>
          <a:noFill/>
          <a:ln/>
        </p:spPr>
        <p:txBody>
          <a:bodyPr wrap="square" lIns="0" tIns="0" rIns="0" bIns="0" rtlCol="0" anchor="ctr"/>
          <a:lstStyle/>
          <a:p>
            <a:pPr indent="0" marL="0">
              <a:buNone/>
            </a:pPr>
            <a:r>
              <a:rPr lang="en-US" sz="900" spc="120" kern="0" dirty="0">
                <a:solidFill>
                  <a:srgbClr val="8B9199"/>
                </a:solidFill>
                <a:latin typeface="Courier New" pitchFamily="34" charset="0"/>
                <a:ea typeface="Courier New" pitchFamily="34" charset="-122"/>
                <a:cs typeface="Courier New" pitchFamily="34" charset="-120"/>
              </a:rPr>
              <a:t>EXAMPLES</a:t>
            </a:r>
            <a:endParaRPr lang="en-US" sz="900" dirty="0"/>
          </a:p>
        </p:txBody>
      </p:sp>
      <p:sp>
        <p:nvSpPr>
          <p:cNvPr id="13" name="Text 11"/>
          <p:cNvSpPr/>
          <p:nvPr/>
        </p:nvSpPr>
        <p:spPr>
          <a:xfrm>
            <a:off x="8988552" y="5266944"/>
            <a:ext cx="2606040" cy="310896"/>
          </a:xfrm>
          <a:prstGeom prst="rect">
            <a:avLst/>
          </a:prstGeom>
          <a:noFill/>
          <a:ln/>
        </p:spPr>
        <p:txBody>
          <a:bodyPr wrap="square" lIns="0" tIns="0" rIns="0" bIns="0" rtlCol="0" anchor="ctr"/>
          <a:lstStyle/>
          <a:p>
            <a:pPr indent="0" marL="0">
              <a:buNone/>
            </a:pPr>
            <a:r>
              <a:rPr lang="en-US" sz="1450" b="1" dirty="0">
                <a:solidFill>
                  <a:srgbClr val="FFFFFF"/>
                </a:solidFill>
                <a:latin typeface="Calibri" pitchFamily="34" charset="0"/>
                <a:ea typeface="Calibri" pitchFamily="34" charset="-122"/>
                <a:cs typeface="Calibri" pitchFamily="34" charset="-120"/>
              </a:rPr>
              <a:t>4 worked, all executed</a:t>
            </a:r>
            <a:endParaRPr lang="en-US" sz="1450" dirty="0"/>
          </a:p>
        </p:txBody>
      </p:sp>
      <p:sp>
        <p:nvSpPr>
          <p:cNvPr id="14" name="Text 12"/>
          <p:cNvSpPr/>
          <p:nvPr/>
        </p:nvSpPr>
        <p:spPr>
          <a:xfrm>
            <a:off x="566928" y="5989320"/>
            <a:ext cx="11027664" cy="274320"/>
          </a:xfrm>
          <a:prstGeom prst="rect">
            <a:avLst/>
          </a:prstGeom>
          <a:noFill/>
          <a:ln/>
        </p:spPr>
        <p:txBody>
          <a:bodyPr wrap="square" lIns="0" tIns="0" rIns="0" bIns="0" rtlCol="0" anchor="ctr"/>
          <a:lstStyle/>
          <a:p>
            <a:pPr indent="0" marL="0">
              <a:buNone/>
            </a:pPr>
            <a:r>
              <a:rPr lang="en-US" sz="1150" dirty="0">
                <a:solidFill>
                  <a:srgbClr val="8B9199"/>
                </a:solidFill>
                <a:latin typeface="Calibri" pitchFamily="34" charset="0"/>
                <a:ea typeface="Calibri" pitchFamily="34" charset="-122"/>
                <a:cs typeface="Calibri" pitchFamily="34" charset="-120"/>
              </a:rPr>
              <a:t>DATA209 Advanced Exploratory Data Analysis · BTech Hons. (Data Science), Semester III · Vidyashilp University</a:t>
            </a:r>
            <a:endParaRPr lang="en-US" sz="11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1027664" cy="237744"/>
          </a:xfrm>
          <a:prstGeom prst="rect">
            <a:avLst/>
          </a:prstGeom>
          <a:noFill/>
          <a:ln/>
        </p:spPr>
        <p:txBody>
          <a:bodyPr wrap="square" lIns="0" tIns="0" rIns="0" bIns="0" rtlCol="0" anchor="ctr"/>
          <a:lstStyle/>
          <a:p>
            <a:pPr indent="0" marL="0">
              <a:buNone/>
            </a:pPr>
            <a:r>
              <a:rPr lang="en-US" sz="1050" b="1" spc="160" kern="0" dirty="0">
                <a:solidFill>
                  <a:srgbClr val="3B6E8F"/>
                </a:solidFill>
                <a:latin typeface="Courier New" pitchFamily="34" charset="0"/>
                <a:ea typeface="Courier New" pitchFamily="34" charset="-122"/>
                <a:cs typeface="Courier New" pitchFamily="34" charset="-120"/>
              </a:rPr>
              <a:t>WHAT THIS LECTURE COVERS</a:t>
            </a:r>
            <a:endParaRPr lang="en-US" sz="1050" dirty="0"/>
          </a:p>
        </p:txBody>
      </p:sp>
      <p:sp>
        <p:nvSpPr>
          <p:cNvPr id="3" name="Text 1"/>
          <p:cNvSpPr/>
          <p:nvPr/>
        </p:nvSpPr>
        <p:spPr>
          <a:xfrm>
            <a:off x="566928" y="676656"/>
            <a:ext cx="11027664" cy="658368"/>
          </a:xfrm>
          <a:prstGeom prst="rect">
            <a:avLst/>
          </a:prstGeom>
          <a:noFill/>
          <a:ln/>
        </p:spPr>
        <p:txBody>
          <a:bodyPr wrap="square" lIns="0" tIns="0" rIns="0" bIns="0" rtlCol="0" anchor="t"/>
          <a:lstStyle/>
          <a:p>
            <a:pPr indent="0" marL="0">
              <a:buNone/>
            </a:pPr>
            <a:r>
              <a:rPr lang="en-US" sz="3000" b="1" dirty="0">
                <a:solidFill>
                  <a:srgbClr val="1B2229"/>
                </a:solidFill>
                <a:latin typeface="Cambria" pitchFamily="34" charset="0"/>
                <a:ea typeface="Cambria" pitchFamily="34" charset="-122"/>
                <a:cs typeface="Cambria" pitchFamily="34" charset="-120"/>
              </a:rPr>
              <a:t>Topics</a:t>
            </a:r>
            <a:endParaRPr lang="en-US" sz="3000" dirty="0"/>
          </a:p>
        </p:txBody>
      </p:sp>
      <p:sp>
        <p:nvSpPr>
          <p:cNvPr id="4" name="Text 2"/>
          <p:cNvSpPr/>
          <p:nvPr/>
        </p:nvSpPr>
        <p:spPr>
          <a:xfrm>
            <a:off x="566928" y="1783080"/>
            <a:ext cx="6616598" cy="3931920"/>
          </a:xfrm>
          <a:prstGeom prst="rect">
            <a:avLst/>
          </a:prstGeom>
          <a:noFill/>
          <a:ln/>
        </p:spPr>
        <p:txBody>
          <a:bodyPr wrap="square" lIns="0" tIns="0" rIns="0" bIns="0" rtlCol="0" anchor="t"/>
          <a:lstStyle/>
          <a:p>
            <a:pPr marL="228600" indent="-228600">
              <a:spcAft>
                <a:spcPts val="900"/>
              </a:spcAft>
              <a:buSzPct val="100000"/>
              <a:buChar char="•"/>
            </a:pPr>
            <a:r>
              <a:rPr lang="en-US" sz="1500" dirty="0">
                <a:solidFill>
                  <a:srgbClr val="5A646E"/>
                </a:solidFill>
                <a:latin typeface="Calibri" pitchFamily="34" charset="0"/>
                <a:ea typeface="Calibri" pitchFamily="34" charset="-122"/>
                <a:cs typeface="Calibri" pitchFamily="34" charset="-120"/>
              </a:rPr>
              <a:t>Role of EDA in the data science lifecycle</a:t>
            </a:r>
            <a:endParaRPr lang="en-US" sz="1500" dirty="0"/>
          </a:p>
          <a:p>
            <a:pPr marL="228600" indent="-228600">
              <a:spcAft>
                <a:spcPts val="900"/>
              </a:spcAft>
              <a:buSzPct val="100000"/>
              <a:buChar char="•"/>
            </a:pPr>
            <a:r>
              <a:rPr lang="en-US" sz="1500" dirty="0">
                <a:solidFill>
                  <a:srgbClr val="5A646E"/>
                </a:solidFill>
                <a:latin typeface="Calibri" pitchFamily="34" charset="0"/>
                <a:ea typeface="Calibri" pitchFamily="34" charset="-122"/>
                <a:cs typeface="Calibri" pitchFamily="34" charset="-120"/>
              </a:rPr>
              <a:t>Exploratory vs. confirmatory analysis</a:t>
            </a:r>
            <a:endParaRPr lang="en-US" sz="1500" dirty="0"/>
          </a:p>
          <a:p>
            <a:pPr marL="228600" indent="-228600">
              <a:spcAft>
                <a:spcPts val="900"/>
              </a:spcAft>
              <a:buSzPct val="100000"/>
              <a:buChar char="•"/>
            </a:pPr>
            <a:r>
              <a:rPr lang="en-US" sz="1500" dirty="0">
                <a:solidFill>
                  <a:srgbClr val="5A646E"/>
                </a:solidFill>
                <a:latin typeface="Calibri" pitchFamily="34" charset="0"/>
                <a:ea typeface="Calibri" pitchFamily="34" charset="-122"/>
                <a:cs typeface="Calibri" pitchFamily="34" charset="-120"/>
              </a:rPr>
              <a:t>Sampling bias and inference intuition</a:t>
            </a:r>
            <a:endParaRPr lang="en-US" sz="1500" dirty="0"/>
          </a:p>
          <a:p>
            <a:pPr marL="228600" indent="-228600">
              <a:spcAft>
                <a:spcPts val="900"/>
              </a:spcAft>
              <a:buSzPct val="100000"/>
              <a:buChar char="•"/>
            </a:pPr>
            <a:r>
              <a:rPr lang="en-US" sz="1500" dirty="0">
                <a:solidFill>
                  <a:srgbClr val="5A646E"/>
                </a:solidFill>
                <a:latin typeface="Calibri" pitchFamily="34" charset="0"/>
                <a:ea typeface="Calibri" pitchFamily="34" charset="-122"/>
                <a:cs typeface="Calibri" pitchFamily="34" charset="-120"/>
              </a:rPr>
              <a:t>Distribution behaviour: skewness, kurtosis, outliers</a:t>
            </a:r>
            <a:endParaRPr lang="en-US" sz="1500" dirty="0"/>
          </a:p>
          <a:p>
            <a:pPr marL="228600" indent="-228600">
              <a:spcAft>
                <a:spcPts val="900"/>
              </a:spcAft>
              <a:buSzPct val="100000"/>
              <a:buChar char="•"/>
            </a:pPr>
            <a:r>
              <a:rPr lang="en-US" sz="1500" dirty="0">
                <a:solidFill>
                  <a:srgbClr val="5A646E"/>
                </a:solidFill>
                <a:latin typeface="Calibri" pitchFamily="34" charset="0"/>
                <a:ea typeface="Calibri" pitchFamily="34" charset="-122"/>
                <a:cs typeface="Calibri" pitchFamily="34" charset="-120"/>
              </a:rPr>
              <a:t>Summary and robust statistics — median, IQR</a:t>
            </a:r>
            <a:endParaRPr lang="en-US" sz="1500" dirty="0"/>
          </a:p>
        </p:txBody>
      </p:sp>
      <p:sp>
        <p:nvSpPr>
          <p:cNvPr id="5" name="Shape 3"/>
          <p:cNvSpPr/>
          <p:nvPr/>
        </p:nvSpPr>
        <p:spPr>
          <a:xfrm>
            <a:off x="7624633" y="1783080"/>
            <a:ext cx="3969959" cy="2679192"/>
          </a:xfrm>
          <a:prstGeom prst="roundRect">
            <a:avLst>
              <a:gd name="adj" fmla="val 2048"/>
            </a:avLst>
          </a:prstGeom>
          <a:solidFill>
            <a:srgbClr val="EAF0F4"/>
          </a:solidFill>
          <a:ln w="12700">
            <a:solidFill>
              <a:srgbClr val="FFFFFF"/>
            </a:solidFill>
            <a:prstDash val="solid"/>
          </a:ln>
        </p:spPr>
      </p:sp>
      <p:sp>
        <p:nvSpPr>
          <p:cNvPr id="6" name="Text 4"/>
          <p:cNvSpPr/>
          <p:nvPr/>
        </p:nvSpPr>
        <p:spPr>
          <a:xfrm>
            <a:off x="7880665" y="1993392"/>
            <a:ext cx="3457895" cy="365760"/>
          </a:xfrm>
          <a:prstGeom prst="rect">
            <a:avLst/>
          </a:prstGeom>
          <a:noFill/>
          <a:ln/>
        </p:spPr>
        <p:txBody>
          <a:bodyPr wrap="square" lIns="0" tIns="0" rIns="0" bIns="0" rtlCol="0" anchor="ctr"/>
          <a:lstStyle/>
          <a:p>
            <a:pPr indent="0" marL="0">
              <a:buNone/>
            </a:pPr>
            <a:r>
              <a:rPr lang="en-US" sz="1300" b="1" dirty="0">
                <a:solidFill>
                  <a:srgbClr val="2A4F68"/>
                </a:solidFill>
                <a:latin typeface="Calibri" pitchFamily="34" charset="0"/>
                <a:ea typeface="Calibri" pitchFamily="34" charset="-122"/>
                <a:cs typeface="Calibri" pitchFamily="34" charset="-120"/>
              </a:rPr>
              <a:t>You will also get</a:t>
            </a:r>
            <a:endParaRPr lang="en-US" sz="1300" dirty="0"/>
          </a:p>
        </p:txBody>
      </p:sp>
      <p:sp>
        <p:nvSpPr>
          <p:cNvPr id="7" name="Text 5"/>
          <p:cNvSpPr/>
          <p:nvPr/>
        </p:nvSpPr>
        <p:spPr>
          <a:xfrm>
            <a:off x="7880665" y="2395728"/>
            <a:ext cx="3457895" cy="1901952"/>
          </a:xfrm>
          <a:prstGeom prst="rect">
            <a:avLst/>
          </a:prstGeom>
          <a:noFill/>
          <a:ln/>
        </p:spPr>
        <p:txBody>
          <a:bodyPr wrap="square" lIns="0" tIns="0" rIns="0" bIns="0" rtlCol="0" anchor="t"/>
          <a:lstStyle/>
          <a:p>
            <a:pPr marL="228600" indent="-228600">
              <a:spcAft>
                <a:spcPts val="600"/>
              </a:spcAft>
              <a:buSzPct val="100000"/>
              <a:buChar char="•"/>
            </a:pPr>
            <a:r>
              <a:rPr lang="en-US" sz="1250" dirty="0">
                <a:solidFill>
                  <a:srgbClr val="5A646E"/>
                </a:solidFill>
                <a:latin typeface="Calibri" pitchFamily="34" charset="0"/>
                <a:ea typeface="Calibri" pitchFamily="34" charset="-122"/>
                <a:cs typeface="Calibri" pitchFamily="34" charset="-120"/>
              </a:rPr>
              <a:t>Worked code on real data</a:t>
            </a:r>
            <a:endParaRPr lang="en-US" sz="1250" dirty="0"/>
          </a:p>
          <a:p>
            <a:pPr marL="228600" indent="-228600">
              <a:spcAft>
                <a:spcPts val="600"/>
              </a:spcAft>
              <a:buSzPct val="100000"/>
              <a:buChar char="•"/>
            </a:pPr>
            <a:r>
              <a:rPr lang="en-US" sz="1250" dirty="0">
                <a:solidFill>
                  <a:srgbClr val="5A646E"/>
                </a:solidFill>
                <a:latin typeface="Calibri" pitchFamily="34" charset="0"/>
                <a:ea typeface="Calibri" pitchFamily="34" charset="-122"/>
                <a:cs typeface="Calibri" pitchFamily="34" charset="-120"/>
              </a:rPr>
              <a:t>Key terms and common errors</a:t>
            </a:r>
            <a:endParaRPr lang="en-US" sz="1250" dirty="0"/>
          </a:p>
          <a:p>
            <a:pPr marL="228600" indent="-228600">
              <a:spcAft>
                <a:spcPts val="600"/>
              </a:spcAft>
              <a:buSzPct val="100000"/>
              <a:buChar char="•"/>
            </a:pPr>
            <a:r>
              <a:rPr lang="en-US" sz="1250" dirty="0">
                <a:solidFill>
                  <a:srgbClr val="5A646E"/>
                </a:solidFill>
                <a:latin typeface="Calibri" pitchFamily="34" charset="0"/>
                <a:ea typeface="Calibri" pitchFamily="34" charset="-122"/>
                <a:cs typeface="Calibri" pitchFamily="34" charset="-120"/>
              </a:rPr>
              <a:t>Free readings</a:t>
            </a:r>
            <a:endParaRPr lang="en-US" sz="1250" dirty="0"/>
          </a:p>
          <a:p>
            <a:pPr marL="228600" indent="-228600">
              <a:spcAft>
                <a:spcPts val="600"/>
              </a:spcAft>
              <a:buSzPct val="100000"/>
              <a:buChar char="•"/>
            </a:pPr>
            <a:r>
              <a:rPr lang="en-US" sz="1250" dirty="0">
                <a:solidFill>
                  <a:srgbClr val="5A646E"/>
                </a:solidFill>
                <a:latin typeface="Calibri" pitchFamily="34" charset="0"/>
                <a:ea typeface="Calibri" pitchFamily="34" charset="-122"/>
                <a:cs typeface="Calibri" pitchFamily="34" charset="-120"/>
              </a:rPr>
              <a:t>Self-check questions</a:t>
            </a:r>
            <a:endParaRPr lang="en-US" sz="1250" dirty="0"/>
          </a:p>
        </p:txBody>
      </p:sp>
      <p:sp>
        <p:nvSpPr>
          <p:cNvPr id="8" name="Text 6"/>
          <p:cNvSpPr/>
          <p:nvPr/>
        </p:nvSpPr>
        <p:spPr>
          <a:xfrm>
            <a:off x="566928" y="5833872"/>
            <a:ext cx="10661904" cy="457200"/>
          </a:xfrm>
          <a:prstGeom prst="rect">
            <a:avLst/>
          </a:prstGeom>
          <a:noFill/>
          <a:ln/>
        </p:spPr>
        <p:txBody>
          <a:bodyPr wrap="square" lIns="0" tIns="0" rIns="0" bIns="0" rtlCol="0" anchor="ctr"/>
          <a:lstStyle/>
          <a:p>
            <a:pPr indent="0" marL="0">
              <a:buNone/>
            </a:pPr>
            <a:r>
              <a:rPr lang="en-US" sz="1200" i="1" dirty="0">
                <a:solidFill>
                  <a:srgbClr val="2A4F68"/>
                </a:solidFill>
                <a:latin typeface="Calibri" pitchFamily="34" charset="0"/>
                <a:ea typeface="Calibri" pitchFamily="34" charset="-122"/>
                <a:cs typeface="Calibri" pitchFamily="34" charset="-120"/>
              </a:rPr>
              <a:t>Laboratory session P1-2 puts these into practice.</a:t>
            </a:r>
            <a:endParaRPr lang="en-US" sz="1200" dirty="0"/>
          </a:p>
        </p:txBody>
      </p:sp>
      <p:sp>
        <p:nvSpPr>
          <p:cNvPr id="9" name="Text 7"/>
          <p:cNvSpPr/>
          <p:nvPr/>
        </p:nvSpPr>
        <p:spPr>
          <a:xfrm>
            <a:off x="566928" y="6437376"/>
            <a:ext cx="6400800" cy="256032"/>
          </a:xfrm>
          <a:prstGeom prst="rect">
            <a:avLst/>
          </a:prstGeom>
          <a:noFill/>
          <a:ln/>
        </p:spPr>
        <p:txBody>
          <a:bodyPr wrap="square" lIns="0" tIns="0" rIns="0" bIns="0" rtlCol="0" anchor="ctr"/>
          <a:lstStyle/>
          <a:p>
            <a:pPr algn="l" indent="0" marL="0">
              <a:buNone/>
            </a:pPr>
            <a:r>
              <a:rPr lang="en-US" sz="900" dirty="0">
                <a:solidFill>
                  <a:srgbClr val="8B9199"/>
                </a:solidFill>
                <a:latin typeface="Calibri" pitchFamily="34" charset="0"/>
                <a:ea typeface="Calibri" pitchFamily="34" charset="-122"/>
                <a:cs typeface="Calibri" pitchFamily="34" charset="-120"/>
              </a:rPr>
              <a:t>DATA209 · Module 1 — L1-2 The role of EDA, and robust statistics</a:t>
            </a:r>
            <a:endParaRPr lang="en-US" sz="900" dirty="0"/>
          </a:p>
        </p:txBody>
      </p:sp>
      <p:sp>
        <p:nvSpPr>
          <p:cNvPr id="10" name="Text 8"/>
          <p:cNvSpPr/>
          <p:nvPr/>
        </p:nvSpPr>
        <p:spPr>
          <a:xfrm>
            <a:off x="10954512" y="6437376"/>
            <a:ext cx="640080" cy="256032"/>
          </a:xfrm>
          <a:prstGeom prst="rect">
            <a:avLst/>
          </a:prstGeom>
          <a:noFill/>
          <a:ln/>
        </p:spPr>
        <p:txBody>
          <a:bodyPr wrap="square" lIns="0" tIns="0" rIns="0" bIns="0" rtlCol="0" anchor="ctr"/>
          <a:lstStyle/>
          <a:p>
            <a:pPr algn="r" indent="0" marL="0">
              <a:buNone/>
            </a:pPr>
            <a:r>
              <a:rPr lang="en-US" sz="900" dirty="0">
                <a:solidFill>
                  <a:srgbClr val="8B9199"/>
                </a:solidFill>
                <a:latin typeface="Courier New" pitchFamily="34" charset="0"/>
                <a:ea typeface="Courier New" pitchFamily="34" charset="-122"/>
                <a:cs typeface="Courier New"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EAF0F4"/>
        </a:solidFill>
      </p:bgPr>
    </p:bg>
    <p:spTree>
      <p:nvGrpSpPr>
        <p:cNvPr id="1" name=""/>
        <p:cNvGrpSpPr/>
        <p:nvPr/>
      </p:nvGrpSpPr>
      <p:grpSpPr>
        <a:xfrm>
          <a:off x="0" y="0"/>
          <a:ext cx="0" cy="0"/>
          <a:chOff x="0" y="0"/>
          <a:chExt cx="0" cy="0"/>
        </a:xfrm>
      </p:grpSpPr>
      <p:sp>
        <p:nvSpPr>
          <p:cNvPr id="2" name="Shape 0"/>
          <p:cNvSpPr/>
          <p:nvPr/>
        </p:nvSpPr>
        <p:spPr>
          <a:xfrm>
            <a:off x="566928" y="1828800"/>
            <a:ext cx="274320" cy="274320"/>
          </a:xfrm>
          <a:prstGeom prst="rect">
            <a:avLst/>
          </a:prstGeom>
          <a:solidFill>
            <a:srgbClr val="3B6E8F"/>
          </a:solidFill>
          <a:ln/>
        </p:spPr>
      </p:sp>
      <p:sp>
        <p:nvSpPr>
          <p:cNvPr id="3" name="Text 1"/>
          <p:cNvSpPr/>
          <p:nvPr/>
        </p:nvSpPr>
        <p:spPr>
          <a:xfrm>
            <a:off x="566928" y="2331720"/>
            <a:ext cx="9564624" cy="2011680"/>
          </a:xfrm>
          <a:prstGeom prst="rect">
            <a:avLst/>
          </a:prstGeom>
          <a:noFill/>
          <a:ln/>
        </p:spPr>
        <p:txBody>
          <a:bodyPr wrap="square" lIns="0" tIns="0" rIns="0" bIns="0" rtlCol="0" anchor="t"/>
          <a:lstStyle/>
          <a:p>
            <a:pPr indent="0" marL="0">
              <a:lnSpc>
                <a:spcPct val="108000"/>
              </a:lnSpc>
              <a:buNone/>
            </a:pPr>
            <a:r>
              <a:rPr lang="en-US" sz="3300" b="1" dirty="0">
                <a:solidFill>
                  <a:srgbClr val="1B2229"/>
                </a:solidFill>
                <a:latin typeface="Cambria" pitchFamily="34" charset="0"/>
                <a:ea typeface="Cambria" pitchFamily="34" charset="-122"/>
                <a:cs typeface="Cambria" pitchFamily="34" charset="-120"/>
              </a:rPr>
              <a:t>Structure before statistics</a:t>
            </a:r>
            <a:endParaRPr lang="en-US" sz="3300" dirty="0"/>
          </a:p>
        </p:txBody>
      </p:sp>
      <p:sp>
        <p:nvSpPr>
          <p:cNvPr id="4" name="Text 2"/>
          <p:cNvSpPr/>
          <p:nvPr/>
        </p:nvSpPr>
        <p:spPr>
          <a:xfrm>
            <a:off x="566928" y="4434840"/>
            <a:ext cx="8650224" cy="1005840"/>
          </a:xfrm>
          <a:prstGeom prst="rect">
            <a:avLst/>
          </a:prstGeom>
          <a:noFill/>
          <a:ln/>
        </p:spPr>
        <p:txBody>
          <a:bodyPr wrap="square" lIns="0" tIns="0" rIns="0" bIns="0" rtlCol="0" anchor="ctr"/>
          <a:lstStyle/>
          <a:p>
            <a:pPr indent="0" marL="0">
              <a:buNone/>
            </a:pPr>
            <a:r>
              <a:rPr lang="en-US" sz="1550" dirty="0">
                <a:solidFill>
                  <a:srgbClr val="5A646E"/>
                </a:solidFill>
                <a:latin typeface="Calibri" pitchFamily="34" charset="0"/>
                <a:ea typeface="Calibri" pitchFamily="34" charset="-122"/>
                <a:cs typeface="Calibri" pitchFamily="34" charset="-120"/>
              </a:rPr>
              <a:t>The first thing EDA does is establish what a row is and whether the types are right. A mean computed on a mistyped column is a wrong answer delivered confidently.</a:t>
            </a:r>
            <a:endParaRPr lang="en-US" sz="1550" dirty="0"/>
          </a:p>
        </p:txBody>
      </p:sp>
      <p:sp>
        <p:nvSpPr>
          <p:cNvPr id="5" name="Text 3"/>
          <p:cNvSpPr/>
          <p:nvPr/>
        </p:nvSpPr>
        <p:spPr>
          <a:xfrm>
            <a:off x="566928" y="6437376"/>
            <a:ext cx="6400800" cy="256032"/>
          </a:xfrm>
          <a:prstGeom prst="rect">
            <a:avLst/>
          </a:prstGeom>
          <a:noFill/>
          <a:ln/>
        </p:spPr>
        <p:txBody>
          <a:bodyPr wrap="square" lIns="0" tIns="0" rIns="0" bIns="0" rtlCol="0" anchor="ctr"/>
          <a:lstStyle/>
          <a:p>
            <a:pPr algn="l" indent="0" marL="0">
              <a:buNone/>
            </a:pPr>
            <a:r>
              <a:rPr lang="en-US" sz="900" dirty="0">
                <a:solidFill>
                  <a:srgbClr val="8B9199"/>
                </a:solidFill>
                <a:latin typeface="Calibri" pitchFamily="34" charset="0"/>
                <a:ea typeface="Calibri" pitchFamily="34" charset="-122"/>
                <a:cs typeface="Calibri" pitchFamily="34" charset="-120"/>
              </a:rPr>
              <a:t>DATA209 · Module 1 — L1-2 The role of EDA, and robust statistics</a:t>
            </a:r>
            <a:endParaRPr lang="en-US" sz="900" dirty="0"/>
          </a:p>
        </p:txBody>
      </p:sp>
      <p:sp>
        <p:nvSpPr>
          <p:cNvPr id="6" name="Text 4"/>
          <p:cNvSpPr/>
          <p:nvPr/>
        </p:nvSpPr>
        <p:spPr>
          <a:xfrm>
            <a:off x="10954512" y="6437376"/>
            <a:ext cx="640080" cy="256032"/>
          </a:xfrm>
          <a:prstGeom prst="rect">
            <a:avLst/>
          </a:prstGeom>
          <a:noFill/>
          <a:ln/>
        </p:spPr>
        <p:txBody>
          <a:bodyPr wrap="square" lIns="0" tIns="0" rIns="0" bIns="0" rtlCol="0" anchor="ctr"/>
          <a:lstStyle/>
          <a:p>
            <a:pPr algn="r" indent="0" marL="0">
              <a:buNone/>
            </a:pPr>
            <a:r>
              <a:rPr lang="en-US" sz="900" dirty="0">
                <a:solidFill>
                  <a:srgbClr val="8B9199"/>
                </a:solidFill>
                <a:latin typeface="Courier New" pitchFamily="34" charset="0"/>
                <a:ea typeface="Courier New" pitchFamily="34" charset="-122"/>
                <a:cs typeface="Courier New"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1027664" cy="237744"/>
          </a:xfrm>
          <a:prstGeom prst="rect">
            <a:avLst/>
          </a:prstGeom>
          <a:noFill/>
          <a:ln/>
        </p:spPr>
        <p:txBody>
          <a:bodyPr wrap="square" lIns="0" tIns="0" rIns="0" bIns="0" rtlCol="0" anchor="ctr"/>
          <a:lstStyle/>
          <a:p>
            <a:pPr indent="0" marL="0">
              <a:buNone/>
            </a:pPr>
            <a:r>
              <a:rPr lang="en-US" sz="1050" b="1" spc="160" kern="0" dirty="0">
                <a:solidFill>
                  <a:srgbClr val="3B6E8F"/>
                </a:solidFill>
                <a:latin typeface="Courier New" pitchFamily="34" charset="0"/>
                <a:ea typeface="Courier New" pitchFamily="34" charset="-122"/>
                <a:cs typeface="Courier New" pitchFamily="34" charset="-120"/>
              </a:rPr>
              <a:t>EXAMPLE 1</a:t>
            </a:r>
            <a:endParaRPr lang="en-US" sz="1050" dirty="0"/>
          </a:p>
        </p:txBody>
      </p:sp>
      <p:sp>
        <p:nvSpPr>
          <p:cNvPr id="3" name="Text 1"/>
          <p:cNvSpPr/>
          <p:nvPr/>
        </p:nvSpPr>
        <p:spPr>
          <a:xfrm>
            <a:off x="566928" y="676656"/>
            <a:ext cx="11027664" cy="658368"/>
          </a:xfrm>
          <a:prstGeom prst="rect">
            <a:avLst/>
          </a:prstGeom>
          <a:noFill/>
          <a:ln/>
        </p:spPr>
        <p:txBody>
          <a:bodyPr wrap="square" lIns="0" tIns="0" rIns="0" bIns="0" rtlCol="0" anchor="t"/>
          <a:lstStyle/>
          <a:p>
            <a:pPr indent="0" marL="0">
              <a:buNone/>
            </a:pPr>
            <a:r>
              <a:rPr lang="en-US" sz="3000" b="1" dirty="0">
                <a:solidFill>
                  <a:srgbClr val="1B2229"/>
                </a:solidFill>
                <a:latin typeface="Cambria" pitchFamily="34" charset="0"/>
                <a:ea typeface="Cambria" pitchFamily="34" charset="-122"/>
                <a:cs typeface="Cambria" pitchFamily="34" charset="-120"/>
              </a:rPr>
              <a:t>Structure before statistics</a:t>
            </a:r>
            <a:endParaRPr lang="en-US" sz="3000" dirty="0"/>
          </a:p>
        </p:txBody>
      </p:sp>
      <p:sp>
        <p:nvSpPr>
          <p:cNvPr id="4" name="Shape 2"/>
          <p:cNvSpPr/>
          <p:nvPr/>
        </p:nvSpPr>
        <p:spPr>
          <a:xfrm>
            <a:off x="566928" y="1783080"/>
            <a:ext cx="6065215" cy="3977640"/>
          </a:xfrm>
          <a:prstGeom prst="roundRect">
            <a:avLst>
              <a:gd name="adj" fmla="val 1379"/>
            </a:avLst>
          </a:prstGeom>
          <a:solidFill>
            <a:srgbClr val="1B2229"/>
          </a:solidFill>
          <a:ln w="12700">
            <a:solidFill>
              <a:srgbClr val="FFFFFF"/>
            </a:solidFill>
            <a:prstDash val="solid"/>
          </a:ln>
        </p:spPr>
      </p:sp>
      <p:sp>
        <p:nvSpPr>
          <p:cNvPr id="5" name="Text 3"/>
          <p:cNvSpPr/>
          <p:nvPr/>
        </p:nvSpPr>
        <p:spPr>
          <a:xfrm>
            <a:off x="768096" y="1920240"/>
            <a:ext cx="5662879" cy="3703320"/>
          </a:xfrm>
          <a:prstGeom prst="rect">
            <a:avLst/>
          </a:prstGeom>
          <a:noFill/>
          <a:ln/>
        </p:spPr>
        <p:txBody>
          <a:bodyPr wrap="square" lIns="0" tIns="0" rIns="0" bIns="0" rtlCol="0" anchor="t"/>
          <a:lstStyle/>
          <a:p>
            <a:pPr indent="0" marL="0">
              <a:buNone/>
            </a:pPr>
            <a:r>
              <a:rPr lang="en-US" sz="900" dirty="0">
                <a:solidFill>
                  <a:srgbClr val="E4E9EC"/>
                </a:solidFill>
                <a:latin typeface="Courier New" pitchFamily="34" charset="0"/>
                <a:ea typeface="Courier New" pitchFamily="34" charset="-122"/>
                <a:cs typeface="Courier New" pitchFamily="34" charset="-120"/>
              </a:rPr>
              <a:t>print("shape:", df.shape, "-&gt; one row per browsing session")</a:t>
            </a:r>
            <a:endParaRPr lang="en-US" sz="900" dirty="0"/>
          </a:p>
          <a:p>
            <a:pPr indent="0" marL="0">
              <a:buNone/>
            </a:pPr>
            <a:r>
              <a:rPr lang="en-US" sz="900" dirty="0">
                <a:solidFill>
                  <a:srgbClr val="E4E9EC"/>
                </a:solidFill>
                <a:latin typeface="Courier New" pitchFamily="34" charset="0"/>
                <a:ea typeface="Courier New" pitchFamily="34" charset="-122"/>
                <a:cs typeface="Courier New" pitchFamily="34" charset="-120"/>
              </a:rPr>
              <a:t>print("\ndtypes and cardinality")</a:t>
            </a:r>
            <a:endParaRPr lang="en-US" sz="900" dirty="0"/>
          </a:p>
          <a:p>
            <a:pPr indent="0" marL="0">
              <a:buNone/>
            </a:pPr>
            <a:r>
              <a:rPr lang="en-US" sz="900" dirty="0">
                <a:solidFill>
                  <a:srgbClr val="E4E9EC"/>
                </a:solidFill>
                <a:latin typeface="Courier New" pitchFamily="34" charset="0"/>
                <a:ea typeface="Courier New" pitchFamily="34" charset="-122"/>
                <a:cs typeface="Courier New" pitchFamily="34" charset="-120"/>
              </a:rPr>
              <a:t>print(pd.DataFrame({"dtype": df.dtypes.astype(str),</a:t>
            </a:r>
            <a:endParaRPr lang="en-US" sz="900" dirty="0"/>
          </a:p>
          <a:p>
            <a:pPr indent="0" marL="0">
              <a:buNone/>
            </a:pPr>
            <a:r>
              <a:rPr lang="en-US" sz="900" dirty="0">
                <a:solidFill>
                  <a:srgbClr val="E4E9EC"/>
                </a:solidFill>
                <a:latin typeface="Courier New" pitchFamily="34" charset="0"/>
                <a:ea typeface="Courier New" pitchFamily="34" charset="-122"/>
                <a:cs typeface="Courier New" pitchFamily="34" charset="-120"/>
              </a:rPr>
              <a:t>                    "unique": df.nunique(),</a:t>
            </a:r>
            <a:endParaRPr lang="en-US" sz="900" dirty="0"/>
          </a:p>
          <a:p>
            <a:pPr indent="0" marL="0">
              <a:buNone/>
            </a:pPr>
            <a:r>
              <a:rPr lang="en-US" sz="900" dirty="0">
                <a:solidFill>
                  <a:srgbClr val="E4E9EC"/>
                </a:solidFill>
                <a:latin typeface="Courier New" pitchFamily="34" charset="0"/>
                <a:ea typeface="Courier New" pitchFamily="34" charset="-122"/>
                <a:cs typeface="Courier New" pitchFamily="34" charset="-120"/>
              </a:rPr>
              <a:t>                    "nulls": df.isna().sum()}).head(10).to_st…</a:t>
            </a:r>
            <a:endParaRPr lang="en-US" sz="900" dirty="0"/>
          </a:p>
          <a:p>
            <a:pPr indent="0" marL="0">
              <a:buNone/>
            </a:pPr>
            <a:r>
              <a:rPr lang="en-US" sz="900" dirty="0">
                <a:solidFill>
                  <a:srgbClr val="E4E9EC"/>
                </a:solidFill>
                <a:latin typeface="Courier New" pitchFamily="34" charset="0"/>
                <a:ea typeface="Courier New" pitchFamily="34" charset="-122"/>
                <a:cs typeface="Courier New" pitchFamily="34" charset="-120"/>
              </a:rPr>
              <a:t>print("\ntarget balance (%)")</a:t>
            </a:r>
            <a:endParaRPr lang="en-US" sz="900" dirty="0"/>
          </a:p>
          <a:p>
            <a:pPr indent="0" marL="0">
              <a:buNone/>
            </a:pPr>
            <a:r>
              <a:rPr lang="en-US" sz="900" dirty="0">
                <a:solidFill>
                  <a:srgbClr val="E4E9EC"/>
                </a:solidFill>
                <a:latin typeface="Courier New" pitchFamily="34" charset="0"/>
                <a:ea typeface="Courier New" pitchFamily="34" charset="-122"/>
                <a:cs typeface="Courier New" pitchFamily="34" charset="-120"/>
              </a:rPr>
              <a:t>print((df[TARGET].value_counts(normalize=True) * 100).round(2…</a:t>
            </a:r>
            <a:endParaRPr lang="en-US" sz="900" dirty="0"/>
          </a:p>
        </p:txBody>
      </p:sp>
      <p:sp>
        <p:nvSpPr>
          <p:cNvPr id="6" name="Shape 4"/>
          <p:cNvSpPr/>
          <p:nvPr/>
        </p:nvSpPr>
        <p:spPr>
          <a:xfrm>
            <a:off x="6943039" y="1783080"/>
            <a:ext cx="4651553" cy="3977640"/>
          </a:xfrm>
          <a:prstGeom prst="roundRect">
            <a:avLst>
              <a:gd name="adj" fmla="val 1379"/>
            </a:avLst>
          </a:prstGeom>
          <a:solidFill>
            <a:srgbClr val="EAF0F4"/>
          </a:solidFill>
          <a:ln w="12700">
            <a:solidFill>
              <a:srgbClr val="FFFFFF"/>
            </a:solidFill>
            <a:prstDash val="solid"/>
          </a:ln>
        </p:spPr>
      </p:sp>
      <p:sp>
        <p:nvSpPr>
          <p:cNvPr id="7" name="Text 5"/>
          <p:cNvSpPr/>
          <p:nvPr/>
        </p:nvSpPr>
        <p:spPr>
          <a:xfrm>
            <a:off x="7144207" y="1883664"/>
            <a:ext cx="4249217" cy="219456"/>
          </a:xfrm>
          <a:prstGeom prst="rect">
            <a:avLst/>
          </a:prstGeom>
          <a:noFill/>
          <a:ln/>
        </p:spPr>
        <p:txBody>
          <a:bodyPr wrap="square" lIns="0" tIns="0" rIns="0" bIns="0" rtlCol="0" anchor="ctr"/>
          <a:lstStyle/>
          <a:p>
            <a:pPr indent="0" marL="0">
              <a:buNone/>
            </a:pPr>
            <a:r>
              <a:rPr lang="en-US" sz="850" b="1" spc="120" kern="0" dirty="0">
                <a:solidFill>
                  <a:srgbClr val="2A4F68"/>
                </a:solidFill>
                <a:latin typeface="Courier New" pitchFamily="34" charset="0"/>
                <a:ea typeface="Courier New" pitchFamily="34" charset="-122"/>
                <a:cs typeface="Courier New" pitchFamily="34" charset="-120"/>
              </a:rPr>
              <a:t>OUTPUT</a:t>
            </a:r>
            <a:endParaRPr lang="en-US" sz="850" dirty="0"/>
          </a:p>
        </p:txBody>
      </p:sp>
      <p:sp>
        <p:nvSpPr>
          <p:cNvPr id="8" name="Text 6"/>
          <p:cNvSpPr/>
          <p:nvPr/>
        </p:nvSpPr>
        <p:spPr>
          <a:xfrm>
            <a:off x="7144207" y="2139696"/>
            <a:ext cx="4249217" cy="3520440"/>
          </a:xfrm>
          <a:prstGeom prst="rect">
            <a:avLst/>
          </a:prstGeom>
          <a:noFill/>
          <a:ln/>
        </p:spPr>
        <p:txBody>
          <a:bodyPr wrap="square" lIns="0" tIns="0" rIns="0" bIns="0" rtlCol="0" anchor="t"/>
          <a:lstStyle/>
          <a:p>
            <a:pPr indent="0" marL="0">
              <a:buNone/>
            </a:pPr>
            <a:r>
              <a:rPr lang="en-US" sz="820" dirty="0">
                <a:solidFill>
                  <a:srgbClr val="1B2229"/>
                </a:solidFill>
                <a:latin typeface="Courier New" pitchFamily="34" charset="0"/>
                <a:ea typeface="Courier New" pitchFamily="34" charset="-122"/>
                <a:cs typeface="Courier New" pitchFamily="34" charset="-120"/>
              </a:rPr>
              <a:t>shape: (12330, 18) -&gt; one row per browsing session</a:t>
            </a:r>
            <a:endParaRPr lang="en-US" sz="820" dirty="0"/>
          </a:p>
          <a:p>
            <a:pPr indent="0" marL="0">
              <a:buNone/>
            </a:pPr>
            <a:r>
              <a:rPr lang="en-US" sz="820" dirty="0">
                <a:solidFill>
                  <a:srgbClr val="1B2229"/>
                </a:solidFill>
                <a:latin typeface="Courier New" pitchFamily="34" charset="0"/>
                <a:ea typeface="Courier New" pitchFamily="34" charset="-122"/>
                <a:cs typeface="Courier New" pitchFamily="34" charset="-120"/>
              </a:rPr>
              <a:t> </a:t>
            </a:r>
            <a:endParaRPr lang="en-US" sz="820" dirty="0"/>
          </a:p>
          <a:p>
            <a:pPr indent="0" marL="0">
              <a:buNone/>
            </a:pPr>
            <a:r>
              <a:rPr lang="en-US" sz="820" dirty="0">
                <a:solidFill>
                  <a:srgbClr val="1B2229"/>
                </a:solidFill>
                <a:latin typeface="Courier New" pitchFamily="34" charset="0"/>
                <a:ea typeface="Courier New" pitchFamily="34" charset="-122"/>
                <a:cs typeface="Courier New" pitchFamily="34" charset="-120"/>
              </a:rPr>
              <a:t>dtypes and cardinality</a:t>
            </a:r>
            <a:endParaRPr lang="en-US" sz="820" dirty="0"/>
          </a:p>
          <a:p>
            <a:pPr indent="0" marL="0">
              <a:buNone/>
            </a:pPr>
            <a:r>
              <a:rPr lang="en-US" sz="820" dirty="0">
                <a:solidFill>
                  <a:srgbClr val="1B2229"/>
                </a:solidFill>
                <a:latin typeface="Courier New" pitchFamily="34" charset="0"/>
                <a:ea typeface="Courier New" pitchFamily="34" charset="-122"/>
                <a:cs typeface="Courier New" pitchFamily="34" charset="-120"/>
              </a:rPr>
              <a:t>                           dtype  unique  nulls</a:t>
            </a:r>
            <a:endParaRPr lang="en-US" sz="820" dirty="0"/>
          </a:p>
          <a:p>
            <a:pPr indent="0" marL="0">
              <a:buNone/>
            </a:pPr>
            <a:r>
              <a:rPr lang="en-US" sz="820" dirty="0">
                <a:solidFill>
                  <a:srgbClr val="1B2229"/>
                </a:solidFill>
                <a:latin typeface="Courier New" pitchFamily="34" charset="0"/>
                <a:ea typeface="Courier New" pitchFamily="34" charset="-122"/>
                <a:cs typeface="Courier New" pitchFamily="34" charset="-120"/>
              </a:rPr>
              <a:t>Administrative             int64      27      0</a:t>
            </a:r>
            <a:endParaRPr lang="en-US" sz="820" dirty="0"/>
          </a:p>
          <a:p>
            <a:pPr indent="0" marL="0">
              <a:buNone/>
            </a:pPr>
            <a:r>
              <a:rPr lang="en-US" sz="820" dirty="0">
                <a:solidFill>
                  <a:srgbClr val="1B2229"/>
                </a:solidFill>
                <a:latin typeface="Courier New" pitchFamily="34" charset="0"/>
                <a:ea typeface="Courier New" pitchFamily="34" charset="-122"/>
                <a:cs typeface="Courier New" pitchFamily="34" charset="-120"/>
              </a:rPr>
              <a:t>Administrative_Duration  float64    3335      0</a:t>
            </a:r>
            <a:endParaRPr lang="en-US" sz="820" dirty="0"/>
          </a:p>
          <a:p>
            <a:pPr indent="0" marL="0">
              <a:buNone/>
            </a:pPr>
            <a:r>
              <a:rPr lang="en-US" sz="820" dirty="0">
                <a:solidFill>
                  <a:srgbClr val="1B2229"/>
                </a:solidFill>
                <a:latin typeface="Courier New" pitchFamily="34" charset="0"/>
                <a:ea typeface="Courier New" pitchFamily="34" charset="-122"/>
                <a:cs typeface="Courier New" pitchFamily="34" charset="-120"/>
              </a:rPr>
              <a:t>Informational              int64      17      0</a:t>
            </a:r>
            <a:endParaRPr lang="en-US" sz="820" dirty="0"/>
          </a:p>
          <a:p>
            <a:pPr indent="0" marL="0">
              <a:buNone/>
            </a:pPr>
            <a:r>
              <a:rPr lang="en-US" sz="820" dirty="0">
                <a:solidFill>
                  <a:srgbClr val="1B2229"/>
                </a:solidFill>
                <a:latin typeface="Courier New" pitchFamily="34" charset="0"/>
                <a:ea typeface="Courier New" pitchFamily="34" charset="-122"/>
                <a:cs typeface="Courier New" pitchFamily="34" charset="-120"/>
              </a:rPr>
              <a:t>Informational_Duration   float64    1258      0</a:t>
            </a:r>
            <a:endParaRPr lang="en-US" sz="820" dirty="0"/>
          </a:p>
          <a:p>
            <a:pPr indent="0" marL="0">
              <a:buNone/>
            </a:pPr>
            <a:r>
              <a:rPr lang="en-US" sz="820" dirty="0">
                <a:solidFill>
                  <a:srgbClr val="1B2229"/>
                </a:solidFill>
                <a:latin typeface="Courier New" pitchFamily="34" charset="0"/>
                <a:ea typeface="Courier New" pitchFamily="34" charset="-122"/>
                <a:cs typeface="Courier New" pitchFamily="34" charset="-120"/>
              </a:rPr>
              <a:t>ProductRelated             int64     311      0</a:t>
            </a:r>
            <a:endParaRPr lang="en-US" sz="820" dirty="0"/>
          </a:p>
          <a:p>
            <a:pPr indent="0" marL="0">
              <a:buNone/>
            </a:pPr>
            <a:r>
              <a:rPr lang="en-US" sz="820" dirty="0">
                <a:solidFill>
                  <a:srgbClr val="1B2229"/>
                </a:solidFill>
                <a:latin typeface="Courier New" pitchFamily="34" charset="0"/>
                <a:ea typeface="Courier New" pitchFamily="34" charset="-122"/>
                <a:cs typeface="Courier New" pitchFamily="34" charset="-120"/>
              </a:rPr>
              <a:t>ProductRelated_Duration  float64    9551      0</a:t>
            </a:r>
            <a:endParaRPr lang="en-US" sz="820" dirty="0"/>
          </a:p>
          <a:p>
            <a:pPr indent="0" marL="0">
              <a:buNone/>
            </a:pPr>
            <a:r>
              <a:rPr lang="en-US" sz="820" dirty="0">
                <a:solidFill>
                  <a:srgbClr val="1B2229"/>
                </a:solidFill>
                <a:latin typeface="Courier New" pitchFamily="34" charset="0"/>
                <a:ea typeface="Courier New" pitchFamily="34" charset="-122"/>
                <a:cs typeface="Courier New" pitchFamily="34" charset="-120"/>
              </a:rPr>
              <a:t>BounceRates              float64    1872      0</a:t>
            </a:r>
            <a:endParaRPr lang="en-US" sz="820" dirty="0"/>
          </a:p>
          <a:p>
            <a:pPr indent="0" marL="0">
              <a:buNone/>
            </a:pPr>
            <a:r>
              <a:rPr lang="en-US" sz="820" dirty="0">
                <a:solidFill>
                  <a:srgbClr val="1B2229"/>
                </a:solidFill>
                <a:latin typeface="Courier New" pitchFamily="34" charset="0"/>
                <a:ea typeface="Courier New" pitchFamily="34" charset="-122"/>
                <a:cs typeface="Courier New" pitchFamily="34" charset="-120"/>
              </a:rPr>
              <a:t>ExitRates                float64    4777      0</a:t>
            </a:r>
            <a:endParaRPr lang="en-US" sz="820" dirty="0"/>
          </a:p>
          <a:p>
            <a:pPr indent="0" marL="0">
              <a:buNone/>
            </a:pPr>
            <a:r>
              <a:rPr lang="en-US" sz="820" dirty="0">
                <a:solidFill>
                  <a:srgbClr val="1B2229"/>
                </a:solidFill>
                <a:latin typeface="Courier New" pitchFamily="34" charset="0"/>
                <a:ea typeface="Courier New" pitchFamily="34" charset="-122"/>
                <a:cs typeface="Courier New" pitchFamily="34" charset="-120"/>
              </a:rPr>
              <a:t>PageValues               float64    2704      0</a:t>
            </a:r>
            <a:endParaRPr lang="en-US" sz="820" dirty="0"/>
          </a:p>
          <a:p>
            <a:pPr indent="0" marL="0">
              <a:buNone/>
            </a:pPr>
            <a:r>
              <a:rPr lang="en-US" sz="820" dirty="0">
                <a:solidFill>
                  <a:srgbClr val="1B2229"/>
                </a:solidFill>
                <a:latin typeface="Courier New" pitchFamily="34" charset="0"/>
                <a:ea typeface="Courier New" pitchFamily="34" charset="-122"/>
                <a:cs typeface="Courier New" pitchFamily="34" charset="-120"/>
              </a:rPr>
              <a:t>SpecialDay               float64       6      0</a:t>
            </a:r>
            <a:endParaRPr lang="en-US" sz="820" dirty="0"/>
          </a:p>
          <a:p>
            <a:pPr indent="0" marL="0">
              <a:buNone/>
            </a:pPr>
            <a:r>
              <a:rPr lang="en-US" sz="820" dirty="0">
                <a:solidFill>
                  <a:srgbClr val="1B2229"/>
                </a:solidFill>
                <a:latin typeface="Courier New" pitchFamily="34" charset="0"/>
                <a:ea typeface="Courier New" pitchFamily="34" charset="-122"/>
                <a:cs typeface="Courier New" pitchFamily="34" charset="-120"/>
              </a:rPr>
              <a:t> </a:t>
            </a:r>
            <a:endParaRPr lang="en-US" sz="820" dirty="0"/>
          </a:p>
          <a:p>
            <a:pPr indent="0" marL="0">
              <a:buNone/>
            </a:pPr>
            <a:r>
              <a:rPr lang="en-US" sz="820" dirty="0">
                <a:solidFill>
                  <a:srgbClr val="1B2229"/>
                </a:solidFill>
                <a:latin typeface="Courier New" pitchFamily="34" charset="0"/>
                <a:ea typeface="Courier New" pitchFamily="34" charset="-122"/>
                <a:cs typeface="Courier New" pitchFamily="34" charset="-120"/>
              </a:rPr>
              <a:t>target balance (%)</a:t>
            </a:r>
            <a:endParaRPr lang="en-US" sz="820" dirty="0"/>
          </a:p>
          <a:p>
            <a:pPr indent="0" marL="0">
              <a:buNone/>
            </a:pPr>
            <a:r>
              <a:rPr lang="en-US" sz="820" dirty="0">
                <a:solidFill>
                  <a:srgbClr val="1B2229"/>
                </a:solidFill>
                <a:latin typeface="Courier New" pitchFamily="34" charset="0"/>
                <a:ea typeface="Courier New" pitchFamily="34" charset="-122"/>
                <a:cs typeface="Courier New" pitchFamily="34" charset="-120"/>
              </a:rPr>
              <a:t>Revenue</a:t>
            </a:r>
            <a:endParaRPr lang="en-US" sz="820" dirty="0"/>
          </a:p>
          <a:p>
            <a:pPr indent="0" marL="0">
              <a:buNone/>
            </a:pPr>
            <a:r>
              <a:rPr lang="en-US" sz="820" dirty="0">
                <a:solidFill>
                  <a:srgbClr val="1B2229"/>
                </a:solidFill>
                <a:latin typeface="Courier New" pitchFamily="34" charset="0"/>
                <a:ea typeface="Courier New" pitchFamily="34" charset="-122"/>
                <a:cs typeface="Courier New" pitchFamily="34" charset="-120"/>
              </a:rPr>
              <a:t>False   84.530</a:t>
            </a:r>
            <a:endParaRPr lang="en-US" sz="820" dirty="0"/>
          </a:p>
          <a:p>
            <a:pPr indent="0" marL="0">
              <a:buNone/>
            </a:pPr>
            <a:r>
              <a:rPr lang="en-US" sz="820" dirty="0">
                <a:solidFill>
                  <a:srgbClr val="1B2229"/>
                </a:solidFill>
                <a:latin typeface="Courier New" pitchFamily="34" charset="0"/>
                <a:ea typeface="Courier New" pitchFamily="34" charset="-122"/>
                <a:cs typeface="Courier New" pitchFamily="34" charset="-120"/>
              </a:rPr>
              <a:t>True    15.470</a:t>
            </a:r>
            <a:endParaRPr lang="en-US" sz="820" dirty="0"/>
          </a:p>
        </p:txBody>
      </p:sp>
      <p:sp>
        <p:nvSpPr>
          <p:cNvPr id="9" name="Text 7"/>
          <p:cNvSpPr/>
          <p:nvPr/>
        </p:nvSpPr>
        <p:spPr>
          <a:xfrm>
            <a:off x="566928" y="5870448"/>
            <a:ext cx="11027664" cy="411480"/>
          </a:xfrm>
          <a:prstGeom prst="rect">
            <a:avLst/>
          </a:prstGeom>
          <a:noFill/>
          <a:ln/>
        </p:spPr>
        <p:txBody>
          <a:bodyPr wrap="square" lIns="0" tIns="0" rIns="0" bIns="0" rtlCol="0" anchor="ctr"/>
          <a:lstStyle/>
          <a:p>
            <a:pPr indent="0" marL="0">
              <a:buNone/>
            </a:pPr>
            <a:r>
              <a:rPr lang="en-US" sz="1150" i="1" dirty="0">
                <a:solidFill>
                  <a:srgbClr val="2A4F68"/>
                </a:solidFill>
                <a:latin typeface="Calibri" pitchFamily="34" charset="0"/>
                <a:ea typeface="Calibri" pitchFamily="34" charset="-122"/>
                <a:cs typeface="Calibri" pitchFamily="34" charset="-120"/>
              </a:rPr>
              <a:t>Output is the real result of running this code on the course dataset.</a:t>
            </a:r>
            <a:endParaRPr lang="en-US" sz="1150" dirty="0"/>
          </a:p>
        </p:txBody>
      </p:sp>
      <p:sp>
        <p:nvSpPr>
          <p:cNvPr id="10" name="Text 8"/>
          <p:cNvSpPr/>
          <p:nvPr/>
        </p:nvSpPr>
        <p:spPr>
          <a:xfrm>
            <a:off x="566928" y="6437376"/>
            <a:ext cx="6400800" cy="256032"/>
          </a:xfrm>
          <a:prstGeom prst="rect">
            <a:avLst/>
          </a:prstGeom>
          <a:noFill/>
          <a:ln/>
        </p:spPr>
        <p:txBody>
          <a:bodyPr wrap="square" lIns="0" tIns="0" rIns="0" bIns="0" rtlCol="0" anchor="ctr"/>
          <a:lstStyle/>
          <a:p>
            <a:pPr algn="l" indent="0" marL="0">
              <a:buNone/>
            </a:pPr>
            <a:r>
              <a:rPr lang="en-US" sz="900" dirty="0">
                <a:solidFill>
                  <a:srgbClr val="8B9199"/>
                </a:solidFill>
                <a:latin typeface="Calibri" pitchFamily="34" charset="0"/>
                <a:ea typeface="Calibri" pitchFamily="34" charset="-122"/>
                <a:cs typeface="Calibri" pitchFamily="34" charset="-120"/>
              </a:rPr>
              <a:t>DATA209 · Module 1 — L1-2 The role of EDA, and robust statistics</a:t>
            </a:r>
            <a:endParaRPr lang="en-US" sz="900" dirty="0"/>
          </a:p>
        </p:txBody>
      </p:sp>
      <p:sp>
        <p:nvSpPr>
          <p:cNvPr id="11" name="Text 9"/>
          <p:cNvSpPr/>
          <p:nvPr/>
        </p:nvSpPr>
        <p:spPr>
          <a:xfrm>
            <a:off x="10954512" y="6437376"/>
            <a:ext cx="640080" cy="256032"/>
          </a:xfrm>
          <a:prstGeom prst="rect">
            <a:avLst/>
          </a:prstGeom>
          <a:noFill/>
          <a:ln/>
        </p:spPr>
        <p:txBody>
          <a:bodyPr wrap="square" lIns="0" tIns="0" rIns="0" bIns="0" rtlCol="0" anchor="ctr"/>
          <a:lstStyle/>
          <a:p>
            <a:pPr algn="r" indent="0" marL="0">
              <a:buNone/>
            </a:pPr>
            <a:r>
              <a:rPr lang="en-US" sz="900" dirty="0">
                <a:solidFill>
                  <a:srgbClr val="8B9199"/>
                </a:solidFill>
                <a:latin typeface="Courier New" pitchFamily="34" charset="0"/>
                <a:ea typeface="Courier New" pitchFamily="34" charset="-122"/>
                <a:cs typeface="Courier New"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AF0F4"/>
        </a:solidFill>
      </p:bgPr>
    </p:bg>
    <p:spTree>
      <p:nvGrpSpPr>
        <p:cNvPr id="1" name=""/>
        <p:cNvGrpSpPr/>
        <p:nvPr/>
      </p:nvGrpSpPr>
      <p:grpSpPr>
        <a:xfrm>
          <a:off x="0" y="0"/>
          <a:ext cx="0" cy="0"/>
          <a:chOff x="0" y="0"/>
          <a:chExt cx="0" cy="0"/>
        </a:xfrm>
      </p:grpSpPr>
      <p:sp>
        <p:nvSpPr>
          <p:cNvPr id="2" name="Shape 0"/>
          <p:cNvSpPr/>
          <p:nvPr/>
        </p:nvSpPr>
        <p:spPr>
          <a:xfrm>
            <a:off x="566928" y="1828800"/>
            <a:ext cx="274320" cy="274320"/>
          </a:xfrm>
          <a:prstGeom prst="rect">
            <a:avLst/>
          </a:prstGeom>
          <a:solidFill>
            <a:srgbClr val="3B6E8F"/>
          </a:solidFill>
          <a:ln/>
        </p:spPr>
      </p:sp>
      <p:sp>
        <p:nvSpPr>
          <p:cNvPr id="3" name="Text 1"/>
          <p:cNvSpPr/>
          <p:nvPr/>
        </p:nvSpPr>
        <p:spPr>
          <a:xfrm>
            <a:off x="566928" y="2331720"/>
            <a:ext cx="9564624" cy="2011680"/>
          </a:xfrm>
          <a:prstGeom prst="rect">
            <a:avLst/>
          </a:prstGeom>
          <a:noFill/>
          <a:ln/>
        </p:spPr>
        <p:txBody>
          <a:bodyPr wrap="square" lIns="0" tIns="0" rIns="0" bIns="0" rtlCol="0" anchor="t"/>
          <a:lstStyle/>
          <a:p>
            <a:pPr indent="0" marL="0">
              <a:lnSpc>
                <a:spcPct val="108000"/>
              </a:lnSpc>
              <a:buNone/>
            </a:pPr>
            <a:r>
              <a:rPr lang="en-US" sz="3300" b="1" dirty="0">
                <a:solidFill>
                  <a:srgbClr val="1B2229"/>
                </a:solidFill>
                <a:latin typeface="Cambria" pitchFamily="34" charset="0"/>
                <a:ea typeface="Cambria" pitchFamily="34" charset="-122"/>
                <a:cs typeface="Cambria" pitchFamily="34" charset="-120"/>
              </a:rPr>
              <a:t>Mean vs. median, and why robust statistics exist</a:t>
            </a:r>
            <a:endParaRPr lang="en-US" sz="3300" dirty="0"/>
          </a:p>
        </p:txBody>
      </p:sp>
      <p:sp>
        <p:nvSpPr>
          <p:cNvPr id="4" name="Text 2"/>
          <p:cNvSpPr/>
          <p:nvPr/>
        </p:nvSpPr>
        <p:spPr>
          <a:xfrm>
            <a:off x="566928" y="4434840"/>
            <a:ext cx="8650224" cy="1005840"/>
          </a:xfrm>
          <a:prstGeom prst="rect">
            <a:avLst/>
          </a:prstGeom>
          <a:noFill/>
          <a:ln/>
        </p:spPr>
        <p:txBody>
          <a:bodyPr wrap="square" lIns="0" tIns="0" rIns="0" bIns="0" rtlCol="0" anchor="ctr"/>
          <a:lstStyle/>
          <a:p>
            <a:pPr indent="0" marL="0">
              <a:buNone/>
            </a:pPr>
            <a:r>
              <a:rPr lang="en-US" sz="1550" dirty="0">
                <a:solidFill>
                  <a:srgbClr val="5A646E"/>
                </a:solidFill>
                <a:latin typeface="Calibri" pitchFamily="34" charset="0"/>
                <a:ea typeface="Calibri" pitchFamily="34" charset="-122"/>
                <a:cs typeface="Calibri" pitchFamily="34" charset="-120"/>
              </a:rPr>
              <a:t>The gap between mean and median is the diagnostic for skew. Where the gap is large the mean describes no typical session, and the median with the IQR must be reported instead.</a:t>
            </a:r>
            <a:endParaRPr lang="en-US" sz="1550" dirty="0"/>
          </a:p>
        </p:txBody>
      </p:sp>
      <p:sp>
        <p:nvSpPr>
          <p:cNvPr id="5" name="Text 3"/>
          <p:cNvSpPr/>
          <p:nvPr/>
        </p:nvSpPr>
        <p:spPr>
          <a:xfrm>
            <a:off x="566928" y="6437376"/>
            <a:ext cx="6400800" cy="256032"/>
          </a:xfrm>
          <a:prstGeom prst="rect">
            <a:avLst/>
          </a:prstGeom>
          <a:noFill/>
          <a:ln/>
        </p:spPr>
        <p:txBody>
          <a:bodyPr wrap="square" lIns="0" tIns="0" rIns="0" bIns="0" rtlCol="0" anchor="ctr"/>
          <a:lstStyle/>
          <a:p>
            <a:pPr algn="l" indent="0" marL="0">
              <a:buNone/>
            </a:pPr>
            <a:r>
              <a:rPr lang="en-US" sz="900" dirty="0">
                <a:solidFill>
                  <a:srgbClr val="8B9199"/>
                </a:solidFill>
                <a:latin typeface="Calibri" pitchFamily="34" charset="0"/>
                <a:ea typeface="Calibri" pitchFamily="34" charset="-122"/>
                <a:cs typeface="Calibri" pitchFamily="34" charset="-120"/>
              </a:rPr>
              <a:t>DATA209 · Module 1 — L1-2 The role of EDA, and robust statistics</a:t>
            </a:r>
            <a:endParaRPr lang="en-US" sz="900" dirty="0"/>
          </a:p>
        </p:txBody>
      </p:sp>
      <p:sp>
        <p:nvSpPr>
          <p:cNvPr id="6" name="Text 4"/>
          <p:cNvSpPr/>
          <p:nvPr/>
        </p:nvSpPr>
        <p:spPr>
          <a:xfrm>
            <a:off x="10954512" y="6437376"/>
            <a:ext cx="640080" cy="256032"/>
          </a:xfrm>
          <a:prstGeom prst="rect">
            <a:avLst/>
          </a:prstGeom>
          <a:noFill/>
          <a:ln/>
        </p:spPr>
        <p:txBody>
          <a:bodyPr wrap="square" lIns="0" tIns="0" rIns="0" bIns="0" rtlCol="0" anchor="ctr"/>
          <a:lstStyle/>
          <a:p>
            <a:pPr algn="r" indent="0" marL="0">
              <a:buNone/>
            </a:pPr>
            <a:r>
              <a:rPr lang="en-US" sz="900" dirty="0">
                <a:solidFill>
                  <a:srgbClr val="8B9199"/>
                </a:solidFill>
                <a:latin typeface="Courier New" pitchFamily="34" charset="0"/>
                <a:ea typeface="Courier New" pitchFamily="34" charset="-122"/>
                <a:cs typeface="Courier New"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1027664" cy="237744"/>
          </a:xfrm>
          <a:prstGeom prst="rect">
            <a:avLst/>
          </a:prstGeom>
          <a:noFill/>
          <a:ln/>
        </p:spPr>
        <p:txBody>
          <a:bodyPr wrap="square" lIns="0" tIns="0" rIns="0" bIns="0" rtlCol="0" anchor="ctr"/>
          <a:lstStyle/>
          <a:p>
            <a:pPr indent="0" marL="0">
              <a:buNone/>
            </a:pPr>
            <a:r>
              <a:rPr lang="en-US" sz="1050" b="1" spc="160" kern="0" dirty="0">
                <a:solidFill>
                  <a:srgbClr val="3B6E8F"/>
                </a:solidFill>
                <a:latin typeface="Courier New" pitchFamily="34" charset="0"/>
                <a:ea typeface="Courier New" pitchFamily="34" charset="-122"/>
                <a:cs typeface="Courier New" pitchFamily="34" charset="-120"/>
              </a:rPr>
              <a:t>EXAMPLE 2</a:t>
            </a:r>
            <a:endParaRPr lang="en-US" sz="1050" dirty="0"/>
          </a:p>
        </p:txBody>
      </p:sp>
      <p:sp>
        <p:nvSpPr>
          <p:cNvPr id="3" name="Text 1"/>
          <p:cNvSpPr/>
          <p:nvPr/>
        </p:nvSpPr>
        <p:spPr>
          <a:xfrm>
            <a:off x="566928" y="676656"/>
            <a:ext cx="11027664" cy="658368"/>
          </a:xfrm>
          <a:prstGeom prst="rect">
            <a:avLst/>
          </a:prstGeom>
          <a:noFill/>
          <a:ln/>
        </p:spPr>
        <p:txBody>
          <a:bodyPr wrap="square" lIns="0" tIns="0" rIns="0" bIns="0" rtlCol="0" anchor="t"/>
          <a:lstStyle/>
          <a:p>
            <a:pPr indent="0" marL="0">
              <a:buNone/>
            </a:pPr>
            <a:r>
              <a:rPr lang="en-US" sz="3000" b="1" dirty="0">
                <a:solidFill>
                  <a:srgbClr val="1B2229"/>
                </a:solidFill>
                <a:latin typeface="Cambria" pitchFamily="34" charset="0"/>
                <a:ea typeface="Cambria" pitchFamily="34" charset="-122"/>
                <a:cs typeface="Cambria" pitchFamily="34" charset="-120"/>
              </a:rPr>
              <a:t>Mean vs. median, and why robust statistics exist</a:t>
            </a:r>
            <a:endParaRPr lang="en-US" sz="3000" dirty="0"/>
          </a:p>
        </p:txBody>
      </p:sp>
      <p:sp>
        <p:nvSpPr>
          <p:cNvPr id="4" name="Shape 2"/>
          <p:cNvSpPr/>
          <p:nvPr/>
        </p:nvSpPr>
        <p:spPr>
          <a:xfrm>
            <a:off x="566928" y="1783080"/>
            <a:ext cx="6065215" cy="3977640"/>
          </a:xfrm>
          <a:prstGeom prst="roundRect">
            <a:avLst>
              <a:gd name="adj" fmla="val 1379"/>
            </a:avLst>
          </a:prstGeom>
          <a:solidFill>
            <a:srgbClr val="1B2229"/>
          </a:solidFill>
          <a:ln w="12700">
            <a:solidFill>
              <a:srgbClr val="FFFFFF"/>
            </a:solidFill>
            <a:prstDash val="solid"/>
          </a:ln>
        </p:spPr>
      </p:sp>
      <p:sp>
        <p:nvSpPr>
          <p:cNvPr id="5" name="Text 3"/>
          <p:cNvSpPr/>
          <p:nvPr/>
        </p:nvSpPr>
        <p:spPr>
          <a:xfrm>
            <a:off x="768096" y="1920240"/>
            <a:ext cx="5662879" cy="3703320"/>
          </a:xfrm>
          <a:prstGeom prst="rect">
            <a:avLst/>
          </a:prstGeom>
          <a:noFill/>
          <a:ln/>
        </p:spPr>
        <p:txBody>
          <a:bodyPr wrap="square" lIns="0" tIns="0" rIns="0" bIns="0" rtlCol="0" anchor="t"/>
          <a:lstStyle/>
          <a:p>
            <a:pPr indent="0" marL="0">
              <a:buNone/>
            </a:pPr>
            <a:r>
              <a:rPr lang="en-US" sz="900" dirty="0">
                <a:solidFill>
                  <a:srgbClr val="E4E9EC"/>
                </a:solidFill>
                <a:latin typeface="Courier New" pitchFamily="34" charset="0"/>
                <a:ea typeface="Courier New" pitchFamily="34" charset="-122"/>
                <a:cs typeface="Courier New" pitchFamily="34" charset="-120"/>
              </a:rPr>
              <a:t>pos = pd.DataFrame({"mean": df[num].mean(), "median": df[num]…</a:t>
            </a:r>
            <a:endParaRPr lang="en-US" sz="900" dirty="0"/>
          </a:p>
          <a:p>
            <a:pPr indent="0" marL="0">
              <a:buNone/>
            </a:pPr>
            <a:r>
              <a:rPr lang="en-US" sz="900" dirty="0">
                <a:solidFill>
                  <a:srgbClr val="E4E9EC"/>
                </a:solidFill>
                <a:latin typeface="Courier New" pitchFamily="34" charset="0"/>
                <a:ea typeface="Courier New" pitchFamily="34" charset="-122"/>
                <a:cs typeface="Courier New" pitchFamily="34" charset="-120"/>
              </a:rPr>
              <a:t>                    "std": df[num].std(),</a:t>
            </a:r>
            <a:endParaRPr lang="en-US" sz="900" dirty="0"/>
          </a:p>
          <a:p>
            <a:pPr indent="0" marL="0">
              <a:buNone/>
            </a:pPr>
            <a:r>
              <a:rPr lang="en-US" sz="900" dirty="0">
                <a:solidFill>
                  <a:srgbClr val="E4E9EC"/>
                </a:solidFill>
                <a:latin typeface="Courier New" pitchFamily="34" charset="0"/>
                <a:ea typeface="Courier New" pitchFamily="34" charset="-122"/>
                <a:cs typeface="Courier New" pitchFamily="34" charset="-120"/>
              </a:rPr>
              <a:t>                    "IQR": df[num].quantile(.75) - df[num].qu…</a:t>
            </a:r>
            <a:endParaRPr lang="en-US" sz="900" dirty="0"/>
          </a:p>
          <a:p>
            <a:pPr indent="0" marL="0">
              <a:buNone/>
            </a:pPr>
            <a:r>
              <a:rPr lang="en-US" sz="900" dirty="0">
                <a:solidFill>
                  <a:srgbClr val="E4E9EC"/>
                </a:solidFill>
                <a:latin typeface="Courier New" pitchFamily="34" charset="0"/>
                <a:ea typeface="Courier New" pitchFamily="34" charset="-122"/>
                <a:cs typeface="Courier New" pitchFamily="34" charset="-120"/>
              </a:rPr>
              <a:t>                    "skew": df[num].skew()})</a:t>
            </a:r>
            <a:endParaRPr lang="en-US" sz="900" dirty="0"/>
          </a:p>
          <a:p>
            <a:pPr indent="0" marL="0">
              <a:buNone/>
            </a:pPr>
            <a:r>
              <a:rPr lang="en-US" sz="900" dirty="0">
                <a:solidFill>
                  <a:srgbClr val="E4E9EC"/>
                </a:solidFill>
                <a:latin typeface="Courier New" pitchFamily="34" charset="0"/>
                <a:ea typeface="Courier New" pitchFamily="34" charset="-122"/>
                <a:cs typeface="Courier New" pitchFamily="34" charset="-120"/>
              </a:rPr>
              <a:t>pos["mean-median"] = pos["mean"] - pos["median"]</a:t>
            </a:r>
            <a:endParaRPr lang="en-US" sz="900" dirty="0"/>
          </a:p>
          <a:p>
            <a:pPr indent="0" marL="0">
              <a:buNone/>
            </a:pPr>
            <a:r>
              <a:rPr lang="en-US" sz="900" dirty="0">
                <a:solidFill>
                  <a:srgbClr val="E4E9EC"/>
                </a:solidFill>
                <a:latin typeface="Courier New" pitchFamily="34" charset="0"/>
                <a:ea typeface="Courier New" pitchFamily="34" charset="-122"/>
                <a:cs typeface="Courier New" pitchFamily="34" charset="-120"/>
              </a:rPr>
              <a:t>print(pos.sort_values("skew", ascending=False).head(6).to_str…</a:t>
            </a:r>
            <a:endParaRPr lang="en-US" sz="900" dirty="0"/>
          </a:p>
          <a:p>
            <a:pPr indent="0" marL="0">
              <a:buNone/>
            </a:pPr>
            <a:r>
              <a:rPr lang="en-US" sz="900" dirty="0">
                <a:solidFill>
                  <a:srgbClr val="E4E9EC"/>
                </a:solidFill>
                <a:latin typeface="Courier New" pitchFamily="34" charset="0"/>
                <a:ea typeface="Courier New" pitchFamily="34" charset="-122"/>
                <a:cs typeface="Courier New" pitchFamily="34" charset="-120"/>
              </a:rPr>
              <a:t>print("\nRule: report mean with std, or median with IQR. Neve…</a:t>
            </a:r>
            <a:endParaRPr lang="en-US" sz="900" dirty="0"/>
          </a:p>
        </p:txBody>
      </p:sp>
      <p:sp>
        <p:nvSpPr>
          <p:cNvPr id="6" name="Shape 4"/>
          <p:cNvSpPr/>
          <p:nvPr/>
        </p:nvSpPr>
        <p:spPr>
          <a:xfrm>
            <a:off x="6943039" y="1783080"/>
            <a:ext cx="4651553" cy="3977640"/>
          </a:xfrm>
          <a:prstGeom prst="roundRect">
            <a:avLst>
              <a:gd name="adj" fmla="val 1379"/>
            </a:avLst>
          </a:prstGeom>
          <a:solidFill>
            <a:srgbClr val="EAF0F4"/>
          </a:solidFill>
          <a:ln w="12700">
            <a:solidFill>
              <a:srgbClr val="FFFFFF"/>
            </a:solidFill>
            <a:prstDash val="solid"/>
          </a:ln>
        </p:spPr>
      </p:sp>
      <p:sp>
        <p:nvSpPr>
          <p:cNvPr id="7" name="Text 5"/>
          <p:cNvSpPr/>
          <p:nvPr/>
        </p:nvSpPr>
        <p:spPr>
          <a:xfrm>
            <a:off x="7144207" y="1883664"/>
            <a:ext cx="4249217" cy="219456"/>
          </a:xfrm>
          <a:prstGeom prst="rect">
            <a:avLst/>
          </a:prstGeom>
          <a:noFill/>
          <a:ln/>
        </p:spPr>
        <p:txBody>
          <a:bodyPr wrap="square" lIns="0" tIns="0" rIns="0" bIns="0" rtlCol="0" anchor="ctr"/>
          <a:lstStyle/>
          <a:p>
            <a:pPr indent="0" marL="0">
              <a:buNone/>
            </a:pPr>
            <a:r>
              <a:rPr lang="en-US" sz="850" b="1" spc="120" kern="0" dirty="0">
                <a:solidFill>
                  <a:srgbClr val="2A4F68"/>
                </a:solidFill>
                <a:latin typeface="Courier New" pitchFamily="34" charset="0"/>
                <a:ea typeface="Courier New" pitchFamily="34" charset="-122"/>
                <a:cs typeface="Courier New" pitchFamily="34" charset="-120"/>
              </a:rPr>
              <a:t>OUTPUT</a:t>
            </a:r>
            <a:endParaRPr lang="en-US" sz="850" dirty="0"/>
          </a:p>
        </p:txBody>
      </p:sp>
      <p:sp>
        <p:nvSpPr>
          <p:cNvPr id="8" name="Text 6"/>
          <p:cNvSpPr/>
          <p:nvPr/>
        </p:nvSpPr>
        <p:spPr>
          <a:xfrm>
            <a:off x="7144207" y="2139696"/>
            <a:ext cx="4249217" cy="3520440"/>
          </a:xfrm>
          <a:prstGeom prst="rect">
            <a:avLst/>
          </a:prstGeom>
          <a:noFill/>
          <a:ln/>
        </p:spPr>
        <p:txBody>
          <a:bodyPr wrap="square" lIns="0" tIns="0" rIns="0" bIns="0" rtlCol="0" anchor="t"/>
          <a:lstStyle/>
          <a:p>
            <a:pPr indent="0" marL="0">
              <a:buNone/>
            </a:pPr>
            <a:r>
              <a:rPr lang="en-US" sz="820" dirty="0">
                <a:solidFill>
                  <a:srgbClr val="1B2229"/>
                </a:solidFill>
                <a:latin typeface="Courier New" pitchFamily="34" charset="0"/>
                <a:ea typeface="Courier New" pitchFamily="34" charset="-122"/>
                <a:cs typeface="Courier New" pitchFamily="34" charset="-120"/>
              </a:rPr>
              <a:t>                             mean  median       std…</a:t>
            </a:r>
            <a:endParaRPr lang="en-US" sz="820" dirty="0"/>
          </a:p>
          <a:p>
            <a:pPr indent="0" marL="0">
              <a:buNone/>
            </a:pPr>
            <a:r>
              <a:rPr lang="en-US" sz="820" dirty="0">
                <a:solidFill>
                  <a:srgbClr val="1B2229"/>
                </a:solidFill>
                <a:latin typeface="Courier New" pitchFamily="34" charset="0"/>
                <a:ea typeface="Courier New" pitchFamily="34" charset="-122"/>
                <a:cs typeface="Courier New" pitchFamily="34" charset="-120"/>
              </a:rPr>
              <a:t>Informational_Duration     34.472   0.000   140.749…</a:t>
            </a:r>
            <a:endParaRPr lang="en-US" sz="820" dirty="0"/>
          </a:p>
          <a:p>
            <a:pPr indent="0" marL="0">
              <a:buNone/>
            </a:pPr>
            <a:r>
              <a:rPr lang="en-US" sz="820" dirty="0">
                <a:solidFill>
                  <a:srgbClr val="1B2229"/>
                </a:solidFill>
                <a:latin typeface="Courier New" pitchFamily="34" charset="0"/>
                <a:ea typeface="Courier New" pitchFamily="34" charset="-122"/>
                <a:cs typeface="Courier New" pitchFamily="34" charset="-120"/>
              </a:rPr>
              <a:t>ProductRelated_Duration 1,194.746 598.937 1,913.669…</a:t>
            </a:r>
            <a:endParaRPr lang="en-US" sz="820" dirty="0"/>
          </a:p>
          <a:p>
            <a:pPr indent="0" marL="0">
              <a:buNone/>
            </a:pPr>
            <a:r>
              <a:rPr lang="en-US" sz="820" dirty="0">
                <a:solidFill>
                  <a:srgbClr val="1B2229"/>
                </a:solidFill>
                <a:latin typeface="Courier New" pitchFamily="34" charset="0"/>
                <a:ea typeface="Courier New" pitchFamily="34" charset="-122"/>
                <a:cs typeface="Courier New" pitchFamily="34" charset="-120"/>
              </a:rPr>
              <a:t>PageValues                  5.889   0.000    18.568…</a:t>
            </a:r>
            <a:endParaRPr lang="en-US" sz="820" dirty="0"/>
          </a:p>
          <a:p>
            <a:pPr indent="0" marL="0">
              <a:buNone/>
            </a:pPr>
            <a:r>
              <a:rPr lang="en-US" sz="820" dirty="0">
                <a:solidFill>
                  <a:srgbClr val="1B2229"/>
                </a:solidFill>
                <a:latin typeface="Courier New" pitchFamily="34" charset="0"/>
                <a:ea typeface="Courier New" pitchFamily="34" charset="-122"/>
                <a:cs typeface="Courier New" pitchFamily="34" charset="-120"/>
              </a:rPr>
              <a:t>Administrative_Duration    80.819   7.500   176.779…</a:t>
            </a:r>
            <a:endParaRPr lang="en-US" sz="820" dirty="0"/>
          </a:p>
          <a:p>
            <a:pPr indent="0" marL="0">
              <a:buNone/>
            </a:pPr>
            <a:r>
              <a:rPr lang="en-US" sz="820" dirty="0">
                <a:solidFill>
                  <a:srgbClr val="1B2229"/>
                </a:solidFill>
                <a:latin typeface="Courier New" pitchFamily="34" charset="0"/>
                <a:ea typeface="Courier New" pitchFamily="34" charset="-122"/>
                <a:cs typeface="Courier New" pitchFamily="34" charset="-120"/>
              </a:rPr>
              <a:t>ProductRelated             31.731  18.000    44.476…</a:t>
            </a:r>
            <a:endParaRPr lang="en-US" sz="820" dirty="0"/>
          </a:p>
          <a:p>
            <a:pPr indent="0" marL="0">
              <a:buNone/>
            </a:pPr>
            <a:r>
              <a:rPr lang="en-US" sz="820" dirty="0">
                <a:solidFill>
                  <a:srgbClr val="1B2229"/>
                </a:solidFill>
                <a:latin typeface="Courier New" pitchFamily="34" charset="0"/>
                <a:ea typeface="Courier New" pitchFamily="34" charset="-122"/>
                <a:cs typeface="Courier New" pitchFamily="34" charset="-120"/>
              </a:rPr>
              <a:t>Informational               0.504   0.000     1.270…</a:t>
            </a:r>
            <a:endParaRPr lang="en-US" sz="820" dirty="0"/>
          </a:p>
          <a:p>
            <a:pPr indent="0" marL="0">
              <a:buNone/>
            </a:pPr>
            <a:r>
              <a:rPr lang="en-US" sz="820" dirty="0">
                <a:solidFill>
                  <a:srgbClr val="1B2229"/>
                </a:solidFill>
                <a:latin typeface="Courier New" pitchFamily="34" charset="0"/>
                <a:ea typeface="Courier New" pitchFamily="34" charset="-122"/>
                <a:cs typeface="Courier New" pitchFamily="34" charset="-120"/>
              </a:rPr>
              <a:t> </a:t>
            </a:r>
            <a:endParaRPr lang="en-US" sz="820" dirty="0"/>
          </a:p>
          <a:p>
            <a:pPr indent="0" marL="0">
              <a:buNone/>
            </a:pPr>
            <a:r>
              <a:rPr lang="en-US" sz="820" dirty="0">
                <a:solidFill>
                  <a:srgbClr val="1B2229"/>
                </a:solidFill>
                <a:latin typeface="Courier New" pitchFamily="34" charset="0"/>
                <a:ea typeface="Courier New" pitchFamily="34" charset="-122"/>
                <a:cs typeface="Courier New" pitchFamily="34" charset="-120"/>
              </a:rPr>
              <a:t>Rule: report mean with std, or median with IQR. Nev…</a:t>
            </a:r>
            <a:endParaRPr lang="en-US" sz="820" dirty="0"/>
          </a:p>
        </p:txBody>
      </p:sp>
      <p:sp>
        <p:nvSpPr>
          <p:cNvPr id="9" name="Text 7"/>
          <p:cNvSpPr/>
          <p:nvPr/>
        </p:nvSpPr>
        <p:spPr>
          <a:xfrm>
            <a:off x="566928" y="5870448"/>
            <a:ext cx="11027664" cy="411480"/>
          </a:xfrm>
          <a:prstGeom prst="rect">
            <a:avLst/>
          </a:prstGeom>
          <a:noFill/>
          <a:ln/>
        </p:spPr>
        <p:txBody>
          <a:bodyPr wrap="square" lIns="0" tIns="0" rIns="0" bIns="0" rtlCol="0" anchor="ctr"/>
          <a:lstStyle/>
          <a:p>
            <a:pPr indent="0" marL="0">
              <a:buNone/>
            </a:pPr>
            <a:r>
              <a:rPr lang="en-US" sz="1150" i="1" dirty="0">
                <a:solidFill>
                  <a:srgbClr val="2A4F68"/>
                </a:solidFill>
                <a:latin typeface="Calibri" pitchFamily="34" charset="0"/>
                <a:ea typeface="Calibri" pitchFamily="34" charset="-122"/>
                <a:cs typeface="Calibri" pitchFamily="34" charset="-120"/>
              </a:rPr>
              <a:t>Output is the real result of running this code on the course dataset.</a:t>
            </a:r>
            <a:endParaRPr lang="en-US" sz="1150" dirty="0"/>
          </a:p>
        </p:txBody>
      </p:sp>
      <p:sp>
        <p:nvSpPr>
          <p:cNvPr id="10" name="Text 8"/>
          <p:cNvSpPr/>
          <p:nvPr/>
        </p:nvSpPr>
        <p:spPr>
          <a:xfrm>
            <a:off x="566928" y="6437376"/>
            <a:ext cx="6400800" cy="256032"/>
          </a:xfrm>
          <a:prstGeom prst="rect">
            <a:avLst/>
          </a:prstGeom>
          <a:noFill/>
          <a:ln/>
        </p:spPr>
        <p:txBody>
          <a:bodyPr wrap="square" lIns="0" tIns="0" rIns="0" bIns="0" rtlCol="0" anchor="ctr"/>
          <a:lstStyle/>
          <a:p>
            <a:pPr algn="l" indent="0" marL="0">
              <a:buNone/>
            </a:pPr>
            <a:r>
              <a:rPr lang="en-US" sz="900" dirty="0">
                <a:solidFill>
                  <a:srgbClr val="8B9199"/>
                </a:solidFill>
                <a:latin typeface="Calibri" pitchFamily="34" charset="0"/>
                <a:ea typeface="Calibri" pitchFamily="34" charset="-122"/>
                <a:cs typeface="Calibri" pitchFamily="34" charset="-120"/>
              </a:rPr>
              <a:t>DATA209 · Module 1 — L1-2 The role of EDA, and robust statistics</a:t>
            </a:r>
            <a:endParaRPr lang="en-US" sz="900" dirty="0"/>
          </a:p>
        </p:txBody>
      </p:sp>
      <p:sp>
        <p:nvSpPr>
          <p:cNvPr id="11" name="Text 9"/>
          <p:cNvSpPr/>
          <p:nvPr/>
        </p:nvSpPr>
        <p:spPr>
          <a:xfrm>
            <a:off x="10954512" y="6437376"/>
            <a:ext cx="640080" cy="256032"/>
          </a:xfrm>
          <a:prstGeom prst="rect">
            <a:avLst/>
          </a:prstGeom>
          <a:noFill/>
          <a:ln/>
        </p:spPr>
        <p:txBody>
          <a:bodyPr wrap="square" lIns="0" tIns="0" rIns="0" bIns="0" rtlCol="0" anchor="ctr"/>
          <a:lstStyle/>
          <a:p>
            <a:pPr algn="r" indent="0" marL="0">
              <a:buNone/>
            </a:pPr>
            <a:r>
              <a:rPr lang="en-US" sz="900" dirty="0">
                <a:solidFill>
                  <a:srgbClr val="8B9199"/>
                </a:solidFill>
                <a:latin typeface="Courier New" pitchFamily="34" charset="0"/>
                <a:ea typeface="Courier New" pitchFamily="34" charset="-122"/>
                <a:cs typeface="Courier New"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EAF0F4"/>
        </a:solidFill>
      </p:bgPr>
    </p:bg>
    <p:spTree>
      <p:nvGrpSpPr>
        <p:cNvPr id="1" name=""/>
        <p:cNvGrpSpPr/>
        <p:nvPr/>
      </p:nvGrpSpPr>
      <p:grpSpPr>
        <a:xfrm>
          <a:off x="0" y="0"/>
          <a:ext cx="0" cy="0"/>
          <a:chOff x="0" y="0"/>
          <a:chExt cx="0" cy="0"/>
        </a:xfrm>
      </p:grpSpPr>
      <p:sp>
        <p:nvSpPr>
          <p:cNvPr id="2" name="Shape 0"/>
          <p:cNvSpPr/>
          <p:nvPr/>
        </p:nvSpPr>
        <p:spPr>
          <a:xfrm>
            <a:off x="566928" y="1828800"/>
            <a:ext cx="274320" cy="274320"/>
          </a:xfrm>
          <a:prstGeom prst="rect">
            <a:avLst/>
          </a:prstGeom>
          <a:solidFill>
            <a:srgbClr val="3B6E8F"/>
          </a:solidFill>
          <a:ln/>
        </p:spPr>
      </p:sp>
      <p:sp>
        <p:nvSpPr>
          <p:cNvPr id="3" name="Text 1"/>
          <p:cNvSpPr/>
          <p:nvPr/>
        </p:nvSpPr>
        <p:spPr>
          <a:xfrm>
            <a:off x="566928" y="2331720"/>
            <a:ext cx="9564624" cy="2011680"/>
          </a:xfrm>
          <a:prstGeom prst="rect">
            <a:avLst/>
          </a:prstGeom>
          <a:noFill/>
          <a:ln/>
        </p:spPr>
        <p:txBody>
          <a:bodyPr wrap="square" lIns="0" tIns="0" rIns="0" bIns="0" rtlCol="0" anchor="t"/>
          <a:lstStyle/>
          <a:p>
            <a:pPr indent="0" marL="0">
              <a:lnSpc>
                <a:spcPct val="108000"/>
              </a:lnSpc>
              <a:buNone/>
            </a:pPr>
            <a:r>
              <a:rPr lang="en-US" sz="3300" b="1" dirty="0">
                <a:solidFill>
                  <a:srgbClr val="1B2229"/>
                </a:solidFill>
                <a:latin typeface="Cambria" pitchFamily="34" charset="0"/>
                <a:ea typeface="Cambria" pitchFamily="34" charset="-122"/>
                <a:cs typeface="Cambria" pitchFamily="34" charset="-120"/>
              </a:rPr>
              <a:t>Skewness, kurtosis and a first look at outliers</a:t>
            </a:r>
            <a:endParaRPr lang="en-US" sz="3300" dirty="0"/>
          </a:p>
        </p:txBody>
      </p:sp>
      <p:sp>
        <p:nvSpPr>
          <p:cNvPr id="4" name="Text 2"/>
          <p:cNvSpPr/>
          <p:nvPr/>
        </p:nvSpPr>
        <p:spPr>
          <a:xfrm>
            <a:off x="566928" y="4434840"/>
            <a:ext cx="8650224" cy="1005840"/>
          </a:xfrm>
          <a:prstGeom prst="rect">
            <a:avLst/>
          </a:prstGeom>
          <a:noFill/>
          <a:ln/>
        </p:spPr>
        <p:txBody>
          <a:bodyPr wrap="square" lIns="0" tIns="0" rIns="0" bIns="0" rtlCol="0" anchor="ctr"/>
          <a:lstStyle/>
          <a:p>
            <a:pPr indent="0" marL="0">
              <a:buNone/>
            </a:pPr>
            <a:r>
              <a:rPr lang="en-US" sz="1550" dirty="0">
                <a:solidFill>
                  <a:srgbClr val="5A646E"/>
                </a:solidFill>
                <a:latin typeface="Calibri" pitchFamily="34" charset="0"/>
                <a:ea typeface="Calibri" pitchFamily="34" charset="-122"/>
                <a:cs typeface="Calibri" pitchFamily="34" charset="-120"/>
              </a:rPr>
              <a:t>Shape decides every later choice. Here the same variable is shown as a histogram and a boxplot: the histogram reveals the spike at zero, the boxplot reveals the tail.</a:t>
            </a:r>
            <a:endParaRPr lang="en-US" sz="1550" dirty="0"/>
          </a:p>
        </p:txBody>
      </p:sp>
      <p:sp>
        <p:nvSpPr>
          <p:cNvPr id="5" name="Text 3"/>
          <p:cNvSpPr/>
          <p:nvPr/>
        </p:nvSpPr>
        <p:spPr>
          <a:xfrm>
            <a:off x="566928" y="6437376"/>
            <a:ext cx="6400800" cy="256032"/>
          </a:xfrm>
          <a:prstGeom prst="rect">
            <a:avLst/>
          </a:prstGeom>
          <a:noFill/>
          <a:ln/>
        </p:spPr>
        <p:txBody>
          <a:bodyPr wrap="square" lIns="0" tIns="0" rIns="0" bIns="0" rtlCol="0" anchor="ctr"/>
          <a:lstStyle/>
          <a:p>
            <a:pPr algn="l" indent="0" marL="0">
              <a:buNone/>
            </a:pPr>
            <a:r>
              <a:rPr lang="en-US" sz="900" dirty="0">
                <a:solidFill>
                  <a:srgbClr val="8B9199"/>
                </a:solidFill>
                <a:latin typeface="Calibri" pitchFamily="34" charset="0"/>
                <a:ea typeface="Calibri" pitchFamily="34" charset="-122"/>
                <a:cs typeface="Calibri" pitchFamily="34" charset="-120"/>
              </a:rPr>
              <a:t>DATA209 · Module 1 — L1-2 The role of EDA, and robust statistics</a:t>
            </a:r>
            <a:endParaRPr lang="en-US" sz="900" dirty="0"/>
          </a:p>
        </p:txBody>
      </p:sp>
      <p:sp>
        <p:nvSpPr>
          <p:cNvPr id="6" name="Text 4"/>
          <p:cNvSpPr/>
          <p:nvPr/>
        </p:nvSpPr>
        <p:spPr>
          <a:xfrm>
            <a:off x="10954512" y="6437376"/>
            <a:ext cx="640080" cy="256032"/>
          </a:xfrm>
          <a:prstGeom prst="rect">
            <a:avLst/>
          </a:prstGeom>
          <a:noFill/>
          <a:ln/>
        </p:spPr>
        <p:txBody>
          <a:bodyPr wrap="square" lIns="0" tIns="0" rIns="0" bIns="0" rtlCol="0" anchor="ctr"/>
          <a:lstStyle/>
          <a:p>
            <a:pPr algn="r" indent="0" marL="0">
              <a:buNone/>
            </a:pPr>
            <a:r>
              <a:rPr lang="en-US" sz="900" dirty="0">
                <a:solidFill>
                  <a:srgbClr val="8B9199"/>
                </a:solidFill>
                <a:latin typeface="Courier New" pitchFamily="34" charset="0"/>
                <a:ea typeface="Courier New" pitchFamily="34" charset="-122"/>
                <a:cs typeface="Courier New"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1027664" cy="237744"/>
          </a:xfrm>
          <a:prstGeom prst="rect">
            <a:avLst/>
          </a:prstGeom>
          <a:noFill/>
          <a:ln/>
        </p:spPr>
        <p:txBody>
          <a:bodyPr wrap="square" lIns="0" tIns="0" rIns="0" bIns="0" rtlCol="0" anchor="ctr"/>
          <a:lstStyle/>
          <a:p>
            <a:pPr indent="0" marL="0">
              <a:buNone/>
            </a:pPr>
            <a:r>
              <a:rPr lang="en-US" sz="1050" b="1" spc="160" kern="0" dirty="0">
                <a:solidFill>
                  <a:srgbClr val="3B6E8F"/>
                </a:solidFill>
                <a:latin typeface="Courier New" pitchFamily="34" charset="0"/>
                <a:ea typeface="Courier New" pitchFamily="34" charset="-122"/>
                <a:cs typeface="Courier New" pitchFamily="34" charset="-120"/>
              </a:rPr>
              <a:t>EXAMPLE 3</a:t>
            </a:r>
            <a:endParaRPr lang="en-US" sz="1050" dirty="0"/>
          </a:p>
        </p:txBody>
      </p:sp>
      <p:sp>
        <p:nvSpPr>
          <p:cNvPr id="3" name="Text 1"/>
          <p:cNvSpPr/>
          <p:nvPr/>
        </p:nvSpPr>
        <p:spPr>
          <a:xfrm>
            <a:off x="566928" y="676656"/>
            <a:ext cx="11027664" cy="658368"/>
          </a:xfrm>
          <a:prstGeom prst="rect">
            <a:avLst/>
          </a:prstGeom>
          <a:noFill/>
          <a:ln/>
        </p:spPr>
        <p:txBody>
          <a:bodyPr wrap="square" lIns="0" tIns="0" rIns="0" bIns="0" rtlCol="0" anchor="t"/>
          <a:lstStyle/>
          <a:p>
            <a:pPr indent="0" marL="0">
              <a:buNone/>
            </a:pPr>
            <a:r>
              <a:rPr lang="en-US" sz="3000" b="1" dirty="0">
                <a:solidFill>
                  <a:srgbClr val="1B2229"/>
                </a:solidFill>
                <a:latin typeface="Cambria" pitchFamily="34" charset="0"/>
                <a:ea typeface="Cambria" pitchFamily="34" charset="-122"/>
                <a:cs typeface="Cambria" pitchFamily="34" charset="-120"/>
              </a:rPr>
              <a:t>Skewness, kurtosis and a first look at outliers</a:t>
            </a:r>
            <a:endParaRPr lang="en-US" sz="3000" dirty="0"/>
          </a:p>
        </p:txBody>
      </p:sp>
      <p:sp>
        <p:nvSpPr>
          <p:cNvPr id="4" name="Shape 2"/>
          <p:cNvSpPr/>
          <p:nvPr/>
        </p:nvSpPr>
        <p:spPr>
          <a:xfrm>
            <a:off x="566928" y="1783080"/>
            <a:ext cx="6065215" cy="3977640"/>
          </a:xfrm>
          <a:prstGeom prst="roundRect">
            <a:avLst>
              <a:gd name="adj" fmla="val 1379"/>
            </a:avLst>
          </a:prstGeom>
          <a:solidFill>
            <a:srgbClr val="1B2229"/>
          </a:solidFill>
          <a:ln w="12700">
            <a:solidFill>
              <a:srgbClr val="FFFFFF"/>
            </a:solidFill>
            <a:prstDash val="solid"/>
          </a:ln>
        </p:spPr>
      </p:sp>
      <p:sp>
        <p:nvSpPr>
          <p:cNvPr id="5" name="Text 3"/>
          <p:cNvSpPr/>
          <p:nvPr/>
        </p:nvSpPr>
        <p:spPr>
          <a:xfrm>
            <a:off x="768096" y="1920240"/>
            <a:ext cx="5662879" cy="3703320"/>
          </a:xfrm>
          <a:prstGeom prst="rect">
            <a:avLst/>
          </a:prstGeom>
          <a:noFill/>
          <a:ln/>
        </p:spPr>
        <p:txBody>
          <a:bodyPr wrap="square" lIns="0" tIns="0" rIns="0" bIns="0" rtlCol="0" anchor="t"/>
          <a:lstStyle/>
          <a:p>
            <a:pPr indent="0" marL="0">
              <a:buNone/>
            </a:pPr>
            <a:r>
              <a:rPr lang="en-US" sz="900" dirty="0">
                <a:solidFill>
                  <a:srgbClr val="E4E9EC"/>
                </a:solidFill>
                <a:latin typeface="Courier New" pitchFamily="34" charset="0"/>
                <a:ea typeface="Courier New" pitchFamily="34" charset="-122"/>
                <a:cs typeface="Courier New" pitchFamily="34" charset="-120"/>
              </a:rPr>
              <a:t>col = "ProductRelated_Duration"</a:t>
            </a:r>
            <a:endParaRPr lang="en-US" sz="900" dirty="0"/>
          </a:p>
          <a:p>
            <a:pPr indent="0" marL="0">
              <a:buNone/>
            </a:pPr>
            <a:r>
              <a:rPr lang="en-US" sz="900" dirty="0">
                <a:solidFill>
                  <a:srgbClr val="E4E9EC"/>
                </a:solidFill>
                <a:latin typeface="Courier New" pitchFamily="34" charset="0"/>
                <a:ea typeface="Courier New" pitchFamily="34" charset="-122"/>
                <a:cs typeface="Courier New" pitchFamily="34" charset="-120"/>
              </a:rPr>
              <a:t>s = df[col]</a:t>
            </a:r>
            <a:endParaRPr lang="en-US" sz="900" dirty="0"/>
          </a:p>
          <a:p>
            <a:pPr indent="0" marL="0">
              <a:buNone/>
            </a:pPr>
            <a:r>
              <a:rPr lang="en-US" sz="900" dirty="0">
                <a:solidFill>
                  <a:srgbClr val="E4E9EC"/>
                </a:solidFill>
                <a:latin typeface="Courier New" pitchFamily="34" charset="0"/>
                <a:ea typeface="Courier New" pitchFamily="34" charset="-122"/>
                <a:cs typeface="Courier New" pitchFamily="34" charset="-120"/>
              </a:rPr>
              <a:t>q1, q3 = s.quantile([.25, .75]); iqr = q3 - q1</a:t>
            </a:r>
            <a:endParaRPr lang="en-US" sz="900" dirty="0"/>
          </a:p>
          <a:p>
            <a:pPr indent="0" marL="0">
              <a:buNone/>
            </a:pPr>
            <a:r>
              <a:rPr lang="en-US" sz="900" dirty="0">
                <a:solidFill>
                  <a:srgbClr val="E4E9EC"/>
                </a:solidFill>
                <a:latin typeface="Courier New" pitchFamily="34" charset="0"/>
                <a:ea typeface="Courier New" pitchFamily="34" charset="-122"/>
                <a:cs typeface="Courier New" pitchFamily="34" charset="-120"/>
              </a:rPr>
              <a:t>flag = ((s &lt; q1 - 1.5*iqr) | (s &gt; q3 + 1.5*iqr))</a:t>
            </a:r>
            <a:endParaRPr lang="en-US" sz="900" dirty="0"/>
          </a:p>
          <a:p>
            <a:pPr indent="0" marL="0">
              <a:buNone/>
            </a:pPr>
            <a:r>
              <a:rPr lang="en-US" sz="900" dirty="0">
                <a:solidFill>
                  <a:srgbClr val="E4E9EC"/>
                </a:solidFill>
                <a:latin typeface="Courier New" pitchFamily="34" charset="0"/>
                <a:ea typeface="Courier New" pitchFamily="34" charset="-122"/>
                <a:cs typeface="Courier New" pitchFamily="34" charset="-120"/>
              </a:rPr>
              <a:t>print(f"{col}: skew {s.skew():.2f} | kurtosis {s.kurtosis():.…</a:t>
            </a:r>
            <a:endParaRPr lang="en-US" sz="900" dirty="0"/>
          </a:p>
          <a:p>
            <a:pPr indent="0" marL="0">
              <a:buNone/>
            </a:pPr>
            <a:r>
              <a:rPr lang="en-US" sz="900" dirty="0">
                <a:solidFill>
                  <a:srgbClr val="E4E9EC"/>
                </a:solidFill>
                <a:latin typeface="Courier New" pitchFamily="34" charset="0"/>
                <a:ea typeface="Courier New" pitchFamily="34" charset="-122"/>
                <a:cs typeface="Courier New" pitchFamily="34" charset="-120"/>
              </a:rPr>
              <a:t>      f"IQR-flagged {flag.sum():,} of {len(s):,} ({flag.mean(…</a:t>
            </a:r>
            <a:endParaRPr lang="en-US" sz="900" dirty="0"/>
          </a:p>
          <a:p>
            <a:pPr indent="0" marL="0">
              <a:buNone/>
            </a:pPr>
            <a:r>
              <a:rPr lang="en-US" sz="900" dirty="0">
                <a:solidFill>
                  <a:srgbClr val="E4E9EC"/>
                </a:solidFill>
                <a:latin typeface="Courier New" pitchFamily="34" charset="0"/>
                <a:ea typeface="Courier New" pitchFamily="34" charset="-122"/>
                <a:cs typeface="Courier New" pitchFamily="34" charset="-120"/>
              </a:rPr>
              <a:t> </a:t>
            </a:r>
            <a:endParaRPr lang="en-US" sz="900" dirty="0"/>
          </a:p>
          <a:p>
            <a:pPr indent="0" marL="0">
              <a:buNone/>
            </a:pPr>
            <a:r>
              <a:rPr lang="en-US" sz="900" dirty="0">
                <a:solidFill>
                  <a:srgbClr val="E4E9EC"/>
                </a:solidFill>
                <a:latin typeface="Courier New" pitchFamily="34" charset="0"/>
                <a:ea typeface="Courier New" pitchFamily="34" charset="-122"/>
                <a:cs typeface="Courier New" pitchFamily="34" charset="-120"/>
              </a:rPr>
              <a:t>fig, ax = plt.subplots(1, 2, figsize=(8.4, 2.6))</a:t>
            </a:r>
            <a:endParaRPr lang="en-US" sz="900" dirty="0"/>
          </a:p>
          <a:p>
            <a:pPr indent="0" marL="0">
              <a:buNone/>
            </a:pPr>
            <a:r>
              <a:rPr lang="en-US" sz="900" dirty="0">
                <a:solidFill>
                  <a:srgbClr val="E4E9EC"/>
                </a:solidFill>
                <a:latin typeface="Courier New" pitchFamily="34" charset="0"/>
                <a:ea typeface="Courier New" pitchFamily="34" charset="-122"/>
                <a:cs typeface="Courier New" pitchFamily="34" charset="-120"/>
              </a:rPr>
              <a:t>sns.histplot(s, bins=60, ax=ax[0], color="#3B6E8F"); ax[0].se…</a:t>
            </a:r>
            <a:endParaRPr lang="en-US" sz="900" dirty="0"/>
          </a:p>
          <a:p>
            <a:pPr indent="0" marL="0">
              <a:buNone/>
            </a:pPr>
            <a:r>
              <a:rPr lang="en-US" sz="900" dirty="0">
                <a:solidFill>
                  <a:srgbClr val="E4E9EC"/>
                </a:solidFill>
                <a:latin typeface="Courier New" pitchFamily="34" charset="0"/>
                <a:ea typeface="Courier New" pitchFamily="34" charset="-122"/>
                <a:cs typeface="Courier New" pitchFamily="34" charset="-120"/>
              </a:rPr>
              <a:t>sns.boxplot(x=s, ax=ax[1], color="#3B6E8F"); ax[1].set_title(…</a:t>
            </a:r>
            <a:endParaRPr lang="en-US" sz="900" dirty="0"/>
          </a:p>
          <a:p>
            <a:pPr indent="0" marL="0">
              <a:buNone/>
            </a:pPr>
            <a:r>
              <a:rPr lang="en-US" sz="900" dirty="0">
                <a:solidFill>
                  <a:srgbClr val="E4E9EC"/>
                </a:solidFill>
                <a:latin typeface="Courier New" pitchFamily="34" charset="0"/>
                <a:ea typeface="Courier New" pitchFamily="34" charset="-122"/>
                <a:cs typeface="Courier New" pitchFamily="34" charset="-120"/>
              </a:rPr>
              <a:t>plt.tight_layout()</a:t>
            </a:r>
            <a:endParaRPr lang="en-US" sz="900" dirty="0"/>
          </a:p>
        </p:txBody>
      </p:sp>
      <p:sp>
        <p:nvSpPr>
          <p:cNvPr id="6" name="Shape 4"/>
          <p:cNvSpPr/>
          <p:nvPr/>
        </p:nvSpPr>
        <p:spPr>
          <a:xfrm>
            <a:off x="6943039" y="1783080"/>
            <a:ext cx="4651553" cy="3977640"/>
          </a:xfrm>
          <a:prstGeom prst="roundRect">
            <a:avLst>
              <a:gd name="adj" fmla="val 1379"/>
            </a:avLst>
          </a:prstGeom>
          <a:solidFill>
            <a:srgbClr val="EAF0F4"/>
          </a:solidFill>
          <a:ln w="12700">
            <a:solidFill>
              <a:srgbClr val="FFFFFF"/>
            </a:solidFill>
            <a:prstDash val="solid"/>
          </a:ln>
        </p:spPr>
      </p:sp>
      <p:sp>
        <p:nvSpPr>
          <p:cNvPr id="7" name="Text 5"/>
          <p:cNvSpPr/>
          <p:nvPr/>
        </p:nvSpPr>
        <p:spPr>
          <a:xfrm>
            <a:off x="7144207" y="1883664"/>
            <a:ext cx="4249217" cy="219456"/>
          </a:xfrm>
          <a:prstGeom prst="rect">
            <a:avLst/>
          </a:prstGeom>
          <a:noFill/>
          <a:ln/>
        </p:spPr>
        <p:txBody>
          <a:bodyPr wrap="square" lIns="0" tIns="0" rIns="0" bIns="0" rtlCol="0" anchor="ctr"/>
          <a:lstStyle/>
          <a:p>
            <a:pPr indent="0" marL="0">
              <a:buNone/>
            </a:pPr>
            <a:r>
              <a:rPr lang="en-US" sz="850" b="1" spc="120" kern="0" dirty="0">
                <a:solidFill>
                  <a:srgbClr val="2A4F68"/>
                </a:solidFill>
                <a:latin typeface="Courier New" pitchFamily="34" charset="0"/>
                <a:ea typeface="Courier New" pitchFamily="34" charset="-122"/>
                <a:cs typeface="Courier New" pitchFamily="34" charset="-120"/>
              </a:rPr>
              <a:t>OUTPUT</a:t>
            </a:r>
            <a:endParaRPr lang="en-US" sz="850" dirty="0"/>
          </a:p>
        </p:txBody>
      </p:sp>
      <p:sp>
        <p:nvSpPr>
          <p:cNvPr id="8" name="Text 6"/>
          <p:cNvSpPr/>
          <p:nvPr/>
        </p:nvSpPr>
        <p:spPr>
          <a:xfrm>
            <a:off x="7144207" y="2139696"/>
            <a:ext cx="4249217" cy="3520440"/>
          </a:xfrm>
          <a:prstGeom prst="rect">
            <a:avLst/>
          </a:prstGeom>
          <a:noFill/>
          <a:ln/>
        </p:spPr>
        <p:txBody>
          <a:bodyPr wrap="square" lIns="0" tIns="0" rIns="0" bIns="0" rtlCol="0" anchor="t"/>
          <a:lstStyle/>
          <a:p>
            <a:pPr indent="0" marL="0">
              <a:buNone/>
            </a:pPr>
            <a:r>
              <a:rPr lang="en-US" sz="820" dirty="0">
                <a:solidFill>
                  <a:srgbClr val="1B2229"/>
                </a:solidFill>
                <a:latin typeface="Courier New" pitchFamily="34" charset="0"/>
                <a:ea typeface="Courier New" pitchFamily="34" charset="-122"/>
                <a:cs typeface="Courier New" pitchFamily="34" charset="-120"/>
              </a:rPr>
              <a:t>ProductRelated_Duration: skew 7.26 | kurtosis 137.1…</a:t>
            </a:r>
            <a:endParaRPr lang="en-US" sz="820" dirty="0"/>
          </a:p>
        </p:txBody>
      </p:sp>
      <p:sp>
        <p:nvSpPr>
          <p:cNvPr id="9" name="Text 7"/>
          <p:cNvSpPr/>
          <p:nvPr/>
        </p:nvSpPr>
        <p:spPr>
          <a:xfrm>
            <a:off x="566928" y="5870448"/>
            <a:ext cx="11027664" cy="411480"/>
          </a:xfrm>
          <a:prstGeom prst="rect">
            <a:avLst/>
          </a:prstGeom>
          <a:noFill/>
          <a:ln/>
        </p:spPr>
        <p:txBody>
          <a:bodyPr wrap="square" lIns="0" tIns="0" rIns="0" bIns="0" rtlCol="0" anchor="ctr"/>
          <a:lstStyle/>
          <a:p>
            <a:pPr indent="0" marL="0">
              <a:buNone/>
            </a:pPr>
            <a:r>
              <a:rPr lang="en-US" sz="1150" i="1" dirty="0">
                <a:solidFill>
                  <a:srgbClr val="2A4F68"/>
                </a:solidFill>
                <a:latin typeface="Calibri" pitchFamily="34" charset="0"/>
                <a:ea typeface="Calibri" pitchFamily="34" charset="-122"/>
                <a:cs typeface="Calibri" pitchFamily="34" charset="-120"/>
              </a:rPr>
              <a:t>Output is the real result of running this code on the course dataset.</a:t>
            </a:r>
            <a:endParaRPr lang="en-US" sz="1150" dirty="0"/>
          </a:p>
        </p:txBody>
      </p:sp>
      <p:sp>
        <p:nvSpPr>
          <p:cNvPr id="10" name="Text 8"/>
          <p:cNvSpPr/>
          <p:nvPr/>
        </p:nvSpPr>
        <p:spPr>
          <a:xfrm>
            <a:off x="566928" y="6437376"/>
            <a:ext cx="6400800" cy="256032"/>
          </a:xfrm>
          <a:prstGeom prst="rect">
            <a:avLst/>
          </a:prstGeom>
          <a:noFill/>
          <a:ln/>
        </p:spPr>
        <p:txBody>
          <a:bodyPr wrap="square" lIns="0" tIns="0" rIns="0" bIns="0" rtlCol="0" anchor="ctr"/>
          <a:lstStyle/>
          <a:p>
            <a:pPr algn="l" indent="0" marL="0">
              <a:buNone/>
            </a:pPr>
            <a:r>
              <a:rPr lang="en-US" sz="900" dirty="0">
                <a:solidFill>
                  <a:srgbClr val="8B9199"/>
                </a:solidFill>
                <a:latin typeface="Calibri" pitchFamily="34" charset="0"/>
                <a:ea typeface="Calibri" pitchFamily="34" charset="-122"/>
                <a:cs typeface="Calibri" pitchFamily="34" charset="-120"/>
              </a:rPr>
              <a:t>DATA209 · Module 1 — L1-2 The role of EDA, and robust statistics</a:t>
            </a:r>
            <a:endParaRPr lang="en-US" sz="900" dirty="0"/>
          </a:p>
        </p:txBody>
      </p:sp>
      <p:sp>
        <p:nvSpPr>
          <p:cNvPr id="11" name="Text 9"/>
          <p:cNvSpPr/>
          <p:nvPr/>
        </p:nvSpPr>
        <p:spPr>
          <a:xfrm>
            <a:off x="10954512" y="6437376"/>
            <a:ext cx="640080" cy="256032"/>
          </a:xfrm>
          <a:prstGeom prst="rect">
            <a:avLst/>
          </a:prstGeom>
          <a:noFill/>
          <a:ln/>
        </p:spPr>
        <p:txBody>
          <a:bodyPr wrap="square" lIns="0" tIns="0" rIns="0" bIns="0" rtlCol="0" anchor="ctr"/>
          <a:lstStyle/>
          <a:p>
            <a:pPr algn="r" indent="0" marL="0">
              <a:buNone/>
            </a:pPr>
            <a:r>
              <a:rPr lang="en-US" sz="900" dirty="0">
                <a:solidFill>
                  <a:srgbClr val="8B9199"/>
                </a:solidFill>
                <a:latin typeface="Courier New" pitchFamily="34" charset="0"/>
                <a:ea typeface="Courier New" pitchFamily="34" charset="-122"/>
                <a:cs typeface="Courier New"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1027664" cy="237744"/>
          </a:xfrm>
          <a:prstGeom prst="rect">
            <a:avLst/>
          </a:prstGeom>
          <a:noFill/>
          <a:ln/>
        </p:spPr>
        <p:txBody>
          <a:bodyPr wrap="square" lIns="0" tIns="0" rIns="0" bIns="0" rtlCol="0" anchor="ctr"/>
          <a:lstStyle/>
          <a:p>
            <a:pPr indent="0" marL="0">
              <a:buNone/>
            </a:pPr>
            <a:r>
              <a:rPr lang="en-US" sz="1050" b="1" spc="160" kern="0" dirty="0">
                <a:solidFill>
                  <a:srgbClr val="3B6E8F"/>
                </a:solidFill>
                <a:latin typeface="Courier New" pitchFamily="34" charset="0"/>
                <a:ea typeface="Courier New" pitchFamily="34" charset="-122"/>
                <a:cs typeface="Courier New" pitchFamily="34" charset="-120"/>
              </a:rPr>
              <a:t>EXAMPLE 3 · FIGURE</a:t>
            </a:r>
            <a:endParaRPr lang="en-US" sz="1050" dirty="0"/>
          </a:p>
        </p:txBody>
      </p:sp>
      <p:sp>
        <p:nvSpPr>
          <p:cNvPr id="3" name="Text 1"/>
          <p:cNvSpPr/>
          <p:nvPr/>
        </p:nvSpPr>
        <p:spPr>
          <a:xfrm>
            <a:off x="566928" y="676656"/>
            <a:ext cx="11027664" cy="658368"/>
          </a:xfrm>
          <a:prstGeom prst="rect">
            <a:avLst/>
          </a:prstGeom>
          <a:noFill/>
          <a:ln/>
        </p:spPr>
        <p:txBody>
          <a:bodyPr wrap="square" lIns="0" tIns="0" rIns="0" bIns="0" rtlCol="0" anchor="t"/>
          <a:lstStyle/>
          <a:p>
            <a:pPr indent="0" marL="0">
              <a:buNone/>
            </a:pPr>
            <a:r>
              <a:rPr lang="en-US" sz="3000" b="1" dirty="0">
                <a:solidFill>
                  <a:srgbClr val="1B2229"/>
                </a:solidFill>
                <a:latin typeface="Cambria" pitchFamily="34" charset="0"/>
                <a:ea typeface="Cambria" pitchFamily="34" charset="-122"/>
                <a:cs typeface="Cambria" pitchFamily="34" charset="-120"/>
              </a:rPr>
              <a:t>Skewness, kurtosis and a first look at outliers</a:t>
            </a:r>
            <a:endParaRPr lang="en-US" sz="3000" dirty="0"/>
          </a:p>
        </p:txBody>
      </p:sp>
      <p:pic>
        <p:nvPicPr>
          <p:cNvPr id="4" name="Image 0" descr="/home/claude/manual/figs/L1_2_3.png">    </p:cNvPr>
          <p:cNvPicPr>
            <a:picLocks noChangeAspect="1"/>
          </p:cNvPicPr>
          <p:nvPr/>
        </p:nvPicPr>
        <p:blipFill>
          <a:blip r:embed="rId1"/>
          <a:srcRect l="0" r="0" t="0" b="0"/>
          <a:stretch/>
        </p:blipFill>
        <p:spPr>
          <a:xfrm>
            <a:off x="1115568" y="1783080"/>
            <a:ext cx="9930384" cy="3566160"/>
          </a:xfrm>
          <a:prstGeom prst="rect">
            <a:avLst/>
          </a:prstGeom>
        </p:spPr>
      </p:pic>
      <p:sp>
        <p:nvSpPr>
          <p:cNvPr id="5" name="Text 2"/>
          <p:cNvSpPr/>
          <p:nvPr/>
        </p:nvSpPr>
        <p:spPr>
          <a:xfrm>
            <a:off x="566928" y="5486400"/>
            <a:ext cx="11027664" cy="640080"/>
          </a:xfrm>
          <a:prstGeom prst="rect">
            <a:avLst/>
          </a:prstGeom>
          <a:noFill/>
          <a:ln/>
        </p:spPr>
        <p:txBody>
          <a:bodyPr wrap="square" lIns="0" tIns="0" rIns="0" bIns="0" rtlCol="0" anchor="t"/>
          <a:lstStyle/>
          <a:p>
            <a:pPr indent="0" marL="0">
              <a:buNone/>
            </a:pPr>
            <a:r>
              <a:rPr lang="en-US" sz="1200" i="1" dirty="0">
                <a:solidFill>
                  <a:srgbClr val="5A646E"/>
                </a:solidFill>
                <a:latin typeface="Calibri" pitchFamily="34" charset="0"/>
                <a:ea typeface="Calibri" pitchFamily="34" charset="-122"/>
                <a:cs typeface="Calibri" pitchFamily="34" charset="-120"/>
              </a:rPr>
              <a:t>Produced by the code on the previous slide.</a:t>
            </a:r>
            <a:endParaRPr lang="en-US" sz="1200" dirty="0"/>
          </a:p>
        </p:txBody>
      </p:sp>
      <p:sp>
        <p:nvSpPr>
          <p:cNvPr id="6" name="Text 3"/>
          <p:cNvSpPr/>
          <p:nvPr/>
        </p:nvSpPr>
        <p:spPr>
          <a:xfrm>
            <a:off x="566928" y="6437376"/>
            <a:ext cx="6400800" cy="256032"/>
          </a:xfrm>
          <a:prstGeom prst="rect">
            <a:avLst/>
          </a:prstGeom>
          <a:noFill/>
          <a:ln/>
        </p:spPr>
        <p:txBody>
          <a:bodyPr wrap="square" lIns="0" tIns="0" rIns="0" bIns="0" rtlCol="0" anchor="ctr"/>
          <a:lstStyle/>
          <a:p>
            <a:pPr algn="l" indent="0" marL="0">
              <a:buNone/>
            </a:pPr>
            <a:r>
              <a:rPr lang="en-US" sz="900" dirty="0">
                <a:solidFill>
                  <a:srgbClr val="8B9199"/>
                </a:solidFill>
                <a:latin typeface="Calibri" pitchFamily="34" charset="0"/>
                <a:ea typeface="Calibri" pitchFamily="34" charset="-122"/>
                <a:cs typeface="Calibri" pitchFamily="34" charset="-120"/>
              </a:rPr>
              <a:t>DATA209 · Module 1 — L1-2 The role of EDA, and robust statistics</a:t>
            </a:r>
            <a:endParaRPr lang="en-US" sz="900" dirty="0"/>
          </a:p>
        </p:txBody>
      </p:sp>
      <p:sp>
        <p:nvSpPr>
          <p:cNvPr id="7" name="Text 4"/>
          <p:cNvSpPr/>
          <p:nvPr/>
        </p:nvSpPr>
        <p:spPr>
          <a:xfrm>
            <a:off x="10954512" y="6437376"/>
            <a:ext cx="640080" cy="256032"/>
          </a:xfrm>
          <a:prstGeom prst="rect">
            <a:avLst/>
          </a:prstGeom>
          <a:noFill/>
          <a:ln/>
        </p:spPr>
        <p:txBody>
          <a:bodyPr wrap="square" lIns="0" tIns="0" rIns="0" bIns="0" rtlCol="0" anchor="ctr"/>
          <a:lstStyle/>
          <a:p>
            <a:pPr algn="r" indent="0" marL="0">
              <a:buNone/>
            </a:pPr>
            <a:r>
              <a:rPr lang="en-US" sz="900" dirty="0">
                <a:solidFill>
                  <a:srgbClr val="8B9199"/>
                </a:solidFill>
                <a:latin typeface="Courier New" pitchFamily="34" charset="0"/>
                <a:ea typeface="Courier New" pitchFamily="34" charset="-122"/>
                <a:cs typeface="Courier New"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EAF0F4"/>
        </a:solidFill>
      </p:bgPr>
    </p:bg>
    <p:spTree>
      <p:nvGrpSpPr>
        <p:cNvPr id="1" name=""/>
        <p:cNvGrpSpPr/>
        <p:nvPr/>
      </p:nvGrpSpPr>
      <p:grpSpPr>
        <a:xfrm>
          <a:off x="0" y="0"/>
          <a:ext cx="0" cy="0"/>
          <a:chOff x="0" y="0"/>
          <a:chExt cx="0" cy="0"/>
        </a:xfrm>
      </p:grpSpPr>
      <p:sp>
        <p:nvSpPr>
          <p:cNvPr id="2" name="Shape 0"/>
          <p:cNvSpPr/>
          <p:nvPr/>
        </p:nvSpPr>
        <p:spPr>
          <a:xfrm>
            <a:off x="566928" y="1828800"/>
            <a:ext cx="274320" cy="274320"/>
          </a:xfrm>
          <a:prstGeom prst="rect">
            <a:avLst/>
          </a:prstGeom>
          <a:solidFill>
            <a:srgbClr val="3B6E8F"/>
          </a:solidFill>
          <a:ln/>
        </p:spPr>
      </p:sp>
      <p:sp>
        <p:nvSpPr>
          <p:cNvPr id="3" name="Text 1"/>
          <p:cNvSpPr/>
          <p:nvPr/>
        </p:nvSpPr>
        <p:spPr>
          <a:xfrm>
            <a:off x="566928" y="2331720"/>
            <a:ext cx="9564624" cy="2011680"/>
          </a:xfrm>
          <a:prstGeom prst="rect">
            <a:avLst/>
          </a:prstGeom>
          <a:noFill/>
          <a:ln/>
        </p:spPr>
        <p:txBody>
          <a:bodyPr wrap="square" lIns="0" tIns="0" rIns="0" bIns="0" rtlCol="0" anchor="t"/>
          <a:lstStyle/>
          <a:p>
            <a:pPr indent="0" marL="0">
              <a:lnSpc>
                <a:spcPct val="108000"/>
              </a:lnSpc>
              <a:buNone/>
            </a:pPr>
            <a:r>
              <a:rPr lang="en-US" sz="3300" b="1" dirty="0">
                <a:solidFill>
                  <a:srgbClr val="1B2229"/>
                </a:solidFill>
                <a:latin typeface="Cambria" pitchFamily="34" charset="0"/>
                <a:ea typeface="Cambria" pitchFamily="34" charset="-122"/>
                <a:cs typeface="Cambria" pitchFamily="34" charset="-120"/>
              </a:rPr>
              <a:t>Sampling frame — what the data cannot speak to</a:t>
            </a:r>
            <a:endParaRPr lang="en-US" sz="3300" dirty="0"/>
          </a:p>
        </p:txBody>
      </p:sp>
      <p:sp>
        <p:nvSpPr>
          <p:cNvPr id="4" name="Text 2"/>
          <p:cNvSpPr/>
          <p:nvPr/>
        </p:nvSpPr>
        <p:spPr>
          <a:xfrm>
            <a:off x="566928" y="4434840"/>
            <a:ext cx="8650224" cy="1005840"/>
          </a:xfrm>
          <a:prstGeom prst="rect">
            <a:avLst/>
          </a:prstGeom>
          <a:noFill/>
          <a:ln/>
        </p:spPr>
        <p:txBody>
          <a:bodyPr wrap="square" lIns="0" tIns="0" rIns="0" bIns="0" rtlCol="0" anchor="ctr"/>
          <a:lstStyle/>
          <a:p>
            <a:pPr indent="0" marL="0">
              <a:buNone/>
            </a:pPr>
            <a:r>
              <a:rPr lang="en-US" sz="1550" dirty="0">
                <a:solidFill>
                  <a:srgbClr val="5A646E"/>
                </a:solidFill>
                <a:latin typeface="Calibri" pitchFamily="34" charset="0"/>
                <a:ea typeface="Calibri" pitchFamily="34" charset="-122"/>
                <a:cs typeface="Calibri" pitchFamily="34" charset="-120"/>
              </a:rPr>
              <a:t>Exploratory findings are conditional on who is in the data. State the frame before you generalise; here two months of the year are simply absent.</a:t>
            </a:r>
            <a:endParaRPr lang="en-US" sz="1550" dirty="0"/>
          </a:p>
        </p:txBody>
      </p:sp>
      <p:sp>
        <p:nvSpPr>
          <p:cNvPr id="5" name="Text 3"/>
          <p:cNvSpPr/>
          <p:nvPr/>
        </p:nvSpPr>
        <p:spPr>
          <a:xfrm>
            <a:off x="566928" y="6437376"/>
            <a:ext cx="6400800" cy="256032"/>
          </a:xfrm>
          <a:prstGeom prst="rect">
            <a:avLst/>
          </a:prstGeom>
          <a:noFill/>
          <a:ln/>
        </p:spPr>
        <p:txBody>
          <a:bodyPr wrap="square" lIns="0" tIns="0" rIns="0" bIns="0" rtlCol="0" anchor="ctr"/>
          <a:lstStyle/>
          <a:p>
            <a:pPr algn="l" indent="0" marL="0">
              <a:buNone/>
            </a:pPr>
            <a:r>
              <a:rPr lang="en-US" sz="900" dirty="0">
                <a:solidFill>
                  <a:srgbClr val="8B9199"/>
                </a:solidFill>
                <a:latin typeface="Calibri" pitchFamily="34" charset="0"/>
                <a:ea typeface="Calibri" pitchFamily="34" charset="-122"/>
                <a:cs typeface="Calibri" pitchFamily="34" charset="-120"/>
              </a:rPr>
              <a:t>DATA209 · Module 1 — L1-2 The role of EDA, and robust statistics</a:t>
            </a:r>
            <a:endParaRPr lang="en-US" sz="900" dirty="0"/>
          </a:p>
        </p:txBody>
      </p:sp>
      <p:sp>
        <p:nvSpPr>
          <p:cNvPr id="6" name="Text 4"/>
          <p:cNvSpPr/>
          <p:nvPr/>
        </p:nvSpPr>
        <p:spPr>
          <a:xfrm>
            <a:off x="10954512" y="6437376"/>
            <a:ext cx="640080" cy="256032"/>
          </a:xfrm>
          <a:prstGeom prst="rect">
            <a:avLst/>
          </a:prstGeom>
          <a:noFill/>
          <a:ln/>
        </p:spPr>
        <p:txBody>
          <a:bodyPr wrap="square" lIns="0" tIns="0" rIns="0" bIns="0" rtlCol="0" anchor="ctr"/>
          <a:lstStyle/>
          <a:p>
            <a:pPr algn="r" indent="0" marL="0">
              <a:buNone/>
            </a:pPr>
            <a:r>
              <a:rPr lang="en-US" sz="900" dirty="0">
                <a:solidFill>
                  <a:srgbClr val="8B9199"/>
                </a:solidFill>
                <a:latin typeface="Courier New" pitchFamily="34" charset="0"/>
                <a:ea typeface="Courier New" pitchFamily="34" charset="-122"/>
                <a:cs typeface="Courier New"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1027664" cy="237744"/>
          </a:xfrm>
          <a:prstGeom prst="rect">
            <a:avLst/>
          </a:prstGeom>
          <a:noFill/>
          <a:ln/>
        </p:spPr>
        <p:txBody>
          <a:bodyPr wrap="square" lIns="0" tIns="0" rIns="0" bIns="0" rtlCol="0" anchor="ctr"/>
          <a:lstStyle/>
          <a:p>
            <a:pPr indent="0" marL="0">
              <a:buNone/>
            </a:pPr>
            <a:r>
              <a:rPr lang="en-US" sz="1050" b="1" spc="160" kern="0" dirty="0">
                <a:solidFill>
                  <a:srgbClr val="3B6E8F"/>
                </a:solidFill>
                <a:latin typeface="Courier New" pitchFamily="34" charset="0"/>
                <a:ea typeface="Courier New" pitchFamily="34" charset="-122"/>
                <a:cs typeface="Courier New" pitchFamily="34" charset="-120"/>
              </a:rPr>
              <a:t>EXAMPLE 4</a:t>
            </a:r>
            <a:endParaRPr lang="en-US" sz="1050" dirty="0"/>
          </a:p>
        </p:txBody>
      </p:sp>
      <p:sp>
        <p:nvSpPr>
          <p:cNvPr id="3" name="Text 1"/>
          <p:cNvSpPr/>
          <p:nvPr/>
        </p:nvSpPr>
        <p:spPr>
          <a:xfrm>
            <a:off x="566928" y="676656"/>
            <a:ext cx="11027664" cy="658368"/>
          </a:xfrm>
          <a:prstGeom prst="rect">
            <a:avLst/>
          </a:prstGeom>
          <a:noFill/>
          <a:ln/>
        </p:spPr>
        <p:txBody>
          <a:bodyPr wrap="square" lIns="0" tIns="0" rIns="0" bIns="0" rtlCol="0" anchor="t"/>
          <a:lstStyle/>
          <a:p>
            <a:pPr indent="0" marL="0">
              <a:buNone/>
            </a:pPr>
            <a:r>
              <a:rPr lang="en-US" sz="3000" b="1" dirty="0">
                <a:solidFill>
                  <a:srgbClr val="1B2229"/>
                </a:solidFill>
                <a:latin typeface="Cambria" pitchFamily="34" charset="0"/>
                <a:ea typeface="Cambria" pitchFamily="34" charset="-122"/>
                <a:cs typeface="Cambria" pitchFamily="34" charset="-120"/>
              </a:rPr>
              <a:t>Sampling frame — what the data cannot speak to</a:t>
            </a:r>
            <a:endParaRPr lang="en-US" sz="3000" dirty="0"/>
          </a:p>
        </p:txBody>
      </p:sp>
      <p:sp>
        <p:nvSpPr>
          <p:cNvPr id="4" name="Shape 2"/>
          <p:cNvSpPr/>
          <p:nvPr/>
        </p:nvSpPr>
        <p:spPr>
          <a:xfrm>
            <a:off x="566928" y="1783080"/>
            <a:ext cx="6065215" cy="3977640"/>
          </a:xfrm>
          <a:prstGeom prst="roundRect">
            <a:avLst>
              <a:gd name="adj" fmla="val 1379"/>
            </a:avLst>
          </a:prstGeom>
          <a:solidFill>
            <a:srgbClr val="1B2229"/>
          </a:solidFill>
          <a:ln w="12700">
            <a:solidFill>
              <a:srgbClr val="FFFFFF"/>
            </a:solidFill>
            <a:prstDash val="solid"/>
          </a:ln>
        </p:spPr>
      </p:sp>
      <p:sp>
        <p:nvSpPr>
          <p:cNvPr id="5" name="Text 3"/>
          <p:cNvSpPr/>
          <p:nvPr/>
        </p:nvSpPr>
        <p:spPr>
          <a:xfrm>
            <a:off x="768096" y="1920240"/>
            <a:ext cx="5662879" cy="3703320"/>
          </a:xfrm>
          <a:prstGeom prst="rect">
            <a:avLst/>
          </a:prstGeom>
          <a:noFill/>
          <a:ln/>
        </p:spPr>
        <p:txBody>
          <a:bodyPr wrap="square" lIns="0" tIns="0" rIns="0" bIns="0" rtlCol="0" anchor="t"/>
          <a:lstStyle/>
          <a:p>
            <a:pPr indent="0" marL="0">
              <a:buNone/>
            </a:pPr>
            <a:r>
              <a:rPr lang="en-US" sz="900" dirty="0">
                <a:solidFill>
                  <a:srgbClr val="E4E9EC"/>
                </a:solidFill>
                <a:latin typeface="Courier New" pitchFamily="34" charset="0"/>
                <a:ea typeface="Courier New" pitchFamily="34" charset="-122"/>
                <a:cs typeface="Courier New" pitchFamily="34" charset="-120"/>
              </a:rPr>
              <a:t>months = ["Jan","Feb","Mar","Apr","May","June","Jul","Aug","S…</a:t>
            </a:r>
            <a:endParaRPr lang="en-US" sz="900" dirty="0"/>
          </a:p>
          <a:p>
            <a:pPr indent="0" marL="0">
              <a:buNone/>
            </a:pPr>
            <a:r>
              <a:rPr lang="en-US" sz="900" dirty="0">
                <a:solidFill>
                  <a:srgbClr val="E4E9EC"/>
                </a:solidFill>
                <a:latin typeface="Courier New" pitchFamily="34" charset="0"/>
                <a:ea typeface="Courier New" pitchFamily="34" charset="-122"/>
                <a:cs typeface="Courier New" pitchFamily="34" charset="-120"/>
              </a:rPr>
              <a:t>present = [m for m in months if m in df["Month"].unique()]</a:t>
            </a:r>
            <a:endParaRPr lang="en-US" sz="900" dirty="0"/>
          </a:p>
          <a:p>
            <a:pPr indent="0" marL="0">
              <a:buNone/>
            </a:pPr>
            <a:r>
              <a:rPr lang="en-US" sz="900" dirty="0">
                <a:solidFill>
                  <a:srgbClr val="E4E9EC"/>
                </a:solidFill>
                <a:latin typeface="Courier New" pitchFamily="34" charset="0"/>
                <a:ea typeface="Courier New" pitchFamily="34" charset="-122"/>
                <a:cs typeface="Courier New" pitchFamily="34" charset="-120"/>
              </a:rPr>
              <a:t>print("months present :", present)</a:t>
            </a:r>
            <a:endParaRPr lang="en-US" sz="900" dirty="0"/>
          </a:p>
          <a:p>
            <a:pPr indent="0" marL="0">
              <a:buNone/>
            </a:pPr>
            <a:r>
              <a:rPr lang="en-US" sz="900" dirty="0">
                <a:solidFill>
                  <a:srgbClr val="E4E9EC"/>
                </a:solidFill>
                <a:latin typeface="Courier New" pitchFamily="34" charset="0"/>
                <a:ea typeface="Courier New" pitchFamily="34" charset="-122"/>
                <a:cs typeface="Courier New" pitchFamily="34" charset="-120"/>
              </a:rPr>
              <a:t>print("months absent  :", [m for m in months if m not in pres…</a:t>
            </a:r>
            <a:endParaRPr lang="en-US" sz="900" dirty="0"/>
          </a:p>
          <a:p>
            <a:pPr indent="0" marL="0">
              <a:buNone/>
            </a:pPr>
            <a:r>
              <a:rPr lang="en-US" sz="900" dirty="0">
                <a:solidFill>
                  <a:srgbClr val="E4E9EC"/>
                </a:solidFill>
                <a:latin typeface="Courier New" pitchFamily="34" charset="0"/>
                <a:ea typeface="Courier New" pitchFamily="34" charset="-122"/>
                <a:cs typeface="Courier New" pitchFamily="34" charset="-120"/>
              </a:rPr>
              <a:t>print("\nsessions per visitor type")</a:t>
            </a:r>
            <a:endParaRPr lang="en-US" sz="900" dirty="0"/>
          </a:p>
          <a:p>
            <a:pPr indent="0" marL="0">
              <a:buNone/>
            </a:pPr>
            <a:r>
              <a:rPr lang="en-US" sz="900" dirty="0">
                <a:solidFill>
                  <a:srgbClr val="E4E9EC"/>
                </a:solidFill>
                <a:latin typeface="Courier New" pitchFamily="34" charset="0"/>
                <a:ea typeface="Courier New" pitchFamily="34" charset="-122"/>
                <a:cs typeface="Courier New" pitchFamily="34" charset="-120"/>
              </a:rPr>
              <a:t>print(df["VisitorType"].value_counts().to_string())</a:t>
            </a:r>
            <a:endParaRPr lang="en-US" sz="900" dirty="0"/>
          </a:p>
          <a:p>
            <a:pPr indent="0" marL="0">
              <a:buNone/>
            </a:pPr>
            <a:r>
              <a:rPr lang="en-US" sz="900" dirty="0">
                <a:solidFill>
                  <a:srgbClr val="E4E9EC"/>
                </a:solidFill>
                <a:latin typeface="Courier New" pitchFamily="34" charset="0"/>
                <a:ea typeface="Courier New" pitchFamily="34" charset="-122"/>
                <a:cs typeface="Courier New" pitchFamily="34" charset="-120"/>
              </a:rPr>
              <a:t>print("\n-&gt; Claims apply to sessions on THIS site in THESE mo…</a:t>
            </a:r>
            <a:endParaRPr lang="en-US" sz="900" dirty="0"/>
          </a:p>
        </p:txBody>
      </p:sp>
      <p:sp>
        <p:nvSpPr>
          <p:cNvPr id="6" name="Shape 4"/>
          <p:cNvSpPr/>
          <p:nvPr/>
        </p:nvSpPr>
        <p:spPr>
          <a:xfrm>
            <a:off x="6943039" y="1783080"/>
            <a:ext cx="4651553" cy="3977640"/>
          </a:xfrm>
          <a:prstGeom prst="roundRect">
            <a:avLst>
              <a:gd name="adj" fmla="val 1379"/>
            </a:avLst>
          </a:prstGeom>
          <a:solidFill>
            <a:srgbClr val="EAF0F4"/>
          </a:solidFill>
          <a:ln w="12700">
            <a:solidFill>
              <a:srgbClr val="FFFFFF"/>
            </a:solidFill>
            <a:prstDash val="solid"/>
          </a:ln>
        </p:spPr>
      </p:sp>
      <p:sp>
        <p:nvSpPr>
          <p:cNvPr id="7" name="Text 5"/>
          <p:cNvSpPr/>
          <p:nvPr/>
        </p:nvSpPr>
        <p:spPr>
          <a:xfrm>
            <a:off x="7144207" y="1883664"/>
            <a:ext cx="4249217" cy="219456"/>
          </a:xfrm>
          <a:prstGeom prst="rect">
            <a:avLst/>
          </a:prstGeom>
          <a:noFill/>
          <a:ln/>
        </p:spPr>
        <p:txBody>
          <a:bodyPr wrap="square" lIns="0" tIns="0" rIns="0" bIns="0" rtlCol="0" anchor="ctr"/>
          <a:lstStyle/>
          <a:p>
            <a:pPr indent="0" marL="0">
              <a:buNone/>
            </a:pPr>
            <a:r>
              <a:rPr lang="en-US" sz="850" b="1" spc="120" kern="0" dirty="0">
                <a:solidFill>
                  <a:srgbClr val="2A4F68"/>
                </a:solidFill>
                <a:latin typeface="Courier New" pitchFamily="34" charset="0"/>
                <a:ea typeface="Courier New" pitchFamily="34" charset="-122"/>
                <a:cs typeface="Courier New" pitchFamily="34" charset="-120"/>
              </a:rPr>
              <a:t>OUTPUT</a:t>
            </a:r>
            <a:endParaRPr lang="en-US" sz="850" dirty="0"/>
          </a:p>
        </p:txBody>
      </p:sp>
      <p:sp>
        <p:nvSpPr>
          <p:cNvPr id="8" name="Text 6"/>
          <p:cNvSpPr/>
          <p:nvPr/>
        </p:nvSpPr>
        <p:spPr>
          <a:xfrm>
            <a:off x="7144207" y="2139696"/>
            <a:ext cx="4249217" cy="3520440"/>
          </a:xfrm>
          <a:prstGeom prst="rect">
            <a:avLst/>
          </a:prstGeom>
          <a:noFill/>
          <a:ln/>
        </p:spPr>
        <p:txBody>
          <a:bodyPr wrap="square" lIns="0" tIns="0" rIns="0" bIns="0" rtlCol="0" anchor="t"/>
          <a:lstStyle/>
          <a:p>
            <a:pPr indent="0" marL="0">
              <a:buNone/>
            </a:pPr>
            <a:r>
              <a:rPr lang="en-US" sz="820" dirty="0">
                <a:solidFill>
                  <a:srgbClr val="1B2229"/>
                </a:solidFill>
                <a:latin typeface="Courier New" pitchFamily="34" charset="0"/>
                <a:ea typeface="Courier New" pitchFamily="34" charset="-122"/>
                <a:cs typeface="Courier New" pitchFamily="34" charset="-120"/>
              </a:rPr>
              <a:t>months present : ['Feb', 'Mar', 'May', 'June', 'Jul…</a:t>
            </a:r>
            <a:endParaRPr lang="en-US" sz="820" dirty="0"/>
          </a:p>
          <a:p>
            <a:pPr indent="0" marL="0">
              <a:buNone/>
            </a:pPr>
            <a:r>
              <a:rPr lang="en-US" sz="820" dirty="0">
                <a:solidFill>
                  <a:srgbClr val="1B2229"/>
                </a:solidFill>
                <a:latin typeface="Courier New" pitchFamily="34" charset="0"/>
                <a:ea typeface="Courier New" pitchFamily="34" charset="-122"/>
                <a:cs typeface="Courier New" pitchFamily="34" charset="-120"/>
              </a:rPr>
              <a:t>months absent  : ['Jan', 'Apr']</a:t>
            </a:r>
            <a:endParaRPr lang="en-US" sz="820" dirty="0"/>
          </a:p>
          <a:p>
            <a:pPr indent="0" marL="0">
              <a:buNone/>
            </a:pPr>
            <a:r>
              <a:rPr lang="en-US" sz="820" dirty="0">
                <a:solidFill>
                  <a:srgbClr val="1B2229"/>
                </a:solidFill>
                <a:latin typeface="Courier New" pitchFamily="34" charset="0"/>
                <a:ea typeface="Courier New" pitchFamily="34" charset="-122"/>
                <a:cs typeface="Courier New" pitchFamily="34" charset="-120"/>
              </a:rPr>
              <a:t> </a:t>
            </a:r>
            <a:endParaRPr lang="en-US" sz="820" dirty="0"/>
          </a:p>
          <a:p>
            <a:pPr indent="0" marL="0">
              <a:buNone/>
            </a:pPr>
            <a:r>
              <a:rPr lang="en-US" sz="820" dirty="0">
                <a:solidFill>
                  <a:srgbClr val="1B2229"/>
                </a:solidFill>
                <a:latin typeface="Courier New" pitchFamily="34" charset="0"/>
                <a:ea typeface="Courier New" pitchFamily="34" charset="-122"/>
                <a:cs typeface="Courier New" pitchFamily="34" charset="-120"/>
              </a:rPr>
              <a:t>sessions per visitor type</a:t>
            </a:r>
            <a:endParaRPr lang="en-US" sz="820" dirty="0"/>
          </a:p>
          <a:p>
            <a:pPr indent="0" marL="0">
              <a:buNone/>
            </a:pPr>
            <a:r>
              <a:rPr lang="en-US" sz="820" dirty="0">
                <a:solidFill>
                  <a:srgbClr val="1B2229"/>
                </a:solidFill>
                <a:latin typeface="Courier New" pitchFamily="34" charset="0"/>
                <a:ea typeface="Courier New" pitchFamily="34" charset="-122"/>
                <a:cs typeface="Courier New" pitchFamily="34" charset="-120"/>
              </a:rPr>
              <a:t>VisitorType</a:t>
            </a:r>
            <a:endParaRPr lang="en-US" sz="820" dirty="0"/>
          </a:p>
          <a:p>
            <a:pPr indent="0" marL="0">
              <a:buNone/>
            </a:pPr>
            <a:r>
              <a:rPr lang="en-US" sz="820" dirty="0">
                <a:solidFill>
                  <a:srgbClr val="1B2229"/>
                </a:solidFill>
                <a:latin typeface="Courier New" pitchFamily="34" charset="0"/>
                <a:ea typeface="Courier New" pitchFamily="34" charset="-122"/>
                <a:cs typeface="Courier New" pitchFamily="34" charset="-120"/>
              </a:rPr>
              <a:t>Returning_Visitor    10551</a:t>
            </a:r>
            <a:endParaRPr lang="en-US" sz="820" dirty="0"/>
          </a:p>
          <a:p>
            <a:pPr indent="0" marL="0">
              <a:buNone/>
            </a:pPr>
            <a:r>
              <a:rPr lang="en-US" sz="820" dirty="0">
                <a:solidFill>
                  <a:srgbClr val="1B2229"/>
                </a:solidFill>
                <a:latin typeface="Courier New" pitchFamily="34" charset="0"/>
                <a:ea typeface="Courier New" pitchFamily="34" charset="-122"/>
                <a:cs typeface="Courier New" pitchFamily="34" charset="-120"/>
              </a:rPr>
              <a:t>New_Visitor           1694</a:t>
            </a:r>
            <a:endParaRPr lang="en-US" sz="820" dirty="0"/>
          </a:p>
          <a:p>
            <a:pPr indent="0" marL="0">
              <a:buNone/>
            </a:pPr>
            <a:r>
              <a:rPr lang="en-US" sz="820" dirty="0">
                <a:solidFill>
                  <a:srgbClr val="1B2229"/>
                </a:solidFill>
                <a:latin typeface="Courier New" pitchFamily="34" charset="0"/>
                <a:ea typeface="Courier New" pitchFamily="34" charset="-122"/>
                <a:cs typeface="Courier New" pitchFamily="34" charset="-120"/>
              </a:rPr>
              <a:t>Other                   85</a:t>
            </a:r>
            <a:endParaRPr lang="en-US" sz="820" dirty="0"/>
          </a:p>
          <a:p>
            <a:pPr indent="0" marL="0">
              <a:buNone/>
            </a:pPr>
            <a:r>
              <a:rPr lang="en-US" sz="820" dirty="0">
                <a:solidFill>
                  <a:srgbClr val="1B2229"/>
                </a:solidFill>
                <a:latin typeface="Courier New" pitchFamily="34" charset="0"/>
                <a:ea typeface="Courier New" pitchFamily="34" charset="-122"/>
                <a:cs typeface="Courier New" pitchFamily="34" charset="-120"/>
              </a:rPr>
              <a:t> </a:t>
            </a:r>
            <a:endParaRPr lang="en-US" sz="820" dirty="0"/>
          </a:p>
          <a:p>
            <a:pPr indent="0" marL="0">
              <a:buNone/>
            </a:pPr>
            <a:r>
              <a:rPr lang="en-US" sz="820" dirty="0">
                <a:solidFill>
                  <a:srgbClr val="1B2229"/>
                </a:solidFill>
                <a:latin typeface="Courier New" pitchFamily="34" charset="0"/>
                <a:ea typeface="Courier New" pitchFamily="34" charset="-122"/>
                <a:cs typeface="Courier New" pitchFamily="34" charset="-120"/>
              </a:rPr>
              <a:t>-&gt; Claims apply to sessions on THIS site in THESE m…</a:t>
            </a:r>
            <a:endParaRPr lang="en-US" sz="820" dirty="0"/>
          </a:p>
        </p:txBody>
      </p:sp>
      <p:sp>
        <p:nvSpPr>
          <p:cNvPr id="9" name="Text 7"/>
          <p:cNvSpPr/>
          <p:nvPr/>
        </p:nvSpPr>
        <p:spPr>
          <a:xfrm>
            <a:off x="566928" y="5870448"/>
            <a:ext cx="11027664" cy="411480"/>
          </a:xfrm>
          <a:prstGeom prst="rect">
            <a:avLst/>
          </a:prstGeom>
          <a:noFill/>
          <a:ln/>
        </p:spPr>
        <p:txBody>
          <a:bodyPr wrap="square" lIns="0" tIns="0" rIns="0" bIns="0" rtlCol="0" anchor="ctr"/>
          <a:lstStyle/>
          <a:p>
            <a:pPr indent="0" marL="0">
              <a:buNone/>
            </a:pPr>
            <a:r>
              <a:rPr lang="en-US" sz="1150" i="1" dirty="0">
                <a:solidFill>
                  <a:srgbClr val="2A4F68"/>
                </a:solidFill>
                <a:latin typeface="Calibri" pitchFamily="34" charset="0"/>
                <a:ea typeface="Calibri" pitchFamily="34" charset="-122"/>
                <a:cs typeface="Calibri" pitchFamily="34" charset="-120"/>
              </a:rPr>
              <a:t>Output is the real result of running this code on the course dataset.</a:t>
            </a:r>
            <a:endParaRPr lang="en-US" sz="1150" dirty="0"/>
          </a:p>
        </p:txBody>
      </p:sp>
      <p:sp>
        <p:nvSpPr>
          <p:cNvPr id="10" name="Text 8"/>
          <p:cNvSpPr/>
          <p:nvPr/>
        </p:nvSpPr>
        <p:spPr>
          <a:xfrm>
            <a:off x="566928" y="6437376"/>
            <a:ext cx="6400800" cy="256032"/>
          </a:xfrm>
          <a:prstGeom prst="rect">
            <a:avLst/>
          </a:prstGeom>
          <a:noFill/>
          <a:ln/>
        </p:spPr>
        <p:txBody>
          <a:bodyPr wrap="square" lIns="0" tIns="0" rIns="0" bIns="0" rtlCol="0" anchor="ctr"/>
          <a:lstStyle/>
          <a:p>
            <a:pPr algn="l" indent="0" marL="0">
              <a:buNone/>
            </a:pPr>
            <a:r>
              <a:rPr lang="en-US" sz="900" dirty="0">
                <a:solidFill>
                  <a:srgbClr val="8B9199"/>
                </a:solidFill>
                <a:latin typeface="Calibri" pitchFamily="34" charset="0"/>
                <a:ea typeface="Calibri" pitchFamily="34" charset="-122"/>
                <a:cs typeface="Calibri" pitchFamily="34" charset="-120"/>
              </a:rPr>
              <a:t>DATA209 · Module 1 — L1-2 The role of EDA, and robust statistics</a:t>
            </a:r>
            <a:endParaRPr lang="en-US" sz="900" dirty="0"/>
          </a:p>
        </p:txBody>
      </p:sp>
      <p:sp>
        <p:nvSpPr>
          <p:cNvPr id="11" name="Text 9"/>
          <p:cNvSpPr/>
          <p:nvPr/>
        </p:nvSpPr>
        <p:spPr>
          <a:xfrm>
            <a:off x="10954512" y="6437376"/>
            <a:ext cx="640080" cy="256032"/>
          </a:xfrm>
          <a:prstGeom prst="rect">
            <a:avLst/>
          </a:prstGeom>
          <a:noFill/>
          <a:ln/>
        </p:spPr>
        <p:txBody>
          <a:bodyPr wrap="square" lIns="0" tIns="0" rIns="0" bIns="0" rtlCol="0" anchor="ctr"/>
          <a:lstStyle/>
          <a:p>
            <a:pPr algn="r" indent="0" marL="0">
              <a:buNone/>
            </a:pPr>
            <a:r>
              <a:rPr lang="en-US" sz="900" dirty="0">
                <a:solidFill>
                  <a:srgbClr val="8B9199"/>
                </a:solidFill>
                <a:latin typeface="Courier New" pitchFamily="34" charset="0"/>
                <a:ea typeface="Courier New" pitchFamily="34" charset="-122"/>
                <a:cs typeface="Courier New"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1027664" cy="237744"/>
          </a:xfrm>
          <a:prstGeom prst="rect">
            <a:avLst/>
          </a:prstGeom>
          <a:noFill/>
          <a:ln/>
        </p:spPr>
        <p:txBody>
          <a:bodyPr wrap="square" lIns="0" tIns="0" rIns="0" bIns="0" rtlCol="0" anchor="ctr"/>
          <a:lstStyle/>
          <a:p>
            <a:pPr indent="0" marL="0">
              <a:buNone/>
            </a:pPr>
            <a:r>
              <a:rPr lang="en-US" sz="1050" b="1" spc="160" kern="0" dirty="0">
                <a:solidFill>
                  <a:srgbClr val="3B6E8F"/>
                </a:solidFill>
                <a:latin typeface="Courier New" pitchFamily="34" charset="0"/>
                <a:ea typeface="Courier New" pitchFamily="34" charset="-122"/>
                <a:cs typeface="Courier New" pitchFamily="34" charset="-120"/>
              </a:rPr>
              <a:t>MARKING AND PRACTICE</a:t>
            </a:r>
            <a:endParaRPr lang="en-US" sz="1050" dirty="0"/>
          </a:p>
        </p:txBody>
      </p:sp>
      <p:sp>
        <p:nvSpPr>
          <p:cNvPr id="3" name="Text 1"/>
          <p:cNvSpPr/>
          <p:nvPr/>
        </p:nvSpPr>
        <p:spPr>
          <a:xfrm>
            <a:off x="566928" y="676656"/>
            <a:ext cx="11027664" cy="658368"/>
          </a:xfrm>
          <a:prstGeom prst="rect">
            <a:avLst/>
          </a:prstGeom>
          <a:noFill/>
          <a:ln/>
        </p:spPr>
        <p:txBody>
          <a:bodyPr wrap="square" lIns="0" tIns="0" rIns="0" bIns="0" rtlCol="0" anchor="t"/>
          <a:lstStyle/>
          <a:p>
            <a:pPr indent="0" marL="0">
              <a:buNone/>
            </a:pPr>
            <a:r>
              <a:rPr lang="en-US" sz="3000" b="1" dirty="0">
                <a:solidFill>
                  <a:srgbClr val="1B2229"/>
                </a:solidFill>
                <a:latin typeface="Cambria" pitchFamily="34" charset="0"/>
                <a:ea typeface="Cambria" pitchFamily="34" charset="-122"/>
                <a:cs typeface="Cambria" pitchFamily="34" charset="-120"/>
              </a:rPr>
              <a:t>Common errors to avoid</a:t>
            </a:r>
            <a:endParaRPr lang="en-US" sz="3000" dirty="0"/>
          </a:p>
        </p:txBody>
      </p:sp>
      <p:sp>
        <p:nvSpPr>
          <p:cNvPr id="4" name="Shape 2"/>
          <p:cNvSpPr/>
          <p:nvPr/>
        </p:nvSpPr>
        <p:spPr>
          <a:xfrm>
            <a:off x="566928" y="1783080"/>
            <a:ext cx="5367528" cy="1842516"/>
          </a:xfrm>
          <a:prstGeom prst="roundRect">
            <a:avLst>
              <a:gd name="adj" fmla="val 3474"/>
            </a:avLst>
          </a:prstGeom>
          <a:solidFill>
            <a:srgbClr val="FFFFFF"/>
          </a:solidFill>
          <a:ln w="11430">
            <a:solidFill>
              <a:srgbClr val="D8DDE0"/>
            </a:solidFill>
            <a:prstDash val="solid"/>
          </a:ln>
          <a:effectLst>
            <a:outerShdw sx="100000" sy="100000" kx="0" ky="0" algn="bl" rotWithShape="0" blurRad="88900" dist="12700" dir="5400000">
              <a:srgbClr val="9AA5AC">
                <a:alpha val="18000"/>
              </a:srgbClr>
            </a:outerShdw>
          </a:effectLst>
        </p:spPr>
      </p:sp>
      <p:sp>
        <p:nvSpPr>
          <p:cNvPr id="5" name="Shape 3"/>
          <p:cNvSpPr/>
          <p:nvPr/>
        </p:nvSpPr>
        <p:spPr>
          <a:xfrm>
            <a:off x="804672" y="2002536"/>
            <a:ext cx="402336" cy="402336"/>
          </a:xfrm>
          <a:prstGeom prst="ellipse">
            <a:avLst/>
          </a:prstGeom>
          <a:solidFill>
            <a:srgbClr val="EAF0F4"/>
          </a:solidFill>
          <a:ln/>
        </p:spPr>
      </p:sp>
      <p:sp>
        <p:nvSpPr>
          <p:cNvPr id="6" name="Text 4"/>
          <p:cNvSpPr/>
          <p:nvPr/>
        </p:nvSpPr>
        <p:spPr>
          <a:xfrm>
            <a:off x="804672" y="2002536"/>
            <a:ext cx="402336" cy="402336"/>
          </a:xfrm>
          <a:prstGeom prst="rect">
            <a:avLst/>
          </a:prstGeom>
          <a:noFill/>
          <a:ln/>
        </p:spPr>
        <p:txBody>
          <a:bodyPr wrap="square" lIns="0" tIns="0" rIns="0" bIns="0" rtlCol="0" anchor="ctr"/>
          <a:lstStyle/>
          <a:p>
            <a:pPr algn="ctr" indent="0" marL="0">
              <a:buNone/>
            </a:pPr>
            <a:r>
              <a:rPr lang="en-US" sz="1300" b="1" dirty="0">
                <a:solidFill>
                  <a:srgbClr val="2A4F68"/>
                </a:solidFill>
                <a:latin typeface="Courier New" pitchFamily="34" charset="0"/>
                <a:ea typeface="Courier New" pitchFamily="34" charset="-122"/>
                <a:cs typeface="Courier New" pitchFamily="34" charset="-120"/>
              </a:rPr>
              <a:t>01</a:t>
            </a:r>
            <a:endParaRPr lang="en-US" sz="1300" dirty="0"/>
          </a:p>
        </p:txBody>
      </p:sp>
      <p:sp>
        <p:nvSpPr>
          <p:cNvPr id="7" name="Text 5"/>
          <p:cNvSpPr/>
          <p:nvPr/>
        </p:nvSpPr>
        <p:spPr>
          <a:xfrm>
            <a:off x="1316736" y="2002536"/>
            <a:ext cx="4361688" cy="420624"/>
          </a:xfrm>
          <a:prstGeom prst="rect">
            <a:avLst/>
          </a:prstGeom>
          <a:noFill/>
          <a:ln/>
        </p:spPr>
        <p:txBody>
          <a:bodyPr wrap="square" lIns="0" tIns="0" rIns="0" bIns="0" rtlCol="0" anchor="ctr"/>
          <a:lstStyle/>
          <a:p>
            <a:pPr indent="0" marL="0">
              <a:buNone/>
            </a:pPr>
            <a:r>
              <a:rPr lang="en-US" sz="1450" b="1" dirty="0">
                <a:solidFill>
                  <a:srgbClr val="1B2229"/>
                </a:solidFill>
                <a:latin typeface="Calibri" pitchFamily="34" charset="0"/>
                <a:ea typeface="Calibri" pitchFamily="34" charset="-122"/>
                <a:cs typeface="Calibri" pitchFamily="34" charset="-120"/>
              </a:rPr>
              <a:t>Reporting a mean for a strongly skewed var</a:t>
            </a:r>
            <a:endParaRPr lang="en-US" sz="1450" dirty="0"/>
          </a:p>
        </p:txBody>
      </p:sp>
      <p:sp>
        <p:nvSpPr>
          <p:cNvPr id="8" name="Text 6"/>
          <p:cNvSpPr/>
          <p:nvPr/>
        </p:nvSpPr>
        <p:spPr>
          <a:xfrm>
            <a:off x="822960" y="2532888"/>
            <a:ext cx="4855464" cy="909828"/>
          </a:xfrm>
          <a:prstGeom prst="rect">
            <a:avLst/>
          </a:prstGeom>
          <a:noFill/>
          <a:ln/>
        </p:spPr>
        <p:txBody>
          <a:bodyPr wrap="square" lIns="0" tIns="0" rIns="0" bIns="0" rtlCol="0" anchor="t"/>
          <a:lstStyle/>
          <a:p>
            <a:pPr indent="0" marL="0">
              <a:buNone/>
            </a:pPr>
            <a:r>
              <a:rPr lang="en-US" sz="1250" dirty="0">
                <a:solidFill>
                  <a:srgbClr val="5A646E"/>
                </a:solidFill>
                <a:latin typeface="Calibri" pitchFamily="34" charset="0"/>
                <a:ea typeface="Calibri" pitchFamily="34" charset="-122"/>
                <a:cs typeface="Calibri" pitchFamily="34" charset="-120"/>
              </a:rPr>
              <a:t>Reporting a mean for a strongly skewed variable without also giving the median</a:t>
            </a:r>
            <a:endParaRPr lang="en-US" sz="1250" dirty="0"/>
          </a:p>
        </p:txBody>
      </p:sp>
      <p:sp>
        <p:nvSpPr>
          <p:cNvPr id="9" name="Shape 7"/>
          <p:cNvSpPr/>
          <p:nvPr/>
        </p:nvSpPr>
        <p:spPr>
          <a:xfrm>
            <a:off x="6227064" y="1783080"/>
            <a:ext cx="5367528" cy="1842516"/>
          </a:xfrm>
          <a:prstGeom prst="roundRect">
            <a:avLst>
              <a:gd name="adj" fmla="val 3474"/>
            </a:avLst>
          </a:prstGeom>
          <a:solidFill>
            <a:srgbClr val="FFFFFF"/>
          </a:solidFill>
          <a:ln w="11430">
            <a:solidFill>
              <a:srgbClr val="D8DDE0"/>
            </a:solidFill>
            <a:prstDash val="solid"/>
          </a:ln>
          <a:effectLst>
            <a:outerShdw sx="100000" sy="100000" kx="0" ky="0" algn="bl" rotWithShape="0" blurRad="88900" dist="12700" dir="5400000">
              <a:srgbClr val="9AA5AC">
                <a:alpha val="18000"/>
              </a:srgbClr>
            </a:outerShdw>
          </a:effectLst>
        </p:spPr>
      </p:sp>
      <p:sp>
        <p:nvSpPr>
          <p:cNvPr id="10" name="Shape 8"/>
          <p:cNvSpPr/>
          <p:nvPr/>
        </p:nvSpPr>
        <p:spPr>
          <a:xfrm>
            <a:off x="6464808" y="2002536"/>
            <a:ext cx="402336" cy="402336"/>
          </a:xfrm>
          <a:prstGeom prst="ellipse">
            <a:avLst/>
          </a:prstGeom>
          <a:solidFill>
            <a:srgbClr val="EAF0F4"/>
          </a:solidFill>
          <a:ln/>
        </p:spPr>
      </p:sp>
      <p:sp>
        <p:nvSpPr>
          <p:cNvPr id="11" name="Text 9"/>
          <p:cNvSpPr/>
          <p:nvPr/>
        </p:nvSpPr>
        <p:spPr>
          <a:xfrm>
            <a:off x="6464808" y="2002536"/>
            <a:ext cx="402336" cy="402336"/>
          </a:xfrm>
          <a:prstGeom prst="rect">
            <a:avLst/>
          </a:prstGeom>
          <a:noFill/>
          <a:ln/>
        </p:spPr>
        <p:txBody>
          <a:bodyPr wrap="square" lIns="0" tIns="0" rIns="0" bIns="0" rtlCol="0" anchor="ctr"/>
          <a:lstStyle/>
          <a:p>
            <a:pPr algn="ctr" indent="0" marL="0">
              <a:buNone/>
            </a:pPr>
            <a:r>
              <a:rPr lang="en-US" sz="1300" b="1" dirty="0">
                <a:solidFill>
                  <a:srgbClr val="2A4F68"/>
                </a:solidFill>
                <a:latin typeface="Courier New" pitchFamily="34" charset="0"/>
                <a:ea typeface="Courier New" pitchFamily="34" charset="-122"/>
                <a:cs typeface="Courier New" pitchFamily="34" charset="-120"/>
              </a:rPr>
              <a:t>02</a:t>
            </a:r>
            <a:endParaRPr lang="en-US" sz="1300" dirty="0"/>
          </a:p>
        </p:txBody>
      </p:sp>
      <p:sp>
        <p:nvSpPr>
          <p:cNvPr id="12" name="Text 10"/>
          <p:cNvSpPr/>
          <p:nvPr/>
        </p:nvSpPr>
        <p:spPr>
          <a:xfrm>
            <a:off x="6976872" y="2002536"/>
            <a:ext cx="4361688" cy="420624"/>
          </a:xfrm>
          <a:prstGeom prst="rect">
            <a:avLst/>
          </a:prstGeom>
          <a:noFill/>
          <a:ln/>
        </p:spPr>
        <p:txBody>
          <a:bodyPr wrap="square" lIns="0" tIns="0" rIns="0" bIns="0" rtlCol="0" anchor="ctr"/>
          <a:lstStyle/>
          <a:p>
            <a:pPr indent="0" marL="0">
              <a:buNone/>
            </a:pPr>
            <a:r>
              <a:rPr lang="en-US" sz="1450" b="1" dirty="0">
                <a:solidFill>
                  <a:srgbClr val="1B2229"/>
                </a:solidFill>
                <a:latin typeface="Calibri" pitchFamily="34" charset="0"/>
                <a:ea typeface="Calibri" pitchFamily="34" charset="-122"/>
                <a:cs typeface="Calibri" pitchFamily="34" charset="-120"/>
              </a:rPr>
              <a:t>Pairing a mean with an IQR</a:t>
            </a:r>
            <a:endParaRPr lang="en-US" sz="1450" dirty="0"/>
          </a:p>
        </p:txBody>
      </p:sp>
      <p:sp>
        <p:nvSpPr>
          <p:cNvPr id="13" name="Text 11"/>
          <p:cNvSpPr/>
          <p:nvPr/>
        </p:nvSpPr>
        <p:spPr>
          <a:xfrm>
            <a:off x="6483096" y="2532888"/>
            <a:ext cx="4855464" cy="909828"/>
          </a:xfrm>
          <a:prstGeom prst="rect">
            <a:avLst/>
          </a:prstGeom>
          <a:noFill/>
          <a:ln/>
        </p:spPr>
        <p:txBody>
          <a:bodyPr wrap="square" lIns="0" tIns="0" rIns="0" bIns="0" rtlCol="0" anchor="t"/>
          <a:lstStyle/>
          <a:p>
            <a:pPr indent="0" marL="0">
              <a:buNone/>
            </a:pPr>
            <a:r>
              <a:rPr lang="en-US" sz="1250" dirty="0">
                <a:solidFill>
                  <a:srgbClr val="5A646E"/>
                </a:solidFill>
                <a:latin typeface="Calibri" pitchFamily="34" charset="0"/>
                <a:ea typeface="Calibri" pitchFamily="34" charset="-122"/>
                <a:cs typeface="Calibri" pitchFamily="34" charset="-120"/>
              </a:rPr>
              <a:t>Pairing a mean with an IQR, or a median with a standard deviation</a:t>
            </a:r>
            <a:endParaRPr lang="en-US" sz="1250" dirty="0"/>
          </a:p>
        </p:txBody>
      </p:sp>
      <p:sp>
        <p:nvSpPr>
          <p:cNvPr id="14" name="Shape 12"/>
          <p:cNvSpPr/>
          <p:nvPr/>
        </p:nvSpPr>
        <p:spPr>
          <a:xfrm>
            <a:off x="566928" y="3918204"/>
            <a:ext cx="5367528" cy="1842516"/>
          </a:xfrm>
          <a:prstGeom prst="roundRect">
            <a:avLst>
              <a:gd name="adj" fmla="val 3474"/>
            </a:avLst>
          </a:prstGeom>
          <a:solidFill>
            <a:srgbClr val="FFFFFF"/>
          </a:solidFill>
          <a:ln w="11430">
            <a:solidFill>
              <a:srgbClr val="D8DDE0"/>
            </a:solidFill>
            <a:prstDash val="solid"/>
          </a:ln>
          <a:effectLst>
            <a:outerShdw sx="100000" sy="100000" kx="0" ky="0" algn="bl" rotWithShape="0" blurRad="88900" dist="12700" dir="5400000">
              <a:srgbClr val="9AA5AC">
                <a:alpha val="18000"/>
              </a:srgbClr>
            </a:outerShdw>
          </a:effectLst>
        </p:spPr>
      </p:sp>
      <p:sp>
        <p:nvSpPr>
          <p:cNvPr id="15" name="Shape 13"/>
          <p:cNvSpPr/>
          <p:nvPr/>
        </p:nvSpPr>
        <p:spPr>
          <a:xfrm>
            <a:off x="804672" y="4137660"/>
            <a:ext cx="402336" cy="402336"/>
          </a:xfrm>
          <a:prstGeom prst="ellipse">
            <a:avLst/>
          </a:prstGeom>
          <a:solidFill>
            <a:srgbClr val="EAF0F4"/>
          </a:solidFill>
          <a:ln/>
        </p:spPr>
      </p:sp>
      <p:sp>
        <p:nvSpPr>
          <p:cNvPr id="16" name="Text 14"/>
          <p:cNvSpPr/>
          <p:nvPr/>
        </p:nvSpPr>
        <p:spPr>
          <a:xfrm>
            <a:off x="804672" y="4137660"/>
            <a:ext cx="402336" cy="402336"/>
          </a:xfrm>
          <a:prstGeom prst="rect">
            <a:avLst/>
          </a:prstGeom>
          <a:noFill/>
          <a:ln/>
        </p:spPr>
        <p:txBody>
          <a:bodyPr wrap="square" lIns="0" tIns="0" rIns="0" bIns="0" rtlCol="0" anchor="ctr"/>
          <a:lstStyle/>
          <a:p>
            <a:pPr algn="ctr" indent="0" marL="0">
              <a:buNone/>
            </a:pPr>
            <a:r>
              <a:rPr lang="en-US" sz="1300" b="1" dirty="0">
                <a:solidFill>
                  <a:srgbClr val="2A4F68"/>
                </a:solidFill>
                <a:latin typeface="Courier New" pitchFamily="34" charset="0"/>
                <a:ea typeface="Courier New" pitchFamily="34" charset="-122"/>
                <a:cs typeface="Courier New" pitchFamily="34" charset="-120"/>
              </a:rPr>
              <a:t>03</a:t>
            </a:r>
            <a:endParaRPr lang="en-US" sz="1300" dirty="0"/>
          </a:p>
        </p:txBody>
      </p:sp>
      <p:sp>
        <p:nvSpPr>
          <p:cNvPr id="17" name="Text 15"/>
          <p:cNvSpPr/>
          <p:nvPr/>
        </p:nvSpPr>
        <p:spPr>
          <a:xfrm>
            <a:off x="1316736" y="4137660"/>
            <a:ext cx="4361688" cy="420624"/>
          </a:xfrm>
          <a:prstGeom prst="rect">
            <a:avLst/>
          </a:prstGeom>
          <a:noFill/>
          <a:ln/>
        </p:spPr>
        <p:txBody>
          <a:bodyPr wrap="square" lIns="0" tIns="0" rIns="0" bIns="0" rtlCol="0" anchor="ctr"/>
          <a:lstStyle/>
          <a:p>
            <a:pPr indent="0" marL="0">
              <a:buNone/>
            </a:pPr>
            <a:r>
              <a:rPr lang="en-US" sz="1450" b="1" dirty="0">
                <a:solidFill>
                  <a:srgbClr val="1B2229"/>
                </a:solidFill>
                <a:latin typeface="Calibri" pitchFamily="34" charset="0"/>
                <a:ea typeface="Calibri" pitchFamily="34" charset="-122"/>
                <a:cs typeface="Calibri" pitchFamily="34" charset="-120"/>
              </a:rPr>
              <a:t>Generalising beyond the sampling frame wit</a:t>
            </a:r>
            <a:endParaRPr lang="en-US" sz="1450" dirty="0"/>
          </a:p>
        </p:txBody>
      </p:sp>
      <p:sp>
        <p:nvSpPr>
          <p:cNvPr id="18" name="Text 16"/>
          <p:cNvSpPr/>
          <p:nvPr/>
        </p:nvSpPr>
        <p:spPr>
          <a:xfrm>
            <a:off x="822960" y="4668012"/>
            <a:ext cx="4855464" cy="909828"/>
          </a:xfrm>
          <a:prstGeom prst="rect">
            <a:avLst/>
          </a:prstGeom>
          <a:noFill/>
          <a:ln/>
        </p:spPr>
        <p:txBody>
          <a:bodyPr wrap="square" lIns="0" tIns="0" rIns="0" bIns="0" rtlCol="0" anchor="t"/>
          <a:lstStyle/>
          <a:p>
            <a:pPr indent="0" marL="0">
              <a:buNone/>
            </a:pPr>
            <a:r>
              <a:rPr lang="en-US" sz="1250" dirty="0">
                <a:solidFill>
                  <a:srgbClr val="5A646E"/>
                </a:solidFill>
                <a:latin typeface="Calibri" pitchFamily="34" charset="0"/>
                <a:ea typeface="Calibri" pitchFamily="34" charset="-122"/>
                <a:cs typeface="Calibri" pitchFamily="34" charset="-120"/>
              </a:rPr>
              <a:t>Generalising beyond the sampling frame without saying so</a:t>
            </a:r>
            <a:endParaRPr lang="en-US" sz="1250" dirty="0"/>
          </a:p>
        </p:txBody>
      </p:sp>
      <p:sp>
        <p:nvSpPr>
          <p:cNvPr id="19" name="Shape 17"/>
          <p:cNvSpPr/>
          <p:nvPr/>
        </p:nvSpPr>
        <p:spPr>
          <a:xfrm>
            <a:off x="6227064" y="3918204"/>
            <a:ext cx="5367528" cy="1842516"/>
          </a:xfrm>
          <a:prstGeom prst="roundRect">
            <a:avLst>
              <a:gd name="adj" fmla="val 3474"/>
            </a:avLst>
          </a:prstGeom>
          <a:solidFill>
            <a:srgbClr val="FFFFFF"/>
          </a:solidFill>
          <a:ln w="11430">
            <a:solidFill>
              <a:srgbClr val="D8DDE0"/>
            </a:solidFill>
            <a:prstDash val="solid"/>
          </a:ln>
          <a:effectLst>
            <a:outerShdw sx="100000" sy="100000" kx="0" ky="0" algn="bl" rotWithShape="0" blurRad="88900" dist="12700" dir="5400000">
              <a:srgbClr val="9AA5AC">
                <a:alpha val="18000"/>
              </a:srgbClr>
            </a:outerShdw>
          </a:effectLst>
        </p:spPr>
      </p:sp>
      <p:sp>
        <p:nvSpPr>
          <p:cNvPr id="20" name="Shape 18"/>
          <p:cNvSpPr/>
          <p:nvPr/>
        </p:nvSpPr>
        <p:spPr>
          <a:xfrm>
            <a:off x="6464808" y="4137660"/>
            <a:ext cx="402336" cy="402336"/>
          </a:xfrm>
          <a:prstGeom prst="ellipse">
            <a:avLst/>
          </a:prstGeom>
          <a:solidFill>
            <a:srgbClr val="EAF0F4"/>
          </a:solidFill>
          <a:ln/>
        </p:spPr>
      </p:sp>
      <p:sp>
        <p:nvSpPr>
          <p:cNvPr id="21" name="Text 19"/>
          <p:cNvSpPr/>
          <p:nvPr/>
        </p:nvSpPr>
        <p:spPr>
          <a:xfrm>
            <a:off x="6464808" y="4137660"/>
            <a:ext cx="402336" cy="402336"/>
          </a:xfrm>
          <a:prstGeom prst="rect">
            <a:avLst/>
          </a:prstGeom>
          <a:noFill/>
          <a:ln/>
        </p:spPr>
        <p:txBody>
          <a:bodyPr wrap="square" lIns="0" tIns="0" rIns="0" bIns="0" rtlCol="0" anchor="ctr"/>
          <a:lstStyle/>
          <a:p>
            <a:pPr algn="ctr" indent="0" marL="0">
              <a:buNone/>
            </a:pPr>
            <a:r>
              <a:rPr lang="en-US" sz="1300" b="1" dirty="0">
                <a:solidFill>
                  <a:srgbClr val="2A4F68"/>
                </a:solidFill>
                <a:latin typeface="Courier New" pitchFamily="34" charset="0"/>
                <a:ea typeface="Courier New" pitchFamily="34" charset="-122"/>
                <a:cs typeface="Courier New" pitchFamily="34" charset="-120"/>
              </a:rPr>
              <a:t>04</a:t>
            </a:r>
            <a:endParaRPr lang="en-US" sz="1300" dirty="0"/>
          </a:p>
        </p:txBody>
      </p:sp>
      <p:sp>
        <p:nvSpPr>
          <p:cNvPr id="22" name="Text 20"/>
          <p:cNvSpPr/>
          <p:nvPr/>
        </p:nvSpPr>
        <p:spPr>
          <a:xfrm>
            <a:off x="6976872" y="4137660"/>
            <a:ext cx="4361688" cy="420624"/>
          </a:xfrm>
          <a:prstGeom prst="rect">
            <a:avLst/>
          </a:prstGeom>
          <a:noFill/>
          <a:ln/>
        </p:spPr>
        <p:txBody>
          <a:bodyPr wrap="square" lIns="0" tIns="0" rIns="0" bIns="0" rtlCol="0" anchor="ctr"/>
          <a:lstStyle/>
          <a:p>
            <a:pPr indent="0" marL="0">
              <a:buNone/>
            </a:pPr>
            <a:r>
              <a:rPr lang="en-US" sz="1450" b="1" dirty="0">
                <a:solidFill>
                  <a:srgbClr val="1B2229"/>
                </a:solidFill>
                <a:latin typeface="Calibri" pitchFamily="34" charset="0"/>
                <a:ea typeface="Calibri" pitchFamily="34" charset="-122"/>
                <a:cs typeface="Calibri" pitchFamily="34" charset="-120"/>
              </a:rPr>
              <a:t>Treating flagged boxplot points as errors </a:t>
            </a:r>
            <a:endParaRPr lang="en-US" sz="1450" dirty="0"/>
          </a:p>
        </p:txBody>
      </p:sp>
      <p:sp>
        <p:nvSpPr>
          <p:cNvPr id="23" name="Text 21"/>
          <p:cNvSpPr/>
          <p:nvPr/>
        </p:nvSpPr>
        <p:spPr>
          <a:xfrm>
            <a:off x="6483096" y="4668012"/>
            <a:ext cx="4855464" cy="909828"/>
          </a:xfrm>
          <a:prstGeom prst="rect">
            <a:avLst/>
          </a:prstGeom>
          <a:noFill/>
          <a:ln/>
        </p:spPr>
        <p:txBody>
          <a:bodyPr wrap="square" lIns="0" tIns="0" rIns="0" bIns="0" rtlCol="0" anchor="t"/>
          <a:lstStyle/>
          <a:p>
            <a:pPr indent="0" marL="0">
              <a:buNone/>
            </a:pPr>
            <a:r>
              <a:rPr lang="en-US" sz="1250" dirty="0">
                <a:solidFill>
                  <a:srgbClr val="5A646E"/>
                </a:solidFill>
                <a:latin typeface="Calibri" pitchFamily="34" charset="0"/>
                <a:ea typeface="Calibri" pitchFamily="34" charset="-122"/>
                <a:cs typeface="Calibri" pitchFamily="34" charset="-120"/>
              </a:rPr>
              <a:t>Treating flagged boxplot points as errors before investigating them</a:t>
            </a:r>
            <a:endParaRPr lang="en-US" sz="1250" dirty="0"/>
          </a:p>
        </p:txBody>
      </p:sp>
      <p:sp>
        <p:nvSpPr>
          <p:cNvPr id="24" name="Text 22"/>
          <p:cNvSpPr/>
          <p:nvPr/>
        </p:nvSpPr>
        <p:spPr>
          <a:xfrm>
            <a:off x="566928" y="6437376"/>
            <a:ext cx="6400800" cy="256032"/>
          </a:xfrm>
          <a:prstGeom prst="rect">
            <a:avLst/>
          </a:prstGeom>
          <a:noFill/>
          <a:ln/>
        </p:spPr>
        <p:txBody>
          <a:bodyPr wrap="square" lIns="0" tIns="0" rIns="0" bIns="0" rtlCol="0" anchor="ctr"/>
          <a:lstStyle/>
          <a:p>
            <a:pPr algn="l" indent="0" marL="0">
              <a:buNone/>
            </a:pPr>
            <a:r>
              <a:rPr lang="en-US" sz="900" dirty="0">
                <a:solidFill>
                  <a:srgbClr val="8B9199"/>
                </a:solidFill>
                <a:latin typeface="Calibri" pitchFamily="34" charset="0"/>
                <a:ea typeface="Calibri" pitchFamily="34" charset="-122"/>
                <a:cs typeface="Calibri" pitchFamily="34" charset="-120"/>
              </a:rPr>
              <a:t>DATA209 · Module 1 — L1-2 The role of EDA, and robust statistics</a:t>
            </a:r>
            <a:endParaRPr lang="en-US" sz="900" dirty="0"/>
          </a:p>
        </p:txBody>
      </p:sp>
      <p:sp>
        <p:nvSpPr>
          <p:cNvPr id="25" name="Text 23"/>
          <p:cNvSpPr/>
          <p:nvPr/>
        </p:nvSpPr>
        <p:spPr>
          <a:xfrm>
            <a:off x="10954512" y="6437376"/>
            <a:ext cx="640080" cy="256032"/>
          </a:xfrm>
          <a:prstGeom prst="rect">
            <a:avLst/>
          </a:prstGeom>
          <a:noFill/>
          <a:ln/>
        </p:spPr>
        <p:txBody>
          <a:bodyPr wrap="square" lIns="0" tIns="0" rIns="0" bIns="0" rtlCol="0" anchor="ctr"/>
          <a:lstStyle/>
          <a:p>
            <a:pPr algn="r" indent="0" marL="0">
              <a:buNone/>
            </a:pPr>
            <a:r>
              <a:rPr lang="en-US" sz="900" dirty="0">
                <a:solidFill>
                  <a:srgbClr val="8B9199"/>
                </a:solidFill>
                <a:latin typeface="Courier New" pitchFamily="34" charset="0"/>
                <a:ea typeface="Courier New" pitchFamily="34" charset="-122"/>
                <a:cs typeface="Courier New"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1027664" cy="237744"/>
          </a:xfrm>
          <a:prstGeom prst="rect">
            <a:avLst/>
          </a:prstGeom>
          <a:noFill/>
          <a:ln/>
        </p:spPr>
        <p:txBody>
          <a:bodyPr wrap="square" lIns="0" tIns="0" rIns="0" bIns="0" rtlCol="0" anchor="ctr"/>
          <a:lstStyle/>
          <a:p>
            <a:pPr indent="0" marL="0">
              <a:buNone/>
            </a:pPr>
            <a:r>
              <a:rPr lang="en-US" sz="1050" b="1" spc="160" kern="0" dirty="0">
                <a:solidFill>
                  <a:srgbClr val="3B6E8F"/>
                </a:solidFill>
                <a:latin typeface="Courier New" pitchFamily="34" charset="0"/>
                <a:ea typeface="Courier New" pitchFamily="34" charset="-122"/>
                <a:cs typeface="Courier New" pitchFamily="34" charset="-120"/>
              </a:rPr>
              <a:t>VOCABULARY</a:t>
            </a:r>
            <a:endParaRPr lang="en-US" sz="1050" dirty="0"/>
          </a:p>
        </p:txBody>
      </p:sp>
      <p:sp>
        <p:nvSpPr>
          <p:cNvPr id="3" name="Text 1"/>
          <p:cNvSpPr/>
          <p:nvPr/>
        </p:nvSpPr>
        <p:spPr>
          <a:xfrm>
            <a:off x="566928" y="676656"/>
            <a:ext cx="11027664" cy="658368"/>
          </a:xfrm>
          <a:prstGeom prst="rect">
            <a:avLst/>
          </a:prstGeom>
          <a:noFill/>
          <a:ln/>
        </p:spPr>
        <p:txBody>
          <a:bodyPr wrap="square" lIns="0" tIns="0" rIns="0" bIns="0" rtlCol="0" anchor="t"/>
          <a:lstStyle/>
          <a:p>
            <a:pPr indent="0" marL="0">
              <a:buNone/>
            </a:pPr>
            <a:r>
              <a:rPr lang="en-US" sz="3000" b="1" dirty="0">
                <a:solidFill>
                  <a:srgbClr val="1B2229"/>
                </a:solidFill>
                <a:latin typeface="Cambria" pitchFamily="34" charset="0"/>
                <a:ea typeface="Cambria" pitchFamily="34" charset="-122"/>
                <a:cs typeface="Cambria" pitchFamily="34" charset="-120"/>
              </a:rPr>
              <a:t>Key terms from this lecture</a:t>
            </a:r>
            <a:endParaRPr lang="en-US" sz="3000" dirty="0"/>
          </a:p>
        </p:txBody>
      </p:sp>
      <p:sp>
        <p:nvSpPr>
          <p:cNvPr id="4" name="Text 2"/>
          <p:cNvSpPr/>
          <p:nvPr/>
        </p:nvSpPr>
        <p:spPr>
          <a:xfrm>
            <a:off x="566928" y="1783080"/>
            <a:ext cx="10661904" cy="3931920"/>
          </a:xfrm>
          <a:prstGeom prst="rect">
            <a:avLst/>
          </a:prstGeom>
          <a:noFill/>
          <a:ln/>
        </p:spPr>
        <p:txBody>
          <a:bodyPr wrap="square" lIns="0" tIns="0" rIns="0" bIns="0" rtlCol="0" anchor="t"/>
          <a:lstStyle/>
          <a:p>
            <a:pPr marL="228600" indent="-228600">
              <a:spcAft>
                <a:spcPts val="900"/>
              </a:spcAft>
              <a:buSzPct val="100000"/>
              <a:buChar char="•"/>
            </a:pPr>
            <a:r>
              <a:rPr lang="en-US" sz="1500" dirty="0">
                <a:solidFill>
                  <a:srgbClr val="5A646E"/>
                </a:solidFill>
                <a:latin typeface="Calibri" pitchFamily="34" charset="0"/>
                <a:ea typeface="Calibri" pitchFamily="34" charset="-122"/>
                <a:cs typeface="Calibri" pitchFamily="34" charset="-120"/>
              </a:rPr>
              <a:t>Exploratory data analysis</a:t>
            </a:r>
            <a:endParaRPr lang="en-US" sz="1500" dirty="0"/>
          </a:p>
          <a:p>
            <a:pPr marL="228600" indent="-228600">
              <a:spcAft>
                <a:spcPts val="900"/>
              </a:spcAft>
              <a:buSzPct val="100000"/>
              <a:buChar char="•"/>
            </a:pPr>
            <a:r>
              <a:rPr lang="en-US" sz="1500" dirty="0">
                <a:solidFill>
                  <a:srgbClr val="5A646E"/>
                </a:solidFill>
                <a:latin typeface="Calibri" pitchFamily="34" charset="0"/>
                <a:ea typeface="Calibri" pitchFamily="34" charset="-122"/>
                <a:cs typeface="Calibri" pitchFamily="34" charset="-120"/>
              </a:rPr>
              <a:t>Confirmatory analysis</a:t>
            </a:r>
            <a:endParaRPr lang="en-US" sz="1500" dirty="0"/>
          </a:p>
          <a:p>
            <a:pPr marL="228600" indent="-228600">
              <a:spcAft>
                <a:spcPts val="900"/>
              </a:spcAft>
              <a:buSzPct val="100000"/>
              <a:buChar char="•"/>
            </a:pPr>
            <a:r>
              <a:rPr lang="en-US" sz="1500" dirty="0">
                <a:solidFill>
                  <a:srgbClr val="5A646E"/>
                </a:solidFill>
                <a:latin typeface="Calibri" pitchFamily="34" charset="0"/>
                <a:ea typeface="Calibri" pitchFamily="34" charset="-122"/>
                <a:cs typeface="Calibri" pitchFamily="34" charset="-120"/>
              </a:rPr>
              <a:t>Sampling frame</a:t>
            </a:r>
            <a:endParaRPr lang="en-US" sz="1500" dirty="0"/>
          </a:p>
          <a:p>
            <a:pPr marL="228600" indent="-228600">
              <a:spcAft>
                <a:spcPts val="900"/>
              </a:spcAft>
              <a:buSzPct val="100000"/>
              <a:buChar char="•"/>
            </a:pPr>
            <a:r>
              <a:rPr lang="en-US" sz="1500" dirty="0">
                <a:solidFill>
                  <a:srgbClr val="5A646E"/>
                </a:solidFill>
                <a:latin typeface="Calibri" pitchFamily="34" charset="0"/>
                <a:ea typeface="Calibri" pitchFamily="34" charset="-122"/>
                <a:cs typeface="Calibri" pitchFamily="34" charset="-120"/>
              </a:rPr>
              <a:t>Selection bias</a:t>
            </a:r>
            <a:endParaRPr lang="en-US" sz="1500" dirty="0"/>
          </a:p>
          <a:p>
            <a:pPr marL="228600" indent="-228600">
              <a:spcAft>
                <a:spcPts val="900"/>
              </a:spcAft>
              <a:buSzPct val="100000"/>
              <a:buChar char="•"/>
            </a:pPr>
            <a:r>
              <a:rPr lang="en-US" sz="1500" dirty="0">
                <a:solidFill>
                  <a:srgbClr val="5A646E"/>
                </a:solidFill>
                <a:latin typeface="Calibri" pitchFamily="34" charset="0"/>
                <a:ea typeface="Calibri" pitchFamily="34" charset="-122"/>
                <a:cs typeface="Calibri" pitchFamily="34" charset="-120"/>
              </a:rPr>
              <a:t>Survivorship bias</a:t>
            </a:r>
            <a:endParaRPr lang="en-US" sz="1500" dirty="0"/>
          </a:p>
          <a:p>
            <a:pPr marL="228600" indent="-228600">
              <a:spcAft>
                <a:spcPts val="900"/>
              </a:spcAft>
              <a:buSzPct val="100000"/>
              <a:buChar char="•"/>
            </a:pPr>
            <a:r>
              <a:rPr lang="en-US" sz="1500" dirty="0">
                <a:solidFill>
                  <a:srgbClr val="5A646E"/>
                </a:solidFill>
                <a:latin typeface="Calibri" pitchFamily="34" charset="0"/>
                <a:ea typeface="Calibri" pitchFamily="34" charset="-122"/>
                <a:cs typeface="Calibri" pitchFamily="34" charset="-120"/>
              </a:rPr>
              <a:t>Robust statistic</a:t>
            </a:r>
            <a:endParaRPr lang="en-US" sz="1500" dirty="0"/>
          </a:p>
          <a:p>
            <a:pPr marL="228600" indent="-228600">
              <a:spcAft>
                <a:spcPts val="900"/>
              </a:spcAft>
              <a:buSzPct val="100000"/>
              <a:buChar char="•"/>
            </a:pPr>
            <a:r>
              <a:rPr lang="en-US" sz="1500" dirty="0">
                <a:solidFill>
                  <a:srgbClr val="5A646E"/>
                </a:solidFill>
                <a:latin typeface="Calibri" pitchFamily="34" charset="0"/>
                <a:ea typeface="Calibri" pitchFamily="34" charset="-122"/>
                <a:cs typeface="Calibri" pitchFamily="34" charset="-120"/>
              </a:rPr>
              <a:t>Skewness</a:t>
            </a:r>
            <a:endParaRPr lang="en-US" sz="1500" dirty="0"/>
          </a:p>
          <a:p>
            <a:pPr marL="228600" indent="-228600">
              <a:spcAft>
                <a:spcPts val="900"/>
              </a:spcAft>
              <a:buSzPct val="100000"/>
              <a:buChar char="•"/>
            </a:pPr>
            <a:r>
              <a:rPr lang="en-US" sz="1500" dirty="0">
                <a:solidFill>
                  <a:srgbClr val="5A646E"/>
                </a:solidFill>
                <a:latin typeface="Calibri" pitchFamily="34" charset="0"/>
                <a:ea typeface="Calibri" pitchFamily="34" charset="-122"/>
                <a:cs typeface="Calibri" pitchFamily="34" charset="-120"/>
              </a:rPr>
              <a:t>Kurtosis</a:t>
            </a:r>
            <a:endParaRPr lang="en-US" sz="1500" dirty="0"/>
          </a:p>
          <a:p>
            <a:pPr marL="228600" indent="-228600">
              <a:spcAft>
                <a:spcPts val="900"/>
              </a:spcAft>
              <a:buSzPct val="100000"/>
              <a:buChar char="•"/>
            </a:pPr>
            <a:r>
              <a:rPr lang="en-US" sz="1500" dirty="0">
                <a:solidFill>
                  <a:srgbClr val="5A646E"/>
                </a:solidFill>
                <a:latin typeface="Calibri" pitchFamily="34" charset="0"/>
                <a:ea typeface="Calibri" pitchFamily="34" charset="-122"/>
                <a:cs typeface="Calibri" pitchFamily="34" charset="-120"/>
              </a:rPr>
              <a:t>Interquartile range</a:t>
            </a:r>
            <a:endParaRPr lang="en-US" sz="1500" dirty="0"/>
          </a:p>
          <a:p>
            <a:pPr marL="228600" indent="-228600">
              <a:spcAft>
                <a:spcPts val="900"/>
              </a:spcAft>
              <a:buSzPct val="100000"/>
              <a:buChar char="•"/>
            </a:pPr>
            <a:r>
              <a:rPr lang="en-US" sz="1500" dirty="0">
                <a:solidFill>
                  <a:srgbClr val="5A646E"/>
                </a:solidFill>
                <a:latin typeface="Calibri" pitchFamily="34" charset="0"/>
                <a:ea typeface="Calibri" pitchFamily="34" charset="-122"/>
                <a:cs typeface="Calibri" pitchFamily="34" charset="-120"/>
              </a:rPr>
              <a:t>Five-number summary</a:t>
            </a:r>
            <a:endParaRPr lang="en-US" sz="1500" dirty="0"/>
          </a:p>
        </p:txBody>
      </p:sp>
      <p:sp>
        <p:nvSpPr>
          <p:cNvPr id="5" name="Text 3"/>
          <p:cNvSpPr/>
          <p:nvPr/>
        </p:nvSpPr>
        <p:spPr>
          <a:xfrm>
            <a:off x="566928" y="5833872"/>
            <a:ext cx="10661904" cy="457200"/>
          </a:xfrm>
          <a:prstGeom prst="rect">
            <a:avLst/>
          </a:prstGeom>
          <a:noFill/>
          <a:ln/>
        </p:spPr>
        <p:txBody>
          <a:bodyPr wrap="square" lIns="0" tIns="0" rIns="0" bIns="0" rtlCol="0" anchor="ctr"/>
          <a:lstStyle/>
          <a:p>
            <a:pPr indent="0" marL="0">
              <a:buNone/>
            </a:pPr>
            <a:r>
              <a:rPr lang="en-US" sz="1200" i="1" dirty="0">
                <a:solidFill>
                  <a:srgbClr val="2A4F68"/>
                </a:solidFill>
                <a:latin typeface="Calibri" pitchFamily="34" charset="0"/>
                <a:ea typeface="Calibri" pitchFamily="34" charset="-122"/>
                <a:cs typeface="Calibri" pitchFamily="34" charset="-120"/>
              </a:rPr>
              <a:t>You should be able to define each of these without notes.</a:t>
            </a:r>
            <a:endParaRPr lang="en-US" sz="1200" dirty="0"/>
          </a:p>
        </p:txBody>
      </p:sp>
      <p:sp>
        <p:nvSpPr>
          <p:cNvPr id="6" name="Text 4"/>
          <p:cNvSpPr/>
          <p:nvPr/>
        </p:nvSpPr>
        <p:spPr>
          <a:xfrm>
            <a:off x="566928" y="6437376"/>
            <a:ext cx="6400800" cy="256032"/>
          </a:xfrm>
          <a:prstGeom prst="rect">
            <a:avLst/>
          </a:prstGeom>
          <a:noFill/>
          <a:ln/>
        </p:spPr>
        <p:txBody>
          <a:bodyPr wrap="square" lIns="0" tIns="0" rIns="0" bIns="0" rtlCol="0" anchor="ctr"/>
          <a:lstStyle/>
          <a:p>
            <a:pPr algn="l" indent="0" marL="0">
              <a:buNone/>
            </a:pPr>
            <a:r>
              <a:rPr lang="en-US" sz="900" dirty="0">
                <a:solidFill>
                  <a:srgbClr val="8B9199"/>
                </a:solidFill>
                <a:latin typeface="Calibri" pitchFamily="34" charset="0"/>
                <a:ea typeface="Calibri" pitchFamily="34" charset="-122"/>
                <a:cs typeface="Calibri" pitchFamily="34" charset="-120"/>
              </a:rPr>
              <a:t>DATA209 · Module 1 — L1-2 The role of EDA, and robust statistics</a:t>
            </a:r>
            <a:endParaRPr lang="en-US" sz="900" dirty="0"/>
          </a:p>
        </p:txBody>
      </p:sp>
      <p:sp>
        <p:nvSpPr>
          <p:cNvPr id="7" name="Text 5"/>
          <p:cNvSpPr/>
          <p:nvPr/>
        </p:nvSpPr>
        <p:spPr>
          <a:xfrm>
            <a:off x="10954512" y="6437376"/>
            <a:ext cx="640080" cy="256032"/>
          </a:xfrm>
          <a:prstGeom prst="rect">
            <a:avLst/>
          </a:prstGeom>
          <a:noFill/>
          <a:ln/>
        </p:spPr>
        <p:txBody>
          <a:bodyPr wrap="square" lIns="0" tIns="0" rIns="0" bIns="0" rtlCol="0" anchor="ctr"/>
          <a:lstStyle/>
          <a:p>
            <a:pPr algn="r" indent="0" marL="0">
              <a:buNone/>
            </a:pPr>
            <a:r>
              <a:rPr lang="en-US" sz="900" dirty="0">
                <a:solidFill>
                  <a:srgbClr val="8B9199"/>
                </a:solidFill>
                <a:latin typeface="Courier New" pitchFamily="34" charset="0"/>
                <a:ea typeface="Courier New" pitchFamily="34" charset="-122"/>
                <a:cs typeface="Courier New"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1027664" cy="237744"/>
          </a:xfrm>
          <a:prstGeom prst="rect">
            <a:avLst/>
          </a:prstGeom>
          <a:noFill/>
          <a:ln/>
        </p:spPr>
        <p:txBody>
          <a:bodyPr wrap="square" lIns="0" tIns="0" rIns="0" bIns="0" rtlCol="0" anchor="ctr"/>
          <a:lstStyle/>
          <a:p>
            <a:pPr indent="0" marL="0">
              <a:buNone/>
            </a:pPr>
            <a:r>
              <a:rPr lang="en-US" sz="1050" b="1" spc="160" kern="0" dirty="0">
                <a:solidFill>
                  <a:srgbClr val="3B6E8F"/>
                </a:solidFill>
                <a:latin typeface="Courier New" pitchFamily="34" charset="0"/>
                <a:ea typeface="Courier New" pitchFamily="34" charset="-122"/>
                <a:cs typeface="Courier New" pitchFamily="34" charset="-120"/>
              </a:rPr>
              <a:t>WHERE TO READ MORE</a:t>
            </a:r>
            <a:endParaRPr lang="en-US" sz="1050" dirty="0"/>
          </a:p>
        </p:txBody>
      </p:sp>
      <p:sp>
        <p:nvSpPr>
          <p:cNvPr id="3" name="Text 1"/>
          <p:cNvSpPr/>
          <p:nvPr/>
        </p:nvSpPr>
        <p:spPr>
          <a:xfrm>
            <a:off x="566928" y="676656"/>
            <a:ext cx="11027664" cy="658368"/>
          </a:xfrm>
          <a:prstGeom prst="rect">
            <a:avLst/>
          </a:prstGeom>
          <a:noFill/>
          <a:ln/>
        </p:spPr>
        <p:txBody>
          <a:bodyPr wrap="square" lIns="0" tIns="0" rIns="0" bIns="0" rtlCol="0" anchor="t"/>
          <a:lstStyle/>
          <a:p>
            <a:pPr indent="0" marL="0">
              <a:buNone/>
            </a:pPr>
            <a:r>
              <a:rPr lang="en-US" sz="3000" b="1" dirty="0">
                <a:solidFill>
                  <a:srgbClr val="1B2229"/>
                </a:solidFill>
                <a:latin typeface="Cambria" pitchFamily="34" charset="0"/>
                <a:ea typeface="Cambria" pitchFamily="34" charset="-122"/>
                <a:cs typeface="Cambria" pitchFamily="34" charset="-120"/>
              </a:rPr>
              <a:t>Readings for L1-2</a:t>
            </a:r>
            <a:endParaRPr lang="en-US" sz="3000" dirty="0"/>
          </a:p>
        </p:txBody>
      </p:sp>
      <p:sp>
        <p:nvSpPr>
          <p:cNvPr id="4" name="Text 2"/>
          <p:cNvSpPr/>
          <p:nvPr/>
        </p:nvSpPr>
        <p:spPr>
          <a:xfrm>
            <a:off x="566928" y="1783080"/>
            <a:ext cx="3480816" cy="365760"/>
          </a:xfrm>
          <a:prstGeom prst="rect">
            <a:avLst/>
          </a:prstGeom>
          <a:noFill/>
          <a:ln/>
        </p:spPr>
        <p:txBody>
          <a:bodyPr wrap="square" lIns="0" tIns="0" rIns="0" bIns="0" rtlCol="0" anchor="ctr"/>
          <a:lstStyle/>
          <a:p>
            <a:pPr indent="0" marL="0">
              <a:buNone/>
            </a:pPr>
            <a:r>
              <a:rPr lang="en-US" sz="1400" b="1" dirty="0">
                <a:solidFill>
                  <a:srgbClr val="2A4F68"/>
                </a:solidFill>
                <a:latin typeface="Calibri" pitchFamily="34" charset="0"/>
                <a:ea typeface="Calibri" pitchFamily="34" charset="-122"/>
                <a:cs typeface="Calibri" pitchFamily="34" charset="-120"/>
              </a:rPr>
              <a:t>Free online</a:t>
            </a:r>
            <a:endParaRPr lang="en-US" sz="1400" dirty="0"/>
          </a:p>
        </p:txBody>
      </p:sp>
      <p:sp>
        <p:nvSpPr>
          <p:cNvPr id="5" name="Shape 3"/>
          <p:cNvSpPr/>
          <p:nvPr/>
        </p:nvSpPr>
        <p:spPr>
          <a:xfrm>
            <a:off x="566928" y="2176272"/>
            <a:ext cx="3480816" cy="13716"/>
          </a:xfrm>
          <a:prstGeom prst="rect">
            <a:avLst/>
          </a:prstGeom>
          <a:solidFill>
            <a:srgbClr val="D8DDE0"/>
          </a:solidFill>
          <a:ln/>
        </p:spPr>
      </p:sp>
      <p:sp>
        <p:nvSpPr>
          <p:cNvPr id="6" name="Text 4"/>
          <p:cNvSpPr/>
          <p:nvPr/>
        </p:nvSpPr>
        <p:spPr>
          <a:xfrm>
            <a:off x="566928" y="2331720"/>
            <a:ext cx="3480816" cy="3291840"/>
          </a:xfrm>
          <a:prstGeom prst="rect">
            <a:avLst/>
          </a:prstGeom>
          <a:noFill/>
          <a:ln/>
        </p:spPr>
        <p:txBody>
          <a:bodyPr wrap="square" lIns="0" tIns="0" rIns="0" bIns="0" rtlCol="0" anchor="t"/>
          <a:lstStyle/>
          <a:p>
            <a:pPr indent="0" marL="0">
              <a:spcAft>
                <a:spcPts val="1100"/>
              </a:spcAft>
              <a:buNone/>
            </a:pPr>
            <a:r>
              <a:rPr lang="en-US" sz="1200" dirty="0">
                <a:solidFill>
                  <a:srgbClr val="5A646E"/>
                </a:solidFill>
                <a:latin typeface="Calibri" pitchFamily="34" charset="0"/>
                <a:ea typeface="Calibri" pitchFamily="34" charset="-122"/>
                <a:cs typeface="Calibri" pitchFamily="34" charset="-120"/>
              </a:rPr>
              <a:t>NIST/SEMATECH e-Handbook — Ch.1 Exploratory Data Analysis</a:t>
            </a:r>
            <a:endParaRPr lang="en-US" sz="1200" dirty="0"/>
          </a:p>
          <a:p>
            <a:pPr indent="0" marL="0">
              <a:spcAft>
                <a:spcPts val="1100"/>
              </a:spcAft>
              <a:buNone/>
            </a:pPr>
            <a:r>
              <a:rPr lang="en-US" sz="1200" dirty="0">
                <a:solidFill>
                  <a:srgbClr val="5A646E"/>
                </a:solidFill>
                <a:latin typeface="Calibri" pitchFamily="34" charset="0"/>
                <a:ea typeface="Calibri" pitchFamily="34" charset="-122"/>
                <a:cs typeface="Calibri" pitchFamily="34" charset="-120"/>
              </a:rPr>
              <a:t>Downey — Think Stats, 2nd ed. (Ch. 1–4)</a:t>
            </a:r>
            <a:endParaRPr lang="en-US" sz="1200" dirty="0"/>
          </a:p>
          <a:p>
            <a:pPr indent="0" marL="0">
              <a:spcAft>
                <a:spcPts val="1100"/>
              </a:spcAft>
              <a:buNone/>
            </a:pPr>
            <a:r>
              <a:rPr lang="en-US" sz="1200" dirty="0">
                <a:solidFill>
                  <a:srgbClr val="5A646E"/>
                </a:solidFill>
                <a:latin typeface="Calibri" pitchFamily="34" charset="0"/>
                <a:ea typeface="Calibri" pitchFamily="34" charset="-122"/>
                <a:cs typeface="Calibri" pitchFamily="34" charset="-120"/>
              </a:rPr>
              <a:t>Adhikari &amp; DeNero — Computational and Inferential Thinking</a:t>
            </a:r>
            <a:endParaRPr lang="en-US" sz="1200" dirty="0"/>
          </a:p>
          <a:p>
            <a:pPr indent="0" marL="0">
              <a:spcAft>
                <a:spcPts val="1100"/>
              </a:spcAft>
              <a:buNone/>
            </a:pPr>
            <a:r>
              <a:rPr lang="en-US" sz="1200" dirty="0">
                <a:solidFill>
                  <a:srgbClr val="5A646E"/>
                </a:solidFill>
                <a:latin typeface="Calibri" pitchFamily="34" charset="0"/>
                <a:ea typeface="Calibri" pitchFamily="34" charset="-122"/>
                <a:cs typeface="Calibri" pitchFamily="34" charset="-120"/>
              </a:rPr>
              <a:t>MIT OCW 6.0002 — sampling and statistical fallacies</a:t>
            </a:r>
            <a:endParaRPr lang="en-US" sz="1200" dirty="0"/>
          </a:p>
        </p:txBody>
      </p:sp>
      <p:sp>
        <p:nvSpPr>
          <p:cNvPr id="7" name="Text 5"/>
          <p:cNvSpPr/>
          <p:nvPr/>
        </p:nvSpPr>
        <p:spPr>
          <a:xfrm>
            <a:off x="4340352" y="1783080"/>
            <a:ext cx="3480816" cy="365760"/>
          </a:xfrm>
          <a:prstGeom prst="rect">
            <a:avLst/>
          </a:prstGeom>
          <a:noFill/>
          <a:ln/>
        </p:spPr>
        <p:txBody>
          <a:bodyPr wrap="square" lIns="0" tIns="0" rIns="0" bIns="0" rtlCol="0" anchor="ctr"/>
          <a:lstStyle/>
          <a:p>
            <a:pPr indent="0" marL="0">
              <a:buNone/>
            </a:pPr>
            <a:r>
              <a:rPr lang="en-US" sz="1400" b="1" dirty="0">
                <a:solidFill>
                  <a:srgbClr val="2A4F68"/>
                </a:solidFill>
                <a:latin typeface="Calibri" pitchFamily="34" charset="0"/>
                <a:ea typeface="Calibri" pitchFamily="34" charset="-122"/>
                <a:cs typeface="Calibri" pitchFamily="34" charset="-120"/>
              </a:rPr>
              <a:t>Links</a:t>
            </a:r>
            <a:endParaRPr lang="en-US" sz="1400" dirty="0"/>
          </a:p>
        </p:txBody>
      </p:sp>
      <p:sp>
        <p:nvSpPr>
          <p:cNvPr id="8" name="Shape 6"/>
          <p:cNvSpPr/>
          <p:nvPr/>
        </p:nvSpPr>
        <p:spPr>
          <a:xfrm>
            <a:off x="4340352" y="2176272"/>
            <a:ext cx="3480816" cy="13716"/>
          </a:xfrm>
          <a:prstGeom prst="rect">
            <a:avLst/>
          </a:prstGeom>
          <a:solidFill>
            <a:srgbClr val="D8DDE0"/>
          </a:solidFill>
          <a:ln/>
        </p:spPr>
      </p:sp>
      <p:sp>
        <p:nvSpPr>
          <p:cNvPr id="9" name="Text 7"/>
          <p:cNvSpPr/>
          <p:nvPr/>
        </p:nvSpPr>
        <p:spPr>
          <a:xfrm>
            <a:off x="4340352" y="2331720"/>
            <a:ext cx="3480816" cy="3291840"/>
          </a:xfrm>
          <a:prstGeom prst="rect">
            <a:avLst/>
          </a:prstGeom>
          <a:noFill/>
          <a:ln/>
        </p:spPr>
        <p:txBody>
          <a:bodyPr wrap="square" lIns="0" tIns="0" rIns="0" bIns="0" rtlCol="0" anchor="t"/>
          <a:lstStyle/>
          <a:p>
            <a:pPr indent="0" marL="0">
              <a:spcAft>
                <a:spcPts val="1100"/>
              </a:spcAft>
              <a:buNone/>
            </a:pPr>
            <a:r>
              <a:rPr lang="en-US" sz="1200" dirty="0">
                <a:solidFill>
                  <a:srgbClr val="5A646E"/>
                </a:solidFill>
                <a:latin typeface="Calibri" pitchFamily="34" charset="0"/>
                <a:ea typeface="Calibri" pitchFamily="34" charset="-122"/>
                <a:cs typeface="Calibri" pitchFamily="34" charset="-120"/>
              </a:rPr>
              <a:t>https://www.itl.nist.gov/div898/handbook/eda/eda.htm</a:t>
            </a:r>
            <a:endParaRPr lang="en-US" sz="1200" dirty="0"/>
          </a:p>
          <a:p>
            <a:pPr indent="0" marL="0">
              <a:spcAft>
                <a:spcPts val="1100"/>
              </a:spcAft>
              <a:buNone/>
            </a:pPr>
            <a:r>
              <a:rPr lang="en-US" sz="1200" dirty="0">
                <a:solidFill>
                  <a:srgbClr val="5A646E"/>
                </a:solidFill>
                <a:latin typeface="Calibri" pitchFamily="34" charset="0"/>
                <a:ea typeface="Calibri" pitchFamily="34" charset="-122"/>
                <a:cs typeface="Calibri" pitchFamily="34" charset="-120"/>
              </a:rPr>
              <a:t>https://greenteapress.com/wp/think-stats-2e/</a:t>
            </a:r>
            <a:endParaRPr lang="en-US" sz="1200" dirty="0"/>
          </a:p>
          <a:p>
            <a:pPr indent="0" marL="0">
              <a:spcAft>
                <a:spcPts val="1100"/>
              </a:spcAft>
              <a:buNone/>
            </a:pPr>
            <a:r>
              <a:rPr lang="en-US" sz="1200" dirty="0">
                <a:solidFill>
                  <a:srgbClr val="5A646E"/>
                </a:solidFill>
                <a:latin typeface="Calibri" pitchFamily="34" charset="0"/>
                <a:ea typeface="Calibri" pitchFamily="34" charset="-122"/>
                <a:cs typeface="Calibri" pitchFamily="34" charset="-120"/>
              </a:rPr>
              <a:t>https://inferentialthinking.com/</a:t>
            </a:r>
            <a:endParaRPr lang="en-US" sz="1200" dirty="0"/>
          </a:p>
          <a:p>
            <a:pPr indent="0" marL="0">
              <a:spcAft>
                <a:spcPts val="1100"/>
              </a:spcAft>
              <a:buNone/>
            </a:pPr>
            <a:r>
              <a:rPr lang="en-US" sz="1200" dirty="0">
                <a:solidFill>
                  <a:srgbClr val="5A646E"/>
                </a:solidFill>
                <a:latin typeface="Calibri" pitchFamily="34" charset="0"/>
                <a:ea typeface="Calibri" pitchFamily="34" charset="-122"/>
                <a:cs typeface="Calibri" pitchFamily="34" charset="-120"/>
              </a:rPr>
              <a:t>https://ocw.mit.edu/courses/6-0002-introduction-to-computational-thinking-and-data-science-fall-2016/</a:t>
            </a:r>
            <a:endParaRPr lang="en-US" sz="1200" dirty="0"/>
          </a:p>
        </p:txBody>
      </p:sp>
      <p:sp>
        <p:nvSpPr>
          <p:cNvPr id="10" name="Text 8"/>
          <p:cNvSpPr/>
          <p:nvPr/>
        </p:nvSpPr>
        <p:spPr>
          <a:xfrm>
            <a:off x="8113776" y="1783080"/>
            <a:ext cx="3480816" cy="365760"/>
          </a:xfrm>
          <a:prstGeom prst="rect">
            <a:avLst/>
          </a:prstGeom>
          <a:noFill/>
          <a:ln/>
        </p:spPr>
        <p:txBody>
          <a:bodyPr wrap="square" lIns="0" tIns="0" rIns="0" bIns="0" rtlCol="0" anchor="ctr"/>
          <a:lstStyle/>
          <a:p>
            <a:pPr indent="0" marL="0">
              <a:buNone/>
            </a:pPr>
            <a:r>
              <a:rPr lang="en-US" sz="1400" b="1" dirty="0">
                <a:solidFill>
                  <a:srgbClr val="2A4F68"/>
                </a:solidFill>
                <a:latin typeface="Calibri" pitchFamily="34" charset="0"/>
                <a:ea typeface="Calibri" pitchFamily="34" charset="-122"/>
                <a:cs typeface="Calibri" pitchFamily="34" charset="-120"/>
              </a:rPr>
              <a:t>In the course</a:t>
            </a:r>
            <a:endParaRPr lang="en-US" sz="1400" dirty="0"/>
          </a:p>
        </p:txBody>
      </p:sp>
      <p:sp>
        <p:nvSpPr>
          <p:cNvPr id="11" name="Shape 9"/>
          <p:cNvSpPr/>
          <p:nvPr/>
        </p:nvSpPr>
        <p:spPr>
          <a:xfrm>
            <a:off x="8113776" y="2176272"/>
            <a:ext cx="3480816" cy="13716"/>
          </a:xfrm>
          <a:prstGeom prst="rect">
            <a:avLst/>
          </a:prstGeom>
          <a:solidFill>
            <a:srgbClr val="D8DDE0"/>
          </a:solidFill>
          <a:ln/>
        </p:spPr>
      </p:sp>
      <p:sp>
        <p:nvSpPr>
          <p:cNvPr id="12" name="Text 10"/>
          <p:cNvSpPr/>
          <p:nvPr/>
        </p:nvSpPr>
        <p:spPr>
          <a:xfrm>
            <a:off x="8113776" y="2331720"/>
            <a:ext cx="3480816" cy="3291840"/>
          </a:xfrm>
          <a:prstGeom prst="rect">
            <a:avLst/>
          </a:prstGeom>
          <a:noFill/>
          <a:ln/>
        </p:spPr>
        <p:txBody>
          <a:bodyPr wrap="square" lIns="0" tIns="0" rIns="0" bIns="0" rtlCol="0" anchor="t"/>
          <a:lstStyle/>
          <a:p>
            <a:pPr indent="0" marL="0">
              <a:spcAft>
                <a:spcPts val="1100"/>
              </a:spcAft>
              <a:buNone/>
            </a:pPr>
            <a:r>
              <a:rPr lang="en-US" sz="1200" dirty="0">
                <a:solidFill>
                  <a:srgbClr val="5A646E"/>
                </a:solidFill>
                <a:latin typeface="Calibri" pitchFamily="34" charset="0"/>
                <a:ea typeface="Calibri" pitchFamily="34" charset="-122"/>
                <a:cs typeface="Calibri" pitchFamily="34" charset="-120"/>
              </a:rPr>
              <a:t>Slides: DATA209_Module_1_Statistical_and_Data_Foundations.pptx, pages 4–19</a:t>
            </a:r>
            <a:endParaRPr lang="en-US" sz="1200" dirty="0"/>
          </a:p>
          <a:p>
            <a:pPr indent="0" marL="0">
              <a:spcAft>
                <a:spcPts val="1100"/>
              </a:spcAft>
              <a:buNone/>
            </a:pPr>
            <a:r>
              <a:rPr lang="en-US" sz="1200" dirty="0">
                <a:solidFill>
                  <a:srgbClr val="5A646E"/>
                </a:solidFill>
                <a:latin typeface="Calibri" pitchFamily="34" charset="0"/>
                <a:ea typeface="Calibri" pitchFamily="34" charset="-122"/>
                <a:cs typeface="Calibri" pitchFamily="34" charset="-120"/>
              </a:rPr>
              <a:t>Laboratory: P1-2</a:t>
            </a:r>
            <a:endParaRPr lang="en-US" sz="1200" dirty="0"/>
          </a:p>
          <a:p>
            <a:pPr indent="0" marL="0">
              <a:spcAft>
                <a:spcPts val="1100"/>
              </a:spcAft>
              <a:buNone/>
            </a:pPr>
            <a:r>
              <a:rPr lang="en-US" sz="1200" dirty="0">
                <a:solidFill>
                  <a:srgbClr val="5A646E"/>
                </a:solidFill>
                <a:latin typeface="Calibri" pitchFamily="34" charset="0"/>
                <a:ea typeface="Calibri" pitchFamily="34" charset="-122"/>
                <a:cs typeface="Calibri" pitchFamily="34" charset="-120"/>
              </a:rPr>
              <a:t>Lecture notes PDF and Word document</a:t>
            </a:r>
            <a:endParaRPr lang="en-US" sz="1200" dirty="0"/>
          </a:p>
          <a:p>
            <a:pPr indent="0" marL="0">
              <a:spcAft>
                <a:spcPts val="1100"/>
              </a:spcAft>
              <a:buNone/>
            </a:pPr>
            <a:r>
              <a:rPr lang="en-US" sz="1200" dirty="0">
                <a:solidFill>
                  <a:srgbClr val="5A646E"/>
                </a:solidFill>
                <a:latin typeface="Calibri" pitchFamily="34" charset="0"/>
                <a:ea typeface="Calibri" pitchFamily="34" charset="-122"/>
                <a:cs typeface="Calibri" pitchFamily="34" charset="-120"/>
              </a:rPr>
              <a:t>Complete notes booklet</a:t>
            </a:r>
            <a:endParaRPr lang="en-US" sz="1200" dirty="0"/>
          </a:p>
        </p:txBody>
      </p:sp>
      <p:sp>
        <p:nvSpPr>
          <p:cNvPr id="13" name="Text 11"/>
          <p:cNvSpPr/>
          <p:nvPr/>
        </p:nvSpPr>
        <p:spPr>
          <a:xfrm>
            <a:off x="566928" y="6437376"/>
            <a:ext cx="6400800" cy="256032"/>
          </a:xfrm>
          <a:prstGeom prst="rect">
            <a:avLst/>
          </a:prstGeom>
          <a:noFill/>
          <a:ln/>
        </p:spPr>
        <p:txBody>
          <a:bodyPr wrap="square" lIns="0" tIns="0" rIns="0" bIns="0" rtlCol="0" anchor="ctr"/>
          <a:lstStyle/>
          <a:p>
            <a:pPr algn="l" indent="0" marL="0">
              <a:buNone/>
            </a:pPr>
            <a:r>
              <a:rPr lang="en-US" sz="900" dirty="0">
                <a:solidFill>
                  <a:srgbClr val="8B9199"/>
                </a:solidFill>
                <a:latin typeface="Calibri" pitchFamily="34" charset="0"/>
                <a:ea typeface="Calibri" pitchFamily="34" charset="-122"/>
                <a:cs typeface="Calibri" pitchFamily="34" charset="-120"/>
              </a:rPr>
              <a:t>DATA209 · Module 1 — L1-2 The role of EDA, and robust statistics</a:t>
            </a:r>
            <a:endParaRPr lang="en-US" sz="900" dirty="0"/>
          </a:p>
        </p:txBody>
      </p:sp>
      <p:sp>
        <p:nvSpPr>
          <p:cNvPr id="14" name="Text 12"/>
          <p:cNvSpPr/>
          <p:nvPr/>
        </p:nvSpPr>
        <p:spPr>
          <a:xfrm>
            <a:off x="10954512" y="6437376"/>
            <a:ext cx="640080" cy="256032"/>
          </a:xfrm>
          <a:prstGeom prst="rect">
            <a:avLst/>
          </a:prstGeom>
          <a:noFill/>
          <a:ln/>
        </p:spPr>
        <p:txBody>
          <a:bodyPr wrap="square" lIns="0" tIns="0" rIns="0" bIns="0" rtlCol="0" anchor="ctr"/>
          <a:lstStyle/>
          <a:p>
            <a:pPr algn="r" indent="0" marL="0">
              <a:buNone/>
            </a:pPr>
            <a:r>
              <a:rPr lang="en-US" sz="900" dirty="0">
                <a:solidFill>
                  <a:srgbClr val="8B9199"/>
                </a:solidFill>
                <a:latin typeface="Courier New" pitchFamily="34" charset="0"/>
                <a:ea typeface="Courier New" pitchFamily="34" charset="-122"/>
                <a:cs typeface="Courier New"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2A4F68"/>
        </a:solidFill>
      </p:bgPr>
    </p:bg>
    <p:spTree>
      <p:nvGrpSpPr>
        <p:cNvPr id="1" name=""/>
        <p:cNvGrpSpPr/>
        <p:nvPr/>
      </p:nvGrpSpPr>
      <p:grpSpPr>
        <a:xfrm>
          <a:off x="0" y="0"/>
          <a:ext cx="0" cy="0"/>
          <a:chOff x="0" y="0"/>
          <a:chExt cx="0" cy="0"/>
        </a:xfrm>
      </p:grpSpPr>
      <p:sp>
        <p:nvSpPr>
          <p:cNvPr id="2" name="Text 0"/>
          <p:cNvSpPr/>
          <p:nvPr/>
        </p:nvSpPr>
        <p:spPr>
          <a:xfrm>
            <a:off x="566928" y="658368"/>
            <a:ext cx="11027664" cy="731520"/>
          </a:xfrm>
          <a:prstGeom prst="rect">
            <a:avLst/>
          </a:prstGeom>
          <a:noFill/>
          <a:ln/>
        </p:spPr>
        <p:txBody>
          <a:bodyPr wrap="square" lIns="0" tIns="0" rIns="0" bIns="0" rtlCol="0" anchor="t"/>
          <a:lstStyle/>
          <a:p>
            <a:pPr indent="0" marL="0">
              <a:buNone/>
            </a:pPr>
            <a:r>
              <a:rPr lang="en-US" sz="3200" b="1" dirty="0">
                <a:solidFill>
                  <a:srgbClr val="FFFFFF"/>
                </a:solidFill>
                <a:latin typeface="Cambria" pitchFamily="34" charset="0"/>
                <a:ea typeface="Cambria" pitchFamily="34" charset="-122"/>
                <a:cs typeface="Cambria" pitchFamily="34" charset="-120"/>
              </a:rPr>
              <a:t>L1-2 — test yourself</a:t>
            </a:r>
            <a:endParaRPr lang="en-US" sz="3200" dirty="0"/>
          </a:p>
        </p:txBody>
      </p:sp>
      <p:sp>
        <p:nvSpPr>
          <p:cNvPr id="3" name="Text 1"/>
          <p:cNvSpPr/>
          <p:nvPr/>
        </p:nvSpPr>
        <p:spPr>
          <a:xfrm>
            <a:off x="566928" y="1417320"/>
            <a:ext cx="11027664" cy="329184"/>
          </a:xfrm>
          <a:prstGeom prst="rect">
            <a:avLst/>
          </a:prstGeom>
          <a:noFill/>
          <a:ln/>
        </p:spPr>
        <p:txBody>
          <a:bodyPr wrap="square" lIns="0" tIns="0" rIns="0" bIns="0" rtlCol="0" anchor="ctr"/>
          <a:lstStyle/>
          <a:p>
            <a:pPr indent="0" marL="0">
              <a:buNone/>
            </a:pPr>
            <a:r>
              <a:rPr lang="en-US" sz="1400" dirty="0">
                <a:solidFill>
                  <a:srgbClr val="AEBAC2"/>
                </a:solidFill>
                <a:latin typeface="Calibri" pitchFamily="34" charset="0"/>
                <a:ea typeface="Calibri" pitchFamily="34" charset="-122"/>
                <a:cs typeface="Calibri" pitchFamily="34" charset="-120"/>
              </a:rPr>
              <a:t>You should now be able to:</a:t>
            </a:r>
            <a:endParaRPr lang="en-US" sz="1400" dirty="0"/>
          </a:p>
        </p:txBody>
      </p:sp>
      <p:sp>
        <p:nvSpPr>
          <p:cNvPr id="4" name="Text 2"/>
          <p:cNvSpPr/>
          <p:nvPr/>
        </p:nvSpPr>
        <p:spPr>
          <a:xfrm>
            <a:off x="566928" y="1874520"/>
            <a:ext cx="5239512" cy="3657600"/>
          </a:xfrm>
          <a:prstGeom prst="rect">
            <a:avLst/>
          </a:prstGeom>
          <a:noFill/>
          <a:ln/>
        </p:spPr>
        <p:txBody>
          <a:bodyPr wrap="square" lIns="0" tIns="0" rIns="0" bIns="0" rtlCol="0" anchor="t"/>
          <a:lstStyle/>
          <a:p>
            <a:pPr marL="228600" indent="-228600">
              <a:spcAft>
                <a:spcPts val="1200"/>
              </a:spcAft>
              <a:buSzPct val="100000"/>
              <a:buChar char="•"/>
            </a:pPr>
            <a:r>
              <a:rPr lang="en-US" sz="1450" dirty="0">
                <a:solidFill>
                  <a:srgbClr val="E2E7EA"/>
                </a:solidFill>
                <a:latin typeface="Calibri" pitchFamily="34" charset="0"/>
                <a:ea typeface="Calibri" pitchFamily="34" charset="-122"/>
                <a:cs typeface="Calibri" pitchFamily="34" charset="-120"/>
              </a:rPr>
              <a:t>Give a variable for which the mode is the only meaningful measure of position.</a:t>
            </a:r>
            <a:endParaRPr lang="en-US" sz="1450" dirty="0"/>
          </a:p>
          <a:p>
            <a:pPr marL="228600" indent="-228600">
              <a:spcAft>
                <a:spcPts val="1200"/>
              </a:spcAft>
              <a:buSzPct val="100000"/>
              <a:buChar char="•"/>
            </a:pPr>
            <a:r>
              <a:rPr lang="en-US" sz="1450" dirty="0">
                <a:solidFill>
                  <a:srgbClr val="E2E7EA"/>
                </a:solidFill>
                <a:latin typeface="Calibri" pitchFamily="34" charset="0"/>
                <a:ea typeface="Calibri" pitchFamily="34" charset="-122"/>
                <a:cs typeface="Calibri" pitchFamily="34" charset="-120"/>
              </a:rPr>
              <a:t>A dataset has mean 40 and median 12. Sketch the distribution and name the summary you would report.</a:t>
            </a:r>
            <a:endParaRPr lang="en-US" sz="1450" dirty="0"/>
          </a:p>
        </p:txBody>
      </p:sp>
      <p:sp>
        <p:nvSpPr>
          <p:cNvPr id="5" name="Text 3"/>
          <p:cNvSpPr/>
          <p:nvPr/>
        </p:nvSpPr>
        <p:spPr>
          <a:xfrm>
            <a:off x="6263640" y="1874520"/>
            <a:ext cx="5239512" cy="3657600"/>
          </a:xfrm>
          <a:prstGeom prst="rect">
            <a:avLst/>
          </a:prstGeom>
          <a:noFill/>
          <a:ln/>
        </p:spPr>
        <p:txBody>
          <a:bodyPr wrap="square" lIns="0" tIns="0" rIns="0" bIns="0" rtlCol="0" anchor="t"/>
          <a:lstStyle/>
          <a:p>
            <a:pPr marL="228600" indent="-228600">
              <a:spcAft>
                <a:spcPts val="1200"/>
              </a:spcAft>
              <a:buSzPct val="100000"/>
              <a:buChar char="•"/>
            </a:pPr>
            <a:r>
              <a:rPr lang="en-US" sz="1450" dirty="0">
                <a:solidFill>
                  <a:srgbClr val="E2E7EA"/>
                </a:solidFill>
                <a:latin typeface="Calibri" pitchFamily="34" charset="0"/>
                <a:ea typeface="Calibri" pitchFamily="34" charset="-122"/>
                <a:cs typeface="Calibri" pitchFamily="34" charset="-120"/>
              </a:rPr>
              <a:t>Why does increasing the sample size not fix selection bias?</a:t>
            </a:r>
            <a:endParaRPr lang="en-US" sz="1450" dirty="0"/>
          </a:p>
          <a:p>
            <a:pPr marL="228600" indent="-228600">
              <a:spcAft>
                <a:spcPts val="1200"/>
              </a:spcAft>
              <a:buSzPct val="100000"/>
              <a:buChar char="•"/>
            </a:pPr>
            <a:r>
              <a:rPr lang="en-US" sz="1450" dirty="0">
                <a:solidFill>
                  <a:srgbClr val="E2E7EA"/>
                </a:solidFill>
                <a:latin typeface="Calibri" pitchFamily="34" charset="0"/>
                <a:ea typeface="Calibri" pitchFamily="34" charset="-122"/>
                <a:cs typeface="Calibri" pitchFamily="34" charset="-120"/>
              </a:rPr>
              <a:t>Q3 − Q2 = 5 and Q2 − Q1 = 18. Which way does the distribution lean?</a:t>
            </a:r>
            <a:endParaRPr lang="en-US" sz="14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Vidyashilp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DATA209 Module 1 — L1-2 The role of EDA, and robust statistics</dc:title>
  <dc:subject>Advanced Exploratory Data Analysis</dc:subject>
  <dc:creator>Dr. Shital Bhatt</dc:creator>
  <cp:lastModifiedBy>Dr. Shital Bhatt</cp:lastModifiedBy>
  <cp:revision>1</cp:revision>
  <dcterms:created xsi:type="dcterms:W3CDTF">2026-07-30T10:03:28Z</dcterms:created>
  <dcterms:modified xsi:type="dcterms:W3CDTF">2026-07-30T10:03:28Z</dcterms:modified>
</cp:coreProperties>
</file>