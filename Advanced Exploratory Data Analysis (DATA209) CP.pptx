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1890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B365D"/>
          </a:solidFill>
          <a:ln/>
        </p:spPr>
      </p:sp>
      <p:sp>
        <p:nvSpPr>
          <p:cNvPr id="3" name="Text 1"/>
          <p:cNvSpPr/>
          <p:nvPr/>
        </p:nvSpPr>
        <p:spPr>
          <a:xfrm>
            <a:off x="914400" y="2286000"/>
            <a:ext cx="10360152" cy="1371600"/>
          </a:xfrm>
          <a:prstGeom prst="rect">
            <a:avLst/>
          </a:prstGeom>
          <a:noFill/>
          <a:ln/>
        </p:spPr>
        <p:txBody>
          <a:bodyPr wrap="square" rtlCol="0" anchor="ctr"/>
          <a:lstStyle/>
          <a:p>
            <a:pPr marL="0" indent="0" algn="ctr">
              <a:buNone/>
            </a:pPr>
            <a:r>
              <a:rPr lang="en-US" sz="3600" b="1" dirty="0">
                <a:solidFill>
                  <a:srgbClr val="1B365D"/>
                </a:solidFill>
                <a:latin typeface="Georgia" pitchFamily="34" charset="0"/>
                <a:ea typeface="Georgia" pitchFamily="34" charset="-122"/>
                <a:cs typeface="Georgia" pitchFamily="34" charset="-120"/>
              </a:rPr>
              <a:t>DATA209: Advanced Exploratory Data Analysis</a:t>
            </a:r>
            <a:endParaRPr lang="en-US" sz="3600" dirty="0"/>
          </a:p>
        </p:txBody>
      </p:sp>
      <p:sp>
        <p:nvSpPr>
          <p:cNvPr id="4" name="Text 2"/>
          <p:cNvSpPr/>
          <p:nvPr/>
        </p:nvSpPr>
        <p:spPr>
          <a:xfrm>
            <a:off x="1371600" y="3749040"/>
            <a:ext cx="9445752" cy="1371600"/>
          </a:xfrm>
          <a:prstGeom prst="rect">
            <a:avLst/>
          </a:prstGeom>
          <a:noFill/>
          <a:ln/>
        </p:spPr>
        <p:txBody>
          <a:bodyPr wrap="square" rtlCol="0" anchor="t"/>
          <a:lstStyle/>
          <a:p>
            <a:pPr marL="0" indent="0" algn="ctr">
              <a:lnSpc>
                <a:spcPct val="130000"/>
              </a:lnSpc>
              <a:spcAft>
                <a:spcPts val="600"/>
              </a:spcAft>
              <a:buNone/>
            </a:pPr>
            <a:r>
              <a:rPr lang="en-US" sz="1800" dirty="0">
                <a:solidFill>
                  <a:srgbClr val="718096"/>
                </a:solidFill>
                <a:latin typeface="Arial" pitchFamily="34" charset="0"/>
                <a:ea typeface="Arial" pitchFamily="34" charset="-122"/>
                <a:cs typeface="Arial" pitchFamily="34" charset="-120"/>
              </a:rPr>
              <a:t>BTech Hons Data Science | School of Engineering and Technology</a:t>
            </a:r>
            <a:endParaRPr lang="en-US" sz="1800" dirty="0"/>
          </a:p>
          <a:p>
            <a:pPr marL="0" indent="0" algn="ctr">
              <a:lnSpc>
                <a:spcPct val="130000"/>
              </a:lnSpc>
              <a:spcAft>
                <a:spcPts val="600"/>
              </a:spcAft>
              <a:buNone/>
            </a:pPr>
            <a:r>
              <a:rPr lang="en-US" sz="1800" dirty="0">
                <a:solidFill>
                  <a:srgbClr val="718096"/>
                </a:solidFill>
                <a:latin typeface="Arial" pitchFamily="34" charset="0"/>
                <a:ea typeface="Arial" pitchFamily="34" charset="-122"/>
                <a:cs typeface="Arial" pitchFamily="34" charset="-120"/>
              </a:rPr>
              <a:t>Semester III | 4 Credits | 2:0:4 LTP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Course Overview</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Duration:</a:t>
            </a:r>
            <a:r>
              <a:rPr lang="en-US" sz="1600" dirty="0">
                <a:solidFill>
                  <a:srgbClr val="2D3748"/>
                </a:solidFill>
                <a:latin typeface="Arial" pitchFamily="34" charset="0"/>
                <a:ea typeface="Arial" pitchFamily="34" charset="-122"/>
                <a:cs typeface="Arial" pitchFamily="34" charset="-120"/>
              </a:rPr>
              <a:t> 15 weeks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Contact Hours:</a:t>
            </a:r>
            <a:r>
              <a:rPr lang="en-US" sz="1600" dirty="0">
                <a:solidFill>
                  <a:srgbClr val="2D3748"/>
                </a:solidFill>
                <a:latin typeface="Arial" pitchFamily="34" charset="0"/>
                <a:ea typeface="Arial" pitchFamily="34" charset="-122"/>
                <a:cs typeface="Arial" pitchFamily="34" charset="-120"/>
              </a:rPr>
              <a:t> 6 hours per week (2 lecture + 4 practical)</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Total Credits:</a:t>
            </a:r>
            <a:r>
              <a:rPr lang="en-US" sz="1600" dirty="0">
                <a:solidFill>
                  <a:srgbClr val="2D3748"/>
                </a:solidFill>
                <a:latin typeface="Arial" pitchFamily="34" charset="0"/>
                <a:ea typeface="Arial" pitchFamily="34" charset="-122"/>
                <a:cs typeface="Arial" pitchFamily="34" charset="-120"/>
              </a:rPr>
              <a:t> 4 (2:0:4 LTP)</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Prerequisites:</a:t>
            </a:r>
            <a:r>
              <a:rPr lang="en-US" sz="1600" dirty="0">
                <a:solidFill>
                  <a:srgbClr val="2D3748"/>
                </a:solidFill>
                <a:latin typeface="Arial" pitchFamily="34" charset="0"/>
                <a:ea typeface="Arial" pitchFamily="34" charset="-122"/>
                <a:cs typeface="Arial" pitchFamily="34" charset="-120"/>
              </a:rPr>
              <a:t> </a:t>
            </a:r>
            <a:r>
              <a:rPr lang="en-US" dirty="0"/>
              <a:t>Data Visualization and story Telling (DATA132), Probability </a:t>
            </a:r>
            <a:r>
              <a:rPr lang="en-IN" dirty="0"/>
              <a:t>and </a:t>
            </a:r>
            <a:r>
              <a:rPr lang="en-US" dirty="0"/>
              <a:t>Statistics </a:t>
            </a:r>
            <a:r>
              <a:rPr lang="en-IN" dirty="0"/>
              <a:t>(</a:t>
            </a:r>
            <a:r>
              <a:rPr lang="en-US" dirty="0"/>
              <a:t>MATH203)</a:t>
            </a:r>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Target Audience:</a:t>
            </a:r>
            <a:r>
              <a:rPr lang="en-US" sz="1600" dirty="0">
                <a:solidFill>
                  <a:srgbClr val="2D3748"/>
                </a:solidFill>
                <a:latin typeface="Arial" pitchFamily="34" charset="0"/>
                <a:ea typeface="Arial" pitchFamily="34" charset="-122"/>
                <a:cs typeface="Arial" pitchFamily="34" charset="-120"/>
              </a:rPr>
              <a:t> BTech Hons Data Science students (Semester III)</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Teaching Mode:</a:t>
            </a:r>
            <a:r>
              <a:rPr lang="en-US" sz="1600" dirty="0">
                <a:solidFill>
                  <a:srgbClr val="2D3748"/>
                </a:solidFill>
                <a:latin typeface="Arial" pitchFamily="34" charset="0"/>
                <a:ea typeface="Arial" pitchFamily="34" charset="-122"/>
                <a:cs typeface="Arial" pitchFamily="34" charset="-120"/>
              </a:rPr>
              <a:t> Blended (classroom + hands-on lab sessions)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Course Description &amp; Objectives</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Course Aim:</a:t>
            </a:r>
            <a:endParaRPr lang="en-US" sz="1600" dirty="0"/>
          </a:p>
          <a:p>
            <a:pPr marL="0" indent="0">
              <a:lnSpc>
                <a:spcPct val="130000"/>
              </a:lnSpc>
              <a:spcAft>
                <a:spcPts val="600"/>
              </a:spcAft>
              <a:buNone/>
            </a:pPr>
            <a:r>
              <a:rPr lang="en-US" sz="1600" dirty="0">
                <a:solidFill>
                  <a:srgbClr val="2D3748"/>
                </a:solidFill>
                <a:latin typeface="Arial" pitchFamily="34" charset="0"/>
                <a:ea typeface="Arial" pitchFamily="34" charset="-122"/>
                <a:cs typeface="Arial" pitchFamily="34" charset="-120"/>
              </a:rPr>
              <a:t>Advanced Exploratory Data Analysis (EDA) equips students with sophisticated techniques to uncover patterns, relationships, and insights from complex datasets. This course bridges foundational data science with advanced analytical methodologies, emphasizing practical application in real-world scenarios.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Learning Objectives: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Master statistical foundations and EDA lifecycle frameworks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Apply multivariate analysis and correlation studies for pattern discovery</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Implement data quality engineering and anomaly detection techniques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Design and execute feature engineering and transformation pipelines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Develop critical thinking in exploratory analysis and decision-making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Program Outcomes Alignment</a:t>
            </a:r>
            <a:endParaRPr lang="en-US" sz="2400" dirty="0"/>
          </a:p>
        </p:txBody>
      </p:sp>
      <p:sp>
        <p:nvSpPr>
          <p:cNvPr id="3" name="Shape 1"/>
          <p:cNvSpPr/>
          <p:nvPr/>
        </p:nvSpPr>
        <p:spPr>
          <a:xfrm>
            <a:off x="548640" y="1005840"/>
            <a:ext cx="1828800" cy="36576"/>
          </a:xfrm>
          <a:prstGeom prst="rect">
            <a:avLst/>
          </a:prstGeom>
          <a:solidFill>
            <a:srgbClr val="C9A96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0972800" cy="4517136"/>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47472">
                <a:tc>
                  <a:txBody>
                    <a:bodyPr/>
                    <a:lstStyle/>
                    <a:p>
                      <a:pPr marL="0" indent="0">
                        <a:buNone/>
                      </a:pPr>
                      <a:r>
                        <a:rPr lang="en-US" sz="1600" b="1" dirty="0">
                          <a:solidFill>
                            <a:srgbClr val="FFFFFF"/>
                          </a:solidFill>
                          <a:latin typeface="Arial" pitchFamily="34" charset="0"/>
                          <a:ea typeface="Arial" pitchFamily="34" charset="-122"/>
                          <a:cs typeface="Arial" pitchFamily="34" charset="-120"/>
                        </a:rPr>
                        <a:t>Program Outcome</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Description</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Course Mapping</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PO1</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Engineering Knowledge</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CO1, CO2</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PO2</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Problem Analysis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CO2, CO3</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2"/>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PO3</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Design/Development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CO4</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PO4</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Investigation</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CO1, CO2, CO3</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4"/>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PO5</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Modern Tool Usage</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CO1, CO2, CO3, CO4</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PO6</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Engineer &amp; Society</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CO2</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6"/>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PO7</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Environment &amp; Sustainability</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CO3</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PO8</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Ethics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CO3</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8"/>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PO9</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Individual &amp; Team Work</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All COs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PO10</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Communication</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All COs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10"/>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PO11</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Project Management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CO4</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PO12</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Lifelong Learning</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All COs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Course Outcomes (CO1–CO4)</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CO1: Statistical &amp; Data Foundations for EDA</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Understand statistical fundamentals and EDA lifecycle</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Apply descriptive statistics and distribution analysis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CO2: Core Advanced EDA</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Perform multivariate analysis and correlation studies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Discover patterns and relationships in complex datasets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CO3: Data Quality Engineering &amp; Anomaly Management</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Conduct data profiling and quality assessment</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Detect and handle outliers and anomalies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CO4: Feature Engineering, Transformation &amp; Analytical Structure</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Extract and engineer meaningful features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Transform and scale data for analytical models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Module 1: Statistical &amp; Data Foundations for EDA</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Course Outcome:</a:t>
            </a:r>
            <a:r>
              <a:rPr lang="en-US" sz="1600" dirty="0">
                <a:solidFill>
                  <a:srgbClr val="2D3748"/>
                </a:solidFill>
                <a:latin typeface="Arial" pitchFamily="34" charset="0"/>
                <a:ea typeface="Arial" pitchFamily="34" charset="-122"/>
                <a:cs typeface="Arial" pitchFamily="34" charset="-120"/>
              </a:rPr>
              <a:t> CO1</a:t>
            </a:r>
            <a:endParaRPr lang="en-US" sz="1600" dirty="0"/>
          </a:p>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Duration:</a:t>
            </a:r>
            <a:r>
              <a:rPr lang="en-US" sz="1600" dirty="0">
                <a:solidFill>
                  <a:srgbClr val="2D3748"/>
                </a:solidFill>
                <a:latin typeface="Arial" pitchFamily="34" charset="0"/>
                <a:ea typeface="Arial" pitchFamily="34" charset="-122"/>
                <a:cs typeface="Arial" pitchFamily="34" charset="-120"/>
              </a:rPr>
              <a:t> 6 Lectures + 3 Practicals (Weeks 1–3)</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Key Topics: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Fundamentals of statistics: probability, distributions, hypothesis testing</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EDA lifecycle and workflow frameworks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Descriptive statistics: measures of central tendency, dispersion, skewness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visualization fundamentals (histograms, box plots, scatter plots)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Statistical software tools and Python libraries (NumPy, Pandas, Matplotlib)</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Practical Activities: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loading and initial exploration using Python</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Descriptive statistical analysis on real datasets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Creating publication-quality visualizations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Module 2: Core Advanced EDA</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Course Outcome:</a:t>
            </a:r>
            <a:r>
              <a:rPr lang="en-US" sz="1600" dirty="0">
                <a:solidFill>
                  <a:srgbClr val="2D3748"/>
                </a:solidFill>
                <a:latin typeface="Arial" pitchFamily="34" charset="0"/>
                <a:ea typeface="Arial" pitchFamily="34" charset="-122"/>
                <a:cs typeface="Arial" pitchFamily="34" charset="-120"/>
              </a:rPr>
              <a:t> CO2</a:t>
            </a:r>
            <a:endParaRPr lang="en-US" sz="1600" dirty="0"/>
          </a:p>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Duration:</a:t>
            </a:r>
            <a:r>
              <a:rPr lang="en-US" sz="1600" dirty="0">
                <a:solidFill>
                  <a:srgbClr val="2D3748"/>
                </a:solidFill>
                <a:latin typeface="Arial" pitchFamily="34" charset="0"/>
                <a:ea typeface="Arial" pitchFamily="34" charset="-122"/>
                <a:cs typeface="Arial" pitchFamily="34" charset="-120"/>
              </a:rPr>
              <a:t> 8 Lectures + 4 Practicals (Weeks 4–7)</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Key Topics: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Multivariate analysis techniques (PCA, clustering)</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Correlation and covariance analysis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Dimensionality reduction methods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Pattern discovery and relationship identification</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Advanced visualization: heatmaps, pair plots, 3D visualizations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Temporal and categorical data analysis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Practical Activities: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Correlation matrix analysis and visualization</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Principal Component Analysis (PCA) implementation</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Clustering and pattern discovery on multivariate datasets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Case studies: real-world dataset exploration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Module 3: Data Quality Engineering &amp; Anomaly Management</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Course Outcome:</a:t>
            </a:r>
            <a:r>
              <a:rPr lang="en-US" sz="1600" dirty="0">
                <a:solidFill>
                  <a:srgbClr val="2D3748"/>
                </a:solidFill>
                <a:latin typeface="Arial" pitchFamily="34" charset="0"/>
                <a:ea typeface="Arial" pitchFamily="34" charset="-122"/>
                <a:cs typeface="Arial" pitchFamily="34" charset="-120"/>
              </a:rPr>
              <a:t> CO3</a:t>
            </a:r>
            <a:endParaRPr lang="en-US" sz="1600" dirty="0"/>
          </a:p>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Duration:</a:t>
            </a:r>
            <a:r>
              <a:rPr lang="en-US" sz="1600" dirty="0">
                <a:solidFill>
                  <a:srgbClr val="2D3748"/>
                </a:solidFill>
                <a:latin typeface="Arial" pitchFamily="34" charset="0"/>
                <a:ea typeface="Arial" pitchFamily="34" charset="-122"/>
                <a:cs typeface="Arial" pitchFamily="34" charset="-120"/>
              </a:rPr>
              <a:t> 8 Lectures + 4 Practicals (Weeks 8–11)</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Key Topics: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profiling and quality assessment frameworks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Missing data patterns and imputation strategies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Outlier detection methods (statistical, distance-based, isolation forests)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validation and integrity checks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cleansing pipelines and best practices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Handling imbalanced and biased datasets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Practical Activities: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Data quality audits on real datasets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Implementing outlier detection algorithms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Building automated data cleansing workflows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Documenting data quality issues and remediation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Module 4: Feature Engineering, Transformation &amp; Analytical Structure</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Course Outcome:</a:t>
            </a:r>
            <a:r>
              <a:rPr lang="en-US" sz="1600" dirty="0">
                <a:solidFill>
                  <a:srgbClr val="2D3748"/>
                </a:solidFill>
                <a:latin typeface="Arial" pitchFamily="34" charset="0"/>
                <a:ea typeface="Arial" pitchFamily="34" charset="-122"/>
                <a:cs typeface="Arial" pitchFamily="34" charset="-120"/>
              </a:rPr>
              <a:t> CO4</a:t>
            </a:r>
            <a:endParaRPr lang="en-US" sz="1600" dirty="0"/>
          </a:p>
          <a:p>
            <a:pPr marL="0" indent="0">
              <a:lnSpc>
                <a:spcPct val="130000"/>
              </a:lnSpc>
              <a:buNone/>
            </a:pPr>
            <a:r>
              <a:rPr lang="en-US" sz="1600" b="1" dirty="0">
                <a:solidFill>
                  <a:srgbClr val="2D3748"/>
                </a:solidFill>
                <a:latin typeface="Arial" pitchFamily="34" charset="0"/>
                <a:ea typeface="Arial" pitchFamily="34" charset="-122"/>
                <a:cs typeface="Arial" pitchFamily="34" charset="-120"/>
              </a:rPr>
              <a:t>Duration:</a:t>
            </a:r>
            <a:r>
              <a:rPr lang="en-US" sz="1600" dirty="0">
                <a:solidFill>
                  <a:srgbClr val="2D3748"/>
                </a:solidFill>
                <a:latin typeface="Arial" pitchFamily="34" charset="0"/>
                <a:ea typeface="Arial" pitchFamily="34" charset="-122"/>
                <a:cs typeface="Arial" pitchFamily="34" charset="-120"/>
              </a:rPr>
              <a:t> 8 Lectures + 4 Practicals (Weeks 12–15)</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Key Topics: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Feature extraction from raw data</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Feature scaling and normalization techniques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Categorical encoding methods (one-hot, label, target encoding)</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Feature selection and dimensionality reduction</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Domain-specific feature engineering</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Building analytical datasets for modeling</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Practical Activities: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Feature engineering pipeline development</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Scaling and encoding categorical variables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Feature importance analysis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End-to-end analytical dataset creation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Assessment Structure</a:t>
            </a:r>
            <a:endParaRPr lang="en-US" sz="2400" dirty="0"/>
          </a:p>
        </p:txBody>
      </p:sp>
      <p:sp>
        <p:nvSpPr>
          <p:cNvPr id="3" name="Shape 1"/>
          <p:cNvSpPr/>
          <p:nvPr/>
        </p:nvSpPr>
        <p:spPr>
          <a:xfrm>
            <a:off x="548640" y="1005840"/>
            <a:ext cx="1828800" cy="36576"/>
          </a:xfrm>
          <a:prstGeom prst="rect">
            <a:avLst/>
          </a:prstGeom>
          <a:solidFill>
            <a:srgbClr val="C9A962"/>
          </a:solidFill>
          <a:ln/>
        </p:spPr>
      </p:sp>
      <p:graphicFrame>
        <p:nvGraphicFramePr>
          <p:cNvPr id="11" name="Table 0"/>
          <p:cNvGraphicFramePr>
            <a:graphicFrameLocks noGrp="1"/>
          </p:cNvGraphicFramePr>
          <p:nvPr>
            <p:extLst>
              <p:ext uri="{D42A27DB-BD31-4B8C-83A1-F6EECF244321}">
                <p14:modId xmlns:p14="http://schemas.microsoft.com/office/powerpoint/2010/main" val="1512362086"/>
              </p:ext>
            </p:extLst>
          </p:nvPr>
        </p:nvGraphicFramePr>
        <p:xfrm>
          <a:off x="548640" y="1280160"/>
          <a:ext cx="10972800" cy="230124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47472">
                <a:tc>
                  <a:txBody>
                    <a:bodyPr/>
                    <a:lstStyle/>
                    <a:p>
                      <a:pPr marL="0" indent="0">
                        <a:buNone/>
                      </a:pPr>
                      <a:r>
                        <a:rPr lang="en-US" sz="1600" b="1" dirty="0">
                          <a:solidFill>
                            <a:srgbClr val="FFFFFF"/>
                          </a:solidFill>
                          <a:latin typeface="Arial" pitchFamily="34" charset="0"/>
                          <a:ea typeface="Arial" pitchFamily="34" charset="-122"/>
                          <a:cs typeface="Arial" pitchFamily="34" charset="-120"/>
                        </a:rPr>
                        <a:t>Assessment Component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Weight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Details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Laboratory Work</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10%</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Hands-on practical sessions and lab reports</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Assignment 1</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25%</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Module 1–2 concepts (weeks 1–7)</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2"/>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Assignment 2</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25%</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Module 3–4 concepts (weeks 8–14)</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Class Participation</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10%</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Engagement, discussions, peer review</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4A7FB5">
                        <a:alpha val="10000"/>
                      </a:srgbClr>
                    </a:solidFill>
                  </a:tcPr>
                </a:tc>
                <a:extLst>
                  <a:ext uri="{0D108BD9-81ED-4DB2-BD59-A6C34878D82A}">
                    <a16:rowId xmlns:a16="http://schemas.microsoft.com/office/drawing/2014/main" val="10004"/>
                  </a:ext>
                </a:extLst>
              </a:tr>
              <a:tr h="347472">
                <a:tc>
                  <a:txBody>
                    <a:bodyPr/>
                    <a:lstStyle/>
                    <a:p>
                      <a:pPr marL="0" indent="0">
                        <a:buNone/>
                      </a:pPr>
                      <a:r>
                        <a:rPr lang="en-US" sz="1600" b="1" dirty="0">
                          <a:solidFill>
                            <a:srgbClr val="2D3748"/>
                          </a:solidFill>
                          <a:latin typeface="Arial" pitchFamily="34" charset="0"/>
                          <a:ea typeface="Arial" pitchFamily="34" charset="-122"/>
                          <a:cs typeface="Arial" pitchFamily="34" charset="-120"/>
                        </a:rPr>
                        <a:t>Final Project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30%</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tc>
                  <a:txBody>
                    <a:bodyPr/>
                    <a:lstStyle/>
                    <a:p>
                      <a:pPr marL="0" indent="0">
                        <a:buNone/>
                      </a:pPr>
                      <a:r>
                        <a:rPr lang="en-US" sz="1600" dirty="0">
                          <a:solidFill>
                            <a:srgbClr val="2D3748"/>
                          </a:solidFill>
                          <a:latin typeface="Arial" pitchFamily="34" charset="0"/>
                          <a:ea typeface="Arial" pitchFamily="34" charset="-122"/>
                          <a:cs typeface="Arial" pitchFamily="34" charset="-120"/>
                        </a:rPr>
                        <a:t>Comprehensive EDA on real dataset</a:t>
                      </a:r>
                      <a:endParaRPr lang="en-US" sz="1500" dirty="0">
                        <a:latin typeface="Arial" charset="0"/>
                        <a:ea typeface="Arial" charset="0"/>
                        <a:cs typeface="Arial" charset="0"/>
                      </a:endParaRPr>
                    </a:p>
                  </a:txBody>
                  <a:tcPr marL="63500" marR="63500" marT="38100" marB="38100" anchor="ctr">
                    <a:lnL w="6350" cap="flat" cmpd="sng" algn="ctr">
                      <a:solidFill>
                        <a:srgbClr val="C9A962"/>
                      </a:solidFill>
                      <a:prstDash val="solid"/>
                      <a:round/>
                      <a:headEnd type="none" w="med" len="med"/>
                      <a:tailEnd type="none" w="med" len="med"/>
                    </a:lnL>
                    <a:lnR w="6350" cap="flat" cmpd="sng" algn="ctr">
                      <a:solidFill>
                        <a:srgbClr val="C9A962"/>
                      </a:solidFill>
                      <a:prstDash val="solid"/>
                      <a:round/>
                      <a:headEnd type="none" w="med" len="med"/>
                      <a:tailEnd type="none" w="med" len="med"/>
                    </a:lnR>
                    <a:lnT w="6350" cap="flat" cmpd="sng" algn="ctr">
                      <a:solidFill>
                        <a:srgbClr val="C9A962"/>
                      </a:solidFill>
                      <a:prstDash val="solid"/>
                      <a:round/>
                      <a:headEnd type="none" w="med" len="med"/>
                      <a:tailEnd type="none" w="med" len="med"/>
                    </a:lnT>
                    <a:lnB w="6350" cap="flat" cmpd="sng" algn="ctr">
                      <a:solidFill>
                        <a:srgbClr val="C9A96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3502152"/>
            <a:ext cx="10972800" cy="2807208"/>
          </a:xfrm>
          <a:prstGeom prst="rect">
            <a:avLst/>
          </a:prstGeom>
          <a:noFill/>
          <a:ln/>
        </p:spPr>
        <p:txBody>
          <a:bodyPr wrap="square" rtlCol="0" anchor="t"/>
          <a:lstStyle/>
          <a:p>
            <a:pPr marL="0" indent="0">
              <a:lnSpc>
                <a:spcPct val="130000"/>
              </a:lnSpc>
              <a:buNone/>
            </a:pPr>
            <a:endParaRPr lang="en-US" sz="1600" b="1" dirty="0">
              <a:solidFill>
                <a:srgbClr val="2D3748"/>
              </a:solidFill>
              <a:latin typeface="Arial" pitchFamily="34" charset="0"/>
              <a:ea typeface="Arial" pitchFamily="34" charset="-122"/>
              <a:cs typeface="Arial" pitchFamily="34" charset="-120"/>
            </a:endParaRPr>
          </a:p>
          <a:p>
            <a:pPr marL="0" indent="0">
              <a:lnSpc>
                <a:spcPct val="130000"/>
              </a:lnSpc>
              <a:buNone/>
            </a:pPr>
            <a:endParaRPr lang="en-US" sz="1600" b="1" dirty="0">
              <a:solidFill>
                <a:srgbClr val="2D3748"/>
              </a:solidFill>
              <a:latin typeface="Arial" pitchFamily="34" charset="0"/>
              <a:ea typeface="Arial" pitchFamily="34" charset="-122"/>
              <a:cs typeface="Arial" pitchFamily="34" charset="-120"/>
            </a:endParaRPr>
          </a:p>
          <a:p>
            <a:pPr marL="0" indent="0">
              <a:lnSpc>
                <a:spcPct val="130000"/>
              </a:lnSpc>
              <a:buNone/>
            </a:pPr>
            <a:endParaRPr lang="en-US" sz="1600" b="1" dirty="0">
              <a:solidFill>
                <a:srgbClr val="2D3748"/>
              </a:solidFill>
              <a:latin typeface="Arial" pitchFamily="34" charset="0"/>
              <a:ea typeface="Arial" pitchFamily="34" charset="-122"/>
              <a:cs typeface="Arial"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Assessment Breakdown Visualization</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5943600" cy="5029200"/>
          </a:xfrm>
          <a:prstGeom prst="rect">
            <a:avLst/>
          </a:prstGeom>
          <a:noFill/>
          <a:ln/>
        </p:spPr>
        <p:txBody>
          <a:bodyPr wrap="square" rtlCol="0" anchor="t"/>
          <a:lstStyle/>
          <a:p>
            <a:pPr marL="342900" indent="-342900">
              <a:lnSpc>
                <a:spcPct val="120000"/>
              </a:lnSpc>
              <a:buSzPct val="100000"/>
              <a:buChar char="•"/>
            </a:pPr>
            <a:r>
              <a:rPr lang="en-US" sz="1600" b="1" dirty="0">
                <a:solidFill>
                  <a:srgbClr val="2D3748"/>
                </a:solidFill>
                <a:latin typeface="Arial" pitchFamily="34" charset="0"/>
                <a:ea typeface="Arial" pitchFamily="34" charset="-122"/>
                <a:cs typeface="Arial" pitchFamily="34" charset="-120"/>
              </a:rPr>
              <a:t>Laboratory Work:</a:t>
            </a:r>
            <a:r>
              <a:rPr lang="en-US" sz="1600" dirty="0">
                <a:solidFill>
                  <a:srgbClr val="2D3748"/>
                </a:solidFill>
                <a:latin typeface="Arial" pitchFamily="34" charset="0"/>
                <a:ea typeface="Arial" pitchFamily="34" charset="-122"/>
                <a:cs typeface="Arial" pitchFamily="34" charset="-120"/>
              </a:rPr>
              <a:t> 10%</a:t>
            </a:r>
            <a:endParaRPr lang="en-US" sz="1600" dirty="0"/>
          </a:p>
          <a:p>
            <a:pPr marL="342900" indent="-342900">
              <a:lnSpc>
                <a:spcPct val="120000"/>
              </a:lnSpc>
              <a:buSzPct val="100000"/>
              <a:buChar char="•"/>
            </a:pPr>
            <a:r>
              <a:rPr lang="en-US" sz="1600" b="1" dirty="0">
                <a:solidFill>
                  <a:srgbClr val="2D3748"/>
                </a:solidFill>
                <a:latin typeface="Arial" pitchFamily="34" charset="0"/>
                <a:ea typeface="Arial" pitchFamily="34" charset="-122"/>
                <a:cs typeface="Arial" pitchFamily="34" charset="-120"/>
              </a:rPr>
              <a:t>Assignment 1:</a:t>
            </a:r>
            <a:r>
              <a:rPr lang="en-US" sz="1600" dirty="0">
                <a:solidFill>
                  <a:srgbClr val="2D3748"/>
                </a:solidFill>
                <a:latin typeface="Arial" pitchFamily="34" charset="0"/>
                <a:ea typeface="Arial" pitchFamily="34" charset="-122"/>
                <a:cs typeface="Arial" pitchFamily="34" charset="-120"/>
              </a:rPr>
              <a:t> 25%</a:t>
            </a:r>
            <a:endParaRPr lang="en-US" sz="1600" dirty="0"/>
          </a:p>
          <a:p>
            <a:pPr marL="342900" indent="-342900">
              <a:lnSpc>
                <a:spcPct val="120000"/>
              </a:lnSpc>
              <a:buSzPct val="100000"/>
              <a:buChar char="•"/>
            </a:pPr>
            <a:r>
              <a:rPr lang="en-US" sz="1600" b="1" dirty="0">
                <a:solidFill>
                  <a:srgbClr val="2D3748"/>
                </a:solidFill>
                <a:latin typeface="Arial" pitchFamily="34" charset="0"/>
                <a:ea typeface="Arial" pitchFamily="34" charset="-122"/>
                <a:cs typeface="Arial" pitchFamily="34" charset="-120"/>
              </a:rPr>
              <a:t>Assignment 2:</a:t>
            </a:r>
            <a:r>
              <a:rPr lang="en-US" sz="1600" dirty="0">
                <a:solidFill>
                  <a:srgbClr val="2D3748"/>
                </a:solidFill>
                <a:latin typeface="Arial" pitchFamily="34" charset="0"/>
                <a:ea typeface="Arial" pitchFamily="34" charset="-122"/>
                <a:cs typeface="Arial" pitchFamily="34" charset="-120"/>
              </a:rPr>
              <a:t> 25%</a:t>
            </a:r>
            <a:endParaRPr lang="en-US" sz="1600" dirty="0"/>
          </a:p>
          <a:p>
            <a:pPr marL="342900" indent="-342900">
              <a:lnSpc>
                <a:spcPct val="120000"/>
              </a:lnSpc>
              <a:buSzPct val="100000"/>
              <a:buChar char="•"/>
            </a:pPr>
            <a:r>
              <a:rPr lang="en-US" sz="1600" b="1" dirty="0">
                <a:solidFill>
                  <a:srgbClr val="2D3748"/>
                </a:solidFill>
                <a:latin typeface="Arial" pitchFamily="34" charset="0"/>
                <a:ea typeface="Arial" pitchFamily="34" charset="-122"/>
                <a:cs typeface="Arial" pitchFamily="34" charset="-120"/>
              </a:rPr>
              <a:t>Class Participation:</a:t>
            </a:r>
            <a:r>
              <a:rPr lang="en-US" sz="1600" dirty="0">
                <a:solidFill>
                  <a:srgbClr val="2D3748"/>
                </a:solidFill>
                <a:latin typeface="Arial" pitchFamily="34" charset="0"/>
                <a:ea typeface="Arial" pitchFamily="34" charset="-122"/>
                <a:cs typeface="Arial" pitchFamily="34" charset="-120"/>
              </a:rPr>
              <a:t> 10%</a:t>
            </a:r>
            <a:endParaRPr lang="en-US" sz="1600" dirty="0"/>
          </a:p>
          <a:p>
            <a:pPr marL="342900" indent="-342900">
              <a:lnSpc>
                <a:spcPct val="120000"/>
              </a:lnSpc>
              <a:buSzPct val="100000"/>
              <a:buChar char="•"/>
            </a:pPr>
            <a:r>
              <a:rPr lang="en-US" sz="1600" b="1" dirty="0">
                <a:solidFill>
                  <a:srgbClr val="2D3748"/>
                </a:solidFill>
                <a:latin typeface="Arial" pitchFamily="34" charset="0"/>
                <a:ea typeface="Arial" pitchFamily="34" charset="-122"/>
                <a:cs typeface="Arial" pitchFamily="34" charset="-120"/>
              </a:rPr>
              <a:t>Final Project:</a:t>
            </a:r>
            <a:r>
              <a:rPr lang="en-US" sz="1600" dirty="0">
                <a:solidFill>
                  <a:srgbClr val="2D3748"/>
                </a:solidFill>
                <a:latin typeface="Arial" pitchFamily="34" charset="0"/>
                <a:ea typeface="Arial" pitchFamily="34" charset="-122"/>
                <a:cs typeface="Arial" pitchFamily="34" charset="-120"/>
              </a:rPr>
              <a:t> 30%</a:t>
            </a:r>
            <a:endParaRPr lang="en-US" sz="1600" dirty="0"/>
          </a:p>
        </p:txBody>
      </p:sp>
      <p:pic>
        <p:nvPicPr>
          <p:cNvPr id="5" name="Image 0" descr="preencoded.png"/>
          <p:cNvPicPr>
            <a:picLocks noChangeAspect="1"/>
          </p:cNvPicPr>
          <p:nvPr/>
        </p:nvPicPr>
        <p:blipFill>
          <a:blip r:embed="rId3"/>
          <a:stretch>
            <a:fillRect/>
          </a:stretch>
        </p:blipFill>
        <p:spPr>
          <a:xfrm>
            <a:off x="6949440" y="1280160"/>
            <a:ext cx="4389120" cy="4389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Learning Resources &amp; Tools</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Programming Languages &amp; Environments: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Python:</a:t>
            </a:r>
            <a:r>
              <a:rPr lang="en-US" sz="1600" dirty="0">
                <a:solidFill>
                  <a:srgbClr val="2D3748"/>
                </a:solidFill>
                <a:latin typeface="Arial" pitchFamily="34" charset="0"/>
                <a:ea typeface="Arial" pitchFamily="34" charset="-122"/>
                <a:cs typeface="Arial" pitchFamily="34" charset="-120"/>
              </a:rPr>
              <a:t> Primary language (Pandas, NumPy, Matplotlib, Seaborn, Scikit-learn)</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Excel:</a:t>
            </a:r>
            <a:r>
              <a:rPr lang="en-US" sz="1600" dirty="0">
                <a:solidFill>
                  <a:srgbClr val="2D3748"/>
                </a:solidFill>
                <a:latin typeface="Arial" pitchFamily="34" charset="0"/>
                <a:ea typeface="Arial" pitchFamily="34" charset="-122"/>
                <a:cs typeface="Arial" pitchFamily="34" charset="-120"/>
              </a:rPr>
              <a:t> Data exploration and pivot table analysis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Recommended Tools: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Jupyter Notebook / RStudio for interactive analysis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Git/GitHub for version control</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Tableau or Power BI for advanced visualization</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Online Resources: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Kaggle datasets and competitions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GitHub repositories with EDA examples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Academic journals and research papers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Course learning management system (LMS)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Pedagogy &amp; Teaching Approach</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Instructional Methods: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Lectures:</a:t>
            </a:r>
            <a:r>
              <a:rPr lang="en-US" sz="1600" dirty="0">
                <a:solidFill>
                  <a:srgbClr val="2D3748"/>
                </a:solidFill>
                <a:latin typeface="Arial" pitchFamily="34" charset="0"/>
                <a:ea typeface="Arial" pitchFamily="34" charset="-122"/>
                <a:cs typeface="Arial" pitchFamily="34" charset="-120"/>
              </a:rPr>
              <a:t> Theoretical foundations and advanced concepts (2 hours/week)</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Hands-on Labs:</a:t>
            </a:r>
            <a:r>
              <a:rPr lang="en-US" sz="1600" dirty="0">
                <a:solidFill>
                  <a:srgbClr val="2D3748"/>
                </a:solidFill>
                <a:latin typeface="Arial" pitchFamily="34" charset="0"/>
                <a:ea typeface="Arial" pitchFamily="34" charset="-122"/>
                <a:cs typeface="Arial" pitchFamily="34" charset="-120"/>
              </a:rPr>
              <a:t> Practical implementation and tool proficiency (4 hours/week)</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Case Studies:</a:t>
            </a:r>
            <a:r>
              <a:rPr lang="en-US" sz="1600" dirty="0">
                <a:solidFill>
                  <a:srgbClr val="2D3748"/>
                </a:solidFill>
                <a:latin typeface="Arial" pitchFamily="34" charset="0"/>
                <a:ea typeface="Arial" pitchFamily="34" charset="-122"/>
                <a:cs typeface="Arial" pitchFamily="34" charset="-120"/>
              </a:rPr>
              <a:t> Real-world dataset analysis and industry applications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Problem-Based Learning:</a:t>
            </a:r>
            <a:r>
              <a:rPr lang="en-US" sz="1600" dirty="0">
                <a:solidFill>
                  <a:srgbClr val="2D3748"/>
                </a:solidFill>
                <a:latin typeface="Arial" pitchFamily="34" charset="0"/>
                <a:ea typeface="Arial" pitchFamily="34" charset="-122"/>
                <a:cs typeface="Arial" pitchFamily="34" charset="-120"/>
              </a:rPr>
              <a:t> Complex, open-ended exploratory challenges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Self-Learning Resources:</a:t>
            </a:r>
            <a:r>
              <a:rPr lang="en-US" sz="1600" dirty="0">
                <a:solidFill>
                  <a:srgbClr val="2D3748"/>
                </a:solidFill>
                <a:latin typeface="Arial" pitchFamily="34" charset="0"/>
                <a:ea typeface="Arial" pitchFamily="34" charset="-122"/>
                <a:cs typeface="Arial" pitchFamily="34" charset="-120"/>
              </a:rPr>
              <a:t> Curated tutorials, documentation, and supplementary materials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Peer Review:</a:t>
            </a:r>
            <a:r>
              <a:rPr lang="en-US" sz="1600" dirty="0">
                <a:solidFill>
                  <a:srgbClr val="2D3748"/>
                </a:solidFill>
                <a:latin typeface="Arial" pitchFamily="34" charset="0"/>
                <a:ea typeface="Arial" pitchFamily="34" charset="-122"/>
                <a:cs typeface="Arial" pitchFamily="34" charset="-120"/>
              </a:rPr>
              <a:t> Collaborative feedback on assignments and projects</a:t>
            </a:r>
            <a:endParaRPr lang="en-US" sz="1600" dirty="0"/>
          </a:p>
          <a:p>
            <a:pPr marL="342900" indent="-342900">
              <a:lnSpc>
                <a:spcPct val="130000"/>
              </a:lnSpc>
              <a:buSzPct val="100000"/>
              <a:buChar char="•"/>
            </a:pPr>
            <a:r>
              <a:rPr lang="en-US" sz="1600" b="1" dirty="0">
                <a:solidFill>
                  <a:srgbClr val="2D3748"/>
                </a:solidFill>
                <a:latin typeface="Arial" pitchFamily="34" charset="0"/>
                <a:ea typeface="Arial" pitchFamily="34" charset="-122"/>
                <a:cs typeface="Arial" pitchFamily="34" charset="-120"/>
              </a:rPr>
              <a:t>Guest Lectures:</a:t>
            </a:r>
            <a:r>
              <a:rPr lang="en-US" sz="1600" dirty="0">
                <a:solidFill>
                  <a:srgbClr val="2D3748"/>
                </a:solidFill>
                <a:latin typeface="Arial" pitchFamily="34" charset="0"/>
                <a:ea typeface="Arial" pitchFamily="34" charset="-122"/>
                <a:cs typeface="Arial" pitchFamily="34" charset="-120"/>
              </a:rPr>
              <a:t> Industry practitioners sharing real-world EDA experiences</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Learning Environment:</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Inclusive, collaborative classroom culture</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Emphasis on experimentation and iterative learning</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Regular feedback and formative assessment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marL="0" indent="0">
              <a:buNone/>
            </a:pPr>
            <a:r>
              <a:rPr lang="en-US" sz="2400" b="1" dirty="0">
                <a:solidFill>
                  <a:srgbClr val="1B365D"/>
                </a:solidFill>
                <a:latin typeface="Georgia" pitchFamily="34" charset="0"/>
                <a:ea typeface="Georgia" pitchFamily="34" charset="-122"/>
                <a:cs typeface="Georgia" pitchFamily="34" charset="-120"/>
              </a:rPr>
              <a:t>References &amp; Textbooks</a:t>
            </a:r>
            <a:endParaRPr lang="en-US" sz="2400" dirty="0"/>
          </a:p>
        </p:txBody>
      </p:sp>
      <p:sp>
        <p:nvSpPr>
          <p:cNvPr id="3" name="Shape 1"/>
          <p:cNvSpPr/>
          <p:nvPr/>
        </p:nvSpPr>
        <p:spPr>
          <a:xfrm>
            <a:off x="548640" y="1005840"/>
            <a:ext cx="1828800" cy="36576"/>
          </a:xfrm>
          <a:prstGeom prst="rect">
            <a:avLst/>
          </a:prstGeom>
          <a:solidFill>
            <a:srgbClr val="C9A962"/>
          </a:solidFill>
          <a:ln/>
        </p:spPr>
      </p:sp>
      <p:sp>
        <p:nvSpPr>
          <p:cNvPr id="4" name="Text 2"/>
          <p:cNvSpPr/>
          <p:nvPr/>
        </p:nvSpPr>
        <p:spPr>
          <a:xfrm>
            <a:off x="548640" y="1280160"/>
            <a:ext cx="10972800" cy="5029200"/>
          </a:xfrm>
          <a:prstGeom prst="rect">
            <a:avLst/>
          </a:prstGeom>
          <a:noFill/>
          <a:ln/>
        </p:spPr>
        <p:txBody>
          <a:bodyPr wrap="square" rtlCol="0" anchor="t"/>
          <a:lstStyle/>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Primary Textbooks:</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Tukey, J. W. (1977). </a:t>
            </a:r>
            <a:r>
              <a:rPr lang="en-US" sz="1600" i="1" dirty="0">
                <a:solidFill>
                  <a:srgbClr val="2D3748"/>
                </a:solidFill>
                <a:latin typeface="Arial" pitchFamily="34" charset="0"/>
                <a:ea typeface="Arial" pitchFamily="34" charset="-122"/>
                <a:cs typeface="Arial" pitchFamily="34" charset="-120"/>
              </a:rPr>
              <a:t>Exploratory Data Analysis</a:t>
            </a:r>
            <a:r>
              <a:rPr lang="en-US" sz="1600" dirty="0">
                <a:solidFill>
                  <a:srgbClr val="2D3748"/>
                </a:solidFill>
                <a:latin typeface="Arial" pitchFamily="34" charset="0"/>
                <a:ea typeface="Arial" pitchFamily="34" charset="-122"/>
                <a:cs typeface="Arial" pitchFamily="34" charset="-120"/>
              </a:rPr>
              <a:t>. Addison-Wesley.</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Wickham, H., &amp; Grolemund, G. (2017). </a:t>
            </a:r>
            <a:r>
              <a:rPr lang="en-US" sz="1600" i="1" dirty="0">
                <a:solidFill>
                  <a:srgbClr val="2D3748"/>
                </a:solidFill>
                <a:latin typeface="Arial" pitchFamily="34" charset="0"/>
                <a:ea typeface="Arial" pitchFamily="34" charset="-122"/>
                <a:cs typeface="Arial" pitchFamily="34" charset="-120"/>
              </a:rPr>
              <a:t>R for Data Science</a:t>
            </a:r>
            <a:r>
              <a:rPr lang="en-US" sz="1600" dirty="0">
                <a:solidFill>
                  <a:srgbClr val="2D3748"/>
                </a:solidFill>
                <a:latin typeface="Arial" pitchFamily="34" charset="0"/>
                <a:ea typeface="Arial" pitchFamily="34" charset="-122"/>
                <a:cs typeface="Arial" pitchFamily="34" charset="-120"/>
              </a:rPr>
              <a:t>. O'Reilly Media.</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McKinney, W. (2022). </a:t>
            </a:r>
            <a:r>
              <a:rPr lang="en-US" sz="1600" i="1" dirty="0">
                <a:solidFill>
                  <a:srgbClr val="2D3748"/>
                </a:solidFill>
                <a:latin typeface="Arial" pitchFamily="34" charset="0"/>
                <a:ea typeface="Arial" pitchFamily="34" charset="-122"/>
                <a:cs typeface="Arial" pitchFamily="34" charset="-120"/>
              </a:rPr>
              <a:t>Python for Data Analysis</a:t>
            </a:r>
            <a:r>
              <a:rPr lang="en-US" sz="1600" dirty="0">
                <a:solidFill>
                  <a:srgbClr val="2D3748"/>
                </a:solidFill>
                <a:latin typeface="Arial" pitchFamily="34" charset="0"/>
                <a:ea typeface="Arial" pitchFamily="34" charset="-122"/>
                <a:cs typeface="Arial" pitchFamily="34" charset="-120"/>
              </a:rPr>
              <a:t> (3rd ed.). O'Reilly Media.</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Supplementary Resources:</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Cleveland, W. S. (1993). </a:t>
            </a:r>
            <a:r>
              <a:rPr lang="en-US" sz="1600" i="1" dirty="0">
                <a:solidFill>
                  <a:srgbClr val="2D3748"/>
                </a:solidFill>
                <a:latin typeface="Arial" pitchFamily="34" charset="0"/>
                <a:ea typeface="Arial" pitchFamily="34" charset="-122"/>
                <a:cs typeface="Arial" pitchFamily="34" charset="-120"/>
              </a:rPr>
              <a:t>Visualizing Data</a:t>
            </a:r>
            <a:r>
              <a:rPr lang="en-US" sz="1600" dirty="0">
                <a:solidFill>
                  <a:srgbClr val="2D3748"/>
                </a:solidFill>
                <a:latin typeface="Arial" pitchFamily="34" charset="0"/>
                <a:ea typeface="Arial" pitchFamily="34" charset="-122"/>
                <a:cs typeface="Arial" pitchFamily="34" charset="-120"/>
              </a:rPr>
              <a:t>. Hobart Press.</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Peng, R. D., &amp; Matsui, E. (2015). </a:t>
            </a:r>
            <a:r>
              <a:rPr lang="en-US" sz="1600" i="1" dirty="0">
                <a:solidFill>
                  <a:srgbClr val="2D3748"/>
                </a:solidFill>
                <a:latin typeface="Arial" pitchFamily="34" charset="0"/>
                <a:ea typeface="Arial" pitchFamily="34" charset="-122"/>
                <a:cs typeface="Arial" pitchFamily="34" charset="-120"/>
              </a:rPr>
              <a:t>The Art of Data Science</a:t>
            </a:r>
            <a:r>
              <a:rPr lang="en-US" sz="1600" dirty="0">
                <a:solidFill>
                  <a:srgbClr val="2D3748"/>
                </a:solidFill>
                <a:latin typeface="Arial" pitchFamily="34" charset="0"/>
                <a:ea typeface="Arial" pitchFamily="34" charset="-122"/>
                <a:cs typeface="Arial" pitchFamily="34" charset="-120"/>
              </a:rPr>
              <a:t>. Leanpub.</a:t>
            </a:r>
            <a:endParaRPr lang="en-US" sz="1600" dirty="0"/>
          </a:p>
          <a:p>
            <a:pPr marL="342900" indent="-342900">
              <a:lnSpc>
                <a:spcPct val="130000"/>
              </a:lnSpc>
              <a:buSzPct val="100000"/>
              <a:buChar char="•"/>
            </a:pPr>
            <a:r>
              <a:rPr lang="en-US" sz="1600" dirty="0">
                <a:solidFill>
                  <a:srgbClr val="2D3748"/>
                </a:solidFill>
                <a:latin typeface="Arial" pitchFamily="34" charset="0"/>
                <a:ea typeface="Arial" pitchFamily="34" charset="-122"/>
                <a:cs typeface="Arial" pitchFamily="34" charset="-120"/>
              </a:rPr>
              <a:t>Freedman, D., Pisani, R., &amp; Purves, R. (2007). </a:t>
            </a:r>
            <a:r>
              <a:rPr lang="en-US" sz="1600" i="1" dirty="0">
                <a:solidFill>
                  <a:srgbClr val="2D3748"/>
                </a:solidFill>
                <a:latin typeface="Arial" pitchFamily="34" charset="0"/>
                <a:ea typeface="Arial" pitchFamily="34" charset="-122"/>
                <a:cs typeface="Arial" pitchFamily="34" charset="-120"/>
              </a:rPr>
              <a:t>Statistics</a:t>
            </a:r>
            <a:r>
              <a:rPr lang="en-US" sz="1600" dirty="0">
                <a:solidFill>
                  <a:srgbClr val="2D3748"/>
                </a:solidFill>
                <a:latin typeface="Arial" pitchFamily="34" charset="0"/>
                <a:ea typeface="Arial" pitchFamily="34" charset="-122"/>
                <a:cs typeface="Arial" pitchFamily="34" charset="-120"/>
              </a:rPr>
              <a:t> (4th ed.). W.W. Norton.</a:t>
            </a:r>
            <a:endParaRPr lang="en-US" sz="1600" dirty="0"/>
          </a:p>
          <a:p>
            <a:pPr marL="0" indent="0">
              <a:lnSpc>
                <a:spcPct val="130000"/>
              </a:lnSpc>
              <a:spcAft>
                <a:spcPts val="600"/>
              </a:spcAft>
              <a:buNone/>
            </a:pPr>
            <a:r>
              <a:rPr lang="en-US" sz="1600" b="1" dirty="0">
                <a:solidFill>
                  <a:srgbClr val="2D3748"/>
                </a:solidFill>
                <a:latin typeface="Arial" pitchFamily="34" charset="0"/>
                <a:ea typeface="Arial" pitchFamily="34" charset="-122"/>
                <a:cs typeface="Arial" pitchFamily="34" charset="-120"/>
              </a:rPr>
              <a:t>Online Journals &amp; Conferences: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Journal of Statistical Software</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IEEE Transactions on Visualization and Computer Graphics</a:t>
            </a:r>
            <a:endParaRPr lang="en-US" sz="1600" dirty="0"/>
          </a:p>
          <a:p>
            <a:pPr marL="342900" indent="-342900">
              <a:lnSpc>
                <a:spcPct val="130000"/>
              </a:lnSpc>
              <a:spcAft>
                <a:spcPts val="400"/>
              </a:spcAft>
              <a:buSzPct val="100000"/>
              <a:buChar char="•"/>
            </a:pPr>
            <a:r>
              <a:rPr lang="en-US" sz="1600" dirty="0">
                <a:solidFill>
                  <a:srgbClr val="2D3748"/>
                </a:solidFill>
                <a:latin typeface="Arial" pitchFamily="34" charset="0"/>
                <a:ea typeface="Arial" pitchFamily="34" charset="-122"/>
                <a:cs typeface="Arial" pitchFamily="34" charset="-120"/>
              </a:rPr>
              <a:t>KDD, ICML, NeurIPS proceedings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784848"/>
            <a:ext cx="12192000" cy="73152"/>
          </a:xfrm>
          <a:prstGeom prst="rect">
            <a:avLst/>
          </a:prstGeom>
          <a:solidFill>
            <a:srgbClr val="1B365D"/>
          </a:solidFill>
          <a:ln/>
        </p:spPr>
      </p:sp>
      <p:sp>
        <p:nvSpPr>
          <p:cNvPr id="3" name="Text 1"/>
          <p:cNvSpPr/>
          <p:nvPr/>
        </p:nvSpPr>
        <p:spPr>
          <a:xfrm>
            <a:off x="914400" y="1371600"/>
            <a:ext cx="10360152" cy="1097280"/>
          </a:xfrm>
          <a:prstGeom prst="rect">
            <a:avLst/>
          </a:prstGeom>
          <a:noFill/>
          <a:ln/>
        </p:spPr>
        <p:txBody>
          <a:bodyPr wrap="square" rtlCol="0" anchor="ctr"/>
          <a:lstStyle/>
          <a:p>
            <a:pPr marL="0" indent="0" algn="ctr">
              <a:buNone/>
            </a:pPr>
            <a:r>
              <a:rPr lang="en-US" sz="3200" b="1" dirty="0">
                <a:solidFill>
                  <a:srgbClr val="1B365D"/>
                </a:solidFill>
                <a:latin typeface="Georgia" pitchFamily="34" charset="0"/>
                <a:ea typeface="Georgia" pitchFamily="34" charset="-122"/>
                <a:cs typeface="Georgia" pitchFamily="34" charset="-120"/>
              </a:rPr>
              <a:t>Course Completion &amp; Next Steps</a:t>
            </a:r>
            <a:endParaRPr lang="en-US" sz="3200" dirty="0"/>
          </a:p>
        </p:txBody>
      </p:sp>
      <p:sp>
        <p:nvSpPr>
          <p:cNvPr id="4" name="Text 2"/>
          <p:cNvSpPr/>
          <p:nvPr/>
        </p:nvSpPr>
        <p:spPr>
          <a:xfrm>
            <a:off x="1828800" y="2560320"/>
            <a:ext cx="8531352" cy="3200400"/>
          </a:xfrm>
          <a:prstGeom prst="rect">
            <a:avLst/>
          </a:prstGeom>
          <a:noFill/>
          <a:ln/>
        </p:spPr>
        <p:txBody>
          <a:bodyPr wrap="square" rtlCol="0" anchor="t"/>
          <a:lstStyle/>
          <a:p>
            <a:pPr marL="0" indent="0" algn="ctr">
              <a:lnSpc>
                <a:spcPct val="130000"/>
              </a:lnSpc>
              <a:spcAft>
                <a:spcPts val="600"/>
              </a:spcAft>
              <a:buNone/>
            </a:pPr>
            <a:r>
              <a:rPr lang="en-US" sz="1600" dirty="0">
                <a:solidFill>
                  <a:srgbClr val="718096"/>
                </a:solidFill>
                <a:latin typeface="Arial" pitchFamily="34" charset="0"/>
                <a:ea typeface="Arial" pitchFamily="34" charset="-122"/>
                <a:cs typeface="Arial" pitchFamily="34" charset="-120"/>
              </a:rPr>
              <a:t>Upon successful completion of DATA209, students will be equipped to conduct sophisticated exploratory analyses, communicate data-driven insights, and prepare analytical datasets for advanced modeling. This course serves as a foundation for specialized electives in machine learning, statistical modeling, and data engineering.</a:t>
            </a:r>
            <a:endParaRPr lang="en-US" sz="1600" dirty="0"/>
          </a:p>
          <a:p>
            <a:pPr marL="0" indent="0" algn="ctr">
              <a:lnSpc>
                <a:spcPct val="130000"/>
              </a:lnSpc>
              <a:buNone/>
            </a:pPr>
            <a:r>
              <a:rPr lang="en-US" sz="1600" b="1" dirty="0">
                <a:solidFill>
                  <a:srgbClr val="718096"/>
                </a:solidFill>
                <a:latin typeface="Arial" pitchFamily="34" charset="0"/>
                <a:ea typeface="Arial" pitchFamily="34" charset="-122"/>
                <a:cs typeface="Arial" pitchFamily="34" charset="-120"/>
              </a:rPr>
              <a:t>Next Recommended Course:</a:t>
            </a:r>
            <a:r>
              <a:rPr lang="en-US" sz="1600" dirty="0">
                <a:solidFill>
                  <a:srgbClr val="718096"/>
                </a:solidFill>
                <a:latin typeface="Arial" pitchFamily="34" charset="0"/>
                <a:ea typeface="Arial" pitchFamily="34" charset="-122"/>
                <a:cs typeface="Arial" pitchFamily="34" charset="-120"/>
              </a:rPr>
              <a:t> Machine Learning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1185</Words>
  <Application>Microsoft Office PowerPoint</Application>
  <PresentationFormat>Widescreen</PresentationFormat>
  <Paragraphs>213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Exploratory Data Analysis (DATA209)</dc:title>
  <dc:subject>PptxGenJS Presentation</dc:subject>
  <dc:creator>Flint</dc:creator>
  <cp:lastModifiedBy>Shital Bhatt</cp:lastModifiedBy>
  <cp:revision>3</cp:revision>
  <dcterms:created xsi:type="dcterms:W3CDTF">2026-07-08T05:14:48Z</dcterms:created>
  <dcterms:modified xsi:type="dcterms:W3CDTF">2026-08-04T10:30:37Z</dcterms:modified>
</cp:coreProperties>
</file>