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29"/>
        </a:solidFill>
      </p:bgPr>
    </p:bg>
    <p:spTree>
      <p:nvGrpSpPr>
        <p:cNvPr id="1" name=""/>
        <p:cNvGrpSpPr/>
        <p:nvPr/>
      </p:nvGrpSpPr>
      <p:grpSpPr>
        <a:xfrm>
          <a:off x="0" y="0"/>
          <a:ext cx="0" cy="0"/>
          <a:chOff x="0" y="0"/>
          <a:chExt cx="0" cy="0"/>
        </a:xfrm>
      </p:grpSpPr>
      <p:sp>
        <p:nvSpPr>
          <p:cNvPr id="2" name="Shape 0"/>
          <p:cNvSpPr/>
          <p:nvPr/>
        </p:nvSpPr>
        <p:spPr>
          <a:xfrm>
            <a:off x="566928" y="1417320"/>
            <a:ext cx="274320" cy="274320"/>
          </a:xfrm>
          <a:prstGeom prst="rect">
            <a:avLst/>
          </a:prstGeom>
          <a:solidFill>
            <a:srgbClr val="A6752C"/>
          </a:solidFill>
          <a:ln/>
        </p:spPr>
      </p:sp>
      <p:sp>
        <p:nvSpPr>
          <p:cNvPr id="3" name="Text 1"/>
          <p:cNvSpPr/>
          <p:nvPr/>
        </p:nvSpPr>
        <p:spPr>
          <a:xfrm>
            <a:off x="1005840" y="1371600"/>
            <a:ext cx="10570464" cy="365760"/>
          </a:xfrm>
          <a:prstGeom prst="rect">
            <a:avLst/>
          </a:prstGeom>
          <a:noFill/>
          <a:ln/>
        </p:spPr>
        <p:txBody>
          <a:bodyPr wrap="square" lIns="0" tIns="0" rIns="0" bIns="0" rtlCol="0" anchor="ctr"/>
          <a:lstStyle/>
          <a:p>
            <a:pPr indent="0" marL="0">
              <a:buNone/>
            </a:pPr>
            <a:r>
              <a:rPr lang="en-US" sz="1200" b="1" spc="200" kern="0" dirty="0">
                <a:solidFill>
                  <a:srgbClr val="A6752C"/>
                </a:solidFill>
                <a:latin typeface="Courier New" pitchFamily="34" charset="0"/>
                <a:ea typeface="Courier New" pitchFamily="34" charset="-122"/>
                <a:cs typeface="Courier New" pitchFamily="34" charset="-120"/>
              </a:rPr>
              <a:t>DATA209 · ASSIGNMENT 2 · MODEL ANSWER</a:t>
            </a:r>
            <a:endParaRPr lang="en-US" sz="1200" dirty="0"/>
          </a:p>
        </p:txBody>
      </p:sp>
      <p:sp>
        <p:nvSpPr>
          <p:cNvPr id="4" name="Text 2"/>
          <p:cNvSpPr/>
          <p:nvPr/>
        </p:nvSpPr>
        <p:spPr>
          <a:xfrm>
            <a:off x="566928" y="1965960"/>
            <a:ext cx="9747504" cy="173736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From Two Raw Extracts</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to One Analytical Dataset</a:t>
            </a:r>
            <a:endParaRPr lang="en-US" sz="4600" dirty="0"/>
          </a:p>
        </p:txBody>
      </p:sp>
      <p:sp>
        <p:nvSpPr>
          <p:cNvPr id="5" name="Text 3"/>
          <p:cNvSpPr/>
          <p:nvPr/>
        </p:nvSpPr>
        <p:spPr>
          <a:xfrm>
            <a:off x="566928" y="3794760"/>
            <a:ext cx="8101584" cy="822960"/>
          </a:xfrm>
          <a:prstGeom prst="rect">
            <a:avLst/>
          </a:prstGeom>
          <a:noFill/>
          <a:ln/>
        </p:spPr>
        <p:txBody>
          <a:bodyPr wrap="square" lIns="0" tIns="0" rIns="0" bIns="0" rtlCol="0" anchor="ctr"/>
          <a:lstStyle/>
          <a:p>
            <a:pPr indent="0" marL="0">
              <a:buNone/>
            </a:pPr>
            <a:r>
              <a:rPr lang="en-US" sz="1600" dirty="0">
                <a:solidFill>
                  <a:srgbClr val="B9C2C9"/>
                </a:solidFill>
                <a:latin typeface="Calibri" pitchFamily="34" charset="0"/>
                <a:ea typeface="Calibri" pitchFamily="34" charset="-122"/>
                <a:cs typeface="Calibri" pitchFamily="34" charset="-120"/>
              </a:rPr>
              <a:t>Integrating, cleaning and preprocessing 62,992 product reviews collected by two different processes at two different times.</a:t>
            </a:r>
            <a:endParaRPr lang="en-US" sz="1600" dirty="0"/>
          </a:p>
        </p:txBody>
      </p:sp>
      <p:sp>
        <p:nvSpPr>
          <p:cNvPr id="6" name="Text 4"/>
          <p:cNvSpPr/>
          <p:nvPr/>
        </p:nvSpPr>
        <p:spPr>
          <a:xfrm>
            <a:off x="566928" y="5029200"/>
            <a:ext cx="2606040" cy="219456"/>
          </a:xfrm>
          <a:prstGeom prst="rect">
            <a:avLst/>
          </a:prstGeom>
          <a:noFill/>
          <a:ln/>
        </p:spPr>
        <p:txBody>
          <a:bodyPr wrap="square" lIns="0" tIns="0" rIns="0" bIns="0" rtlCol="0" anchor="ctr"/>
          <a:lstStyle/>
          <a:p>
            <a:pPr indent="0" marL="0">
              <a:buNone/>
            </a:pPr>
            <a:r>
              <a:rPr lang="en-US" sz="900" spc="120" kern="0" dirty="0">
                <a:solidFill>
                  <a:srgbClr val="8B9199"/>
                </a:solidFill>
                <a:latin typeface="Courier New" pitchFamily="34" charset="0"/>
                <a:ea typeface="Courier New" pitchFamily="34" charset="-122"/>
                <a:cs typeface="Courier New" pitchFamily="34" charset="-120"/>
              </a:rPr>
              <a:t>RAW ROWS</a:t>
            </a:r>
            <a:endParaRPr lang="en-US" sz="900" dirty="0"/>
          </a:p>
        </p:txBody>
      </p:sp>
      <p:sp>
        <p:nvSpPr>
          <p:cNvPr id="7" name="Text 5"/>
          <p:cNvSpPr/>
          <p:nvPr/>
        </p:nvSpPr>
        <p:spPr>
          <a:xfrm>
            <a:off x="566928" y="5266944"/>
            <a:ext cx="26060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62,992</a:t>
            </a:r>
            <a:endParaRPr lang="en-US" sz="1450" dirty="0"/>
          </a:p>
        </p:txBody>
      </p:sp>
      <p:sp>
        <p:nvSpPr>
          <p:cNvPr id="8" name="Text 6"/>
          <p:cNvSpPr/>
          <p:nvPr/>
        </p:nvSpPr>
        <p:spPr>
          <a:xfrm>
            <a:off x="3374136" y="5029200"/>
            <a:ext cx="2606040" cy="219456"/>
          </a:xfrm>
          <a:prstGeom prst="rect">
            <a:avLst/>
          </a:prstGeom>
          <a:noFill/>
          <a:ln/>
        </p:spPr>
        <p:txBody>
          <a:bodyPr wrap="square" lIns="0" tIns="0" rIns="0" bIns="0" rtlCol="0" anchor="ctr"/>
          <a:lstStyle/>
          <a:p>
            <a:pPr indent="0" marL="0">
              <a:buNone/>
            </a:pPr>
            <a:r>
              <a:rPr lang="en-US" sz="900" spc="120" kern="0" dirty="0">
                <a:solidFill>
                  <a:srgbClr val="8B9199"/>
                </a:solidFill>
                <a:latin typeface="Courier New" pitchFamily="34" charset="0"/>
                <a:ea typeface="Courier New" pitchFamily="34" charset="-122"/>
                <a:cs typeface="Courier New" pitchFamily="34" charset="-120"/>
              </a:rPr>
              <a:t>ANALYTICAL ROWS</a:t>
            </a:r>
            <a:endParaRPr lang="en-US" sz="900" dirty="0"/>
          </a:p>
        </p:txBody>
      </p:sp>
      <p:sp>
        <p:nvSpPr>
          <p:cNvPr id="9" name="Text 7"/>
          <p:cNvSpPr/>
          <p:nvPr/>
        </p:nvSpPr>
        <p:spPr>
          <a:xfrm>
            <a:off x="3374136" y="5266944"/>
            <a:ext cx="26060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57,079</a:t>
            </a:r>
            <a:endParaRPr lang="en-US" sz="1450" dirty="0"/>
          </a:p>
        </p:txBody>
      </p:sp>
      <p:sp>
        <p:nvSpPr>
          <p:cNvPr id="10" name="Text 8"/>
          <p:cNvSpPr/>
          <p:nvPr/>
        </p:nvSpPr>
        <p:spPr>
          <a:xfrm>
            <a:off x="6181344" y="5029200"/>
            <a:ext cx="2606040" cy="219456"/>
          </a:xfrm>
          <a:prstGeom prst="rect">
            <a:avLst/>
          </a:prstGeom>
          <a:noFill/>
          <a:ln/>
        </p:spPr>
        <p:txBody>
          <a:bodyPr wrap="square" lIns="0" tIns="0" rIns="0" bIns="0" rtlCol="0" anchor="ctr"/>
          <a:lstStyle/>
          <a:p>
            <a:pPr indent="0" marL="0">
              <a:buNone/>
            </a:pPr>
            <a:r>
              <a:rPr lang="en-US" sz="900" spc="120" kern="0" dirty="0">
                <a:solidFill>
                  <a:srgbClr val="8B9199"/>
                </a:solidFill>
                <a:latin typeface="Courier New" pitchFamily="34" charset="0"/>
                <a:ea typeface="Courier New" pitchFamily="34" charset="-122"/>
                <a:cs typeface="Courier New" pitchFamily="34" charset="-120"/>
              </a:rPr>
              <a:t>SOURCES</a:t>
            </a:r>
            <a:endParaRPr lang="en-US" sz="900" dirty="0"/>
          </a:p>
        </p:txBody>
      </p:sp>
      <p:sp>
        <p:nvSpPr>
          <p:cNvPr id="11" name="Text 9"/>
          <p:cNvSpPr/>
          <p:nvPr/>
        </p:nvSpPr>
        <p:spPr>
          <a:xfrm>
            <a:off x="6181344" y="5266944"/>
            <a:ext cx="26060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2 · schemas differ</a:t>
            </a:r>
            <a:endParaRPr lang="en-US" sz="1450" dirty="0"/>
          </a:p>
        </p:txBody>
      </p:sp>
      <p:sp>
        <p:nvSpPr>
          <p:cNvPr id="12" name="Text 10"/>
          <p:cNvSpPr/>
          <p:nvPr/>
        </p:nvSpPr>
        <p:spPr>
          <a:xfrm>
            <a:off x="8988552" y="5029200"/>
            <a:ext cx="2606040" cy="219456"/>
          </a:xfrm>
          <a:prstGeom prst="rect">
            <a:avLst/>
          </a:prstGeom>
          <a:noFill/>
          <a:ln/>
        </p:spPr>
        <p:txBody>
          <a:bodyPr wrap="square" lIns="0" tIns="0" rIns="0" bIns="0" rtlCol="0" anchor="ctr"/>
          <a:lstStyle/>
          <a:p>
            <a:pPr indent="0" marL="0">
              <a:buNone/>
            </a:pPr>
            <a:r>
              <a:rPr lang="en-US" sz="900" spc="120" kern="0" dirty="0">
                <a:solidFill>
                  <a:srgbClr val="8B9199"/>
                </a:solidFill>
                <a:latin typeface="Courier New" pitchFamily="34" charset="0"/>
                <a:ea typeface="Courier New" pitchFamily="34" charset="-122"/>
                <a:cs typeface="Courier New" pitchFamily="34" charset="-120"/>
              </a:rPr>
              <a:t>MARKS</a:t>
            </a:r>
            <a:endParaRPr lang="en-US" sz="900" dirty="0"/>
          </a:p>
        </p:txBody>
      </p:sp>
      <p:sp>
        <p:nvSpPr>
          <p:cNvPr id="13" name="Text 11"/>
          <p:cNvSpPr/>
          <p:nvPr/>
        </p:nvSpPr>
        <p:spPr>
          <a:xfrm>
            <a:off x="8988552" y="5266944"/>
            <a:ext cx="26060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25</a:t>
            </a:r>
            <a:endParaRPr lang="en-US" sz="1450" dirty="0"/>
          </a:p>
        </p:txBody>
      </p:sp>
      <p:sp>
        <p:nvSpPr>
          <p:cNvPr id="14" name="Text 12"/>
          <p:cNvSpPr/>
          <p:nvPr/>
        </p:nvSpPr>
        <p:spPr>
          <a:xfrm>
            <a:off x="566928" y="5989320"/>
            <a:ext cx="11027664" cy="274320"/>
          </a:xfrm>
          <a:prstGeom prst="rect">
            <a:avLst/>
          </a:prstGeom>
          <a:noFill/>
          <a:ln/>
        </p:spPr>
        <p:txBody>
          <a:bodyPr wrap="square" lIns="0" tIns="0" rIns="0" bIns="0" rtlCol="0" anchor="ctr"/>
          <a:lstStyle/>
          <a:p>
            <a:pPr indent="0" marL="0">
              <a:buNone/>
            </a:pPr>
            <a:r>
              <a:rPr lang="en-US" sz="1150" dirty="0">
                <a:solidFill>
                  <a:srgbClr val="8B9199"/>
                </a:solidFill>
                <a:latin typeface="Calibri" pitchFamily="34" charset="0"/>
                <a:ea typeface="Calibri" pitchFamily="34" charset="-122"/>
                <a:cs typeface="Calibri" pitchFamily="34" charset="-120"/>
              </a:rPr>
              <a:t>BTech Hons. (Data Science), Semester III · Vidyashilp University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EEE0"/>
        </a:solidFill>
      </p:bgPr>
    </p:bg>
    <p:spTree>
      <p:nvGrpSpPr>
        <p:cNvPr id="1" name=""/>
        <p:cNvGrpSpPr/>
        <p:nvPr/>
      </p:nvGrpSpPr>
      <p:grpSpPr>
        <a:xfrm>
          <a:off x="0" y="0"/>
          <a:ext cx="0" cy="0"/>
          <a:chOff x="0" y="0"/>
          <a:chExt cx="0" cy="0"/>
        </a:xfrm>
      </p:grpSpPr>
      <p:sp>
        <p:nvSpPr>
          <p:cNvPr id="2" name="Shape 0"/>
          <p:cNvSpPr/>
          <p:nvPr/>
        </p:nvSpPr>
        <p:spPr>
          <a:xfrm>
            <a:off x="566928" y="1828800"/>
            <a:ext cx="274320" cy="274320"/>
          </a:xfrm>
          <a:prstGeom prst="rect">
            <a:avLst/>
          </a:prstGeom>
          <a:solidFill>
            <a:srgbClr val="A6752C"/>
          </a:solidFill>
          <a:ln/>
        </p:spPr>
      </p:sp>
      <p:sp>
        <p:nvSpPr>
          <p:cNvPr id="3" name="Text 1"/>
          <p:cNvSpPr/>
          <p:nvPr/>
        </p:nvSpPr>
        <p:spPr>
          <a:xfrm>
            <a:off x="566928" y="2331720"/>
            <a:ext cx="9564624" cy="2011680"/>
          </a:xfrm>
          <a:prstGeom prst="rect">
            <a:avLst/>
          </a:prstGeom>
          <a:noFill/>
          <a:ln/>
        </p:spPr>
        <p:txBody>
          <a:bodyPr wrap="square" lIns="0" tIns="0" rIns="0" bIns="0" rtlCol="0" anchor="t"/>
          <a:lstStyle/>
          <a:p>
            <a:pPr indent="0" marL="0">
              <a:lnSpc>
                <a:spcPct val="108000"/>
              </a:lnSpc>
              <a:buNone/>
            </a:pPr>
            <a:r>
              <a:rPr lang="en-US" sz="3300" b="1" dirty="0">
                <a:solidFill>
                  <a:srgbClr val="1B2229"/>
                </a:solidFill>
                <a:latin typeface="Cambria" pitchFamily="34" charset="0"/>
                <a:ea typeface="Cambria" pitchFamily="34" charset="-122"/>
                <a:cs typeface="Cambria" pitchFamily="34" charset="-120"/>
              </a:rPr>
              <a:t>Can two review extracts be combined into one dataset an analyst is willing to stand behind?</a:t>
            </a:r>
            <a:endParaRPr lang="en-US" sz="3300" dirty="0"/>
          </a:p>
        </p:txBody>
      </p:sp>
      <p:sp>
        <p:nvSpPr>
          <p:cNvPr id="4" name="Text 2"/>
          <p:cNvSpPr/>
          <p:nvPr/>
        </p:nvSpPr>
        <p:spPr>
          <a:xfrm>
            <a:off x="566928" y="4434840"/>
            <a:ext cx="8650224" cy="1005840"/>
          </a:xfrm>
          <a:prstGeom prst="rect">
            <a:avLst/>
          </a:prstGeom>
          <a:noFill/>
          <a:ln/>
        </p:spPr>
        <p:txBody>
          <a:bodyPr wrap="square" lIns="0" tIns="0" rIns="0" bIns="0" rtlCol="0" anchor="ctr"/>
          <a:lstStyle/>
          <a:p>
            <a:pPr indent="0" marL="0">
              <a:buNone/>
            </a:pPr>
            <a:r>
              <a:rPr lang="en-US" sz="1550" dirty="0">
                <a:solidFill>
                  <a:srgbClr val="5A646E"/>
                </a:solidFill>
                <a:latin typeface="Calibri" pitchFamily="34" charset="0"/>
                <a:ea typeface="Calibri" pitchFamily="34" charset="-122"/>
                <a:cs typeface="Calibri" pitchFamily="34" charset="-120"/>
              </a:rPr>
              <a:t>Source A: 34,660 rows × 21 columns. Source B: 28,332 × 24. They share 18 columns, overlap on 15 products, and neither is authoritative.</a:t>
            </a:r>
            <a:endParaRPr lang="en-US" sz="1550" dirty="0"/>
          </a:p>
        </p:txBody>
      </p:sp>
      <p:sp>
        <p:nvSpPr>
          <p:cNvPr id="5"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6"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Q1 · RAW DATA</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Neither source is complete</a:t>
            </a:r>
            <a:endParaRPr lang="en-US" sz="3000" dirty="0"/>
          </a:p>
        </p:txBody>
      </p:sp>
      <p:pic>
        <p:nvPicPr>
          <p:cNvPr id="4" name="Image 0" descr="/home/claude/casestudy2/figs/fig01_raw_missing.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Missing values per column in the two raw extracts. Source A has three columns that are entirely empty and loses a fifth of its product names; Source B is more complete but is missing the recommendation flag and helpful-vote count for roughly 43% of reviews. No column is complete in both sources.</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Q1 · CONSEQUENCES OF ANALYSING RAW</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Five things that would have gone wrong</a:t>
            </a:r>
            <a:endParaRPr lang="en-US" sz="3000" dirty="0"/>
          </a:p>
        </p:txBody>
      </p:sp>
      <p:sp>
        <p:nvSpPr>
          <p:cNvPr id="4" name="Shape 2"/>
          <p:cNvSpPr/>
          <p:nvPr/>
        </p:nvSpPr>
        <p:spPr>
          <a:xfrm>
            <a:off x="566928" y="1783080"/>
            <a:ext cx="5367528"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5" name="Shape 3"/>
          <p:cNvSpPr/>
          <p:nvPr/>
        </p:nvSpPr>
        <p:spPr>
          <a:xfrm>
            <a:off x="804672" y="2002536"/>
            <a:ext cx="402336" cy="402336"/>
          </a:xfrm>
          <a:prstGeom prst="ellipse">
            <a:avLst/>
          </a:prstGeom>
          <a:solidFill>
            <a:srgbClr val="F7EEE0"/>
          </a:solidFill>
          <a:ln/>
        </p:spPr>
      </p:sp>
      <p:sp>
        <p:nvSpPr>
          <p:cNvPr id="6" name="Text 4"/>
          <p:cNvSpPr/>
          <p:nvPr/>
        </p:nvSpPr>
        <p:spPr>
          <a:xfrm>
            <a:off x="804672" y="2002536"/>
            <a:ext cx="402336" cy="402336"/>
          </a:xfrm>
          <a:prstGeom prst="rect">
            <a:avLst/>
          </a:prstGeom>
          <a:noFill/>
          <a:ln/>
        </p:spPr>
        <p:txBody>
          <a:bodyPr wrap="square" lIns="0" tIns="0" rIns="0" bIns="0" rtlCol="0" anchor="ctr"/>
          <a:lstStyle/>
          <a:p>
            <a:pPr algn="ctr" indent="0" marL="0">
              <a:buNone/>
            </a:pPr>
            <a:r>
              <a:rPr lang="en-US" sz="1300" b="1" dirty="0">
                <a:solidFill>
                  <a:srgbClr val="7A551F"/>
                </a:solidFill>
                <a:latin typeface="Courier New" pitchFamily="34" charset="0"/>
                <a:ea typeface="Courier New" pitchFamily="34" charset="-122"/>
                <a:cs typeface="Courier New" pitchFamily="34" charset="-120"/>
              </a:rPr>
              <a:t>01</a:t>
            </a:r>
            <a:endParaRPr lang="en-US" sz="1300" dirty="0"/>
          </a:p>
        </p:txBody>
      </p:sp>
      <p:sp>
        <p:nvSpPr>
          <p:cNvPr id="7" name="Text 5"/>
          <p:cNvSpPr/>
          <p:nvPr/>
        </p:nvSpPr>
        <p:spPr>
          <a:xfrm>
            <a:off x="1316736" y="2002536"/>
            <a:ext cx="4361688"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Vacuous columns</a:t>
            </a:r>
            <a:endParaRPr lang="en-US" sz="1450" dirty="0"/>
          </a:p>
        </p:txBody>
      </p:sp>
      <p:sp>
        <p:nvSpPr>
          <p:cNvPr id="8" name="Text 6"/>
          <p:cNvSpPr/>
          <p:nvPr/>
        </p:nvSpPr>
        <p:spPr>
          <a:xfrm>
            <a:off x="822960" y="2532888"/>
            <a:ext cx="4855464"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Three columns in A and one in B are 100% empty — any claim built on them is empty too.</a:t>
            </a:r>
            <a:endParaRPr lang="en-US" sz="1250" dirty="0"/>
          </a:p>
        </p:txBody>
      </p:sp>
      <p:sp>
        <p:nvSpPr>
          <p:cNvPr id="9" name="Shape 7"/>
          <p:cNvSpPr/>
          <p:nvPr/>
        </p:nvSpPr>
        <p:spPr>
          <a:xfrm>
            <a:off x="6227064" y="1783080"/>
            <a:ext cx="5367528"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10" name="Shape 8"/>
          <p:cNvSpPr/>
          <p:nvPr/>
        </p:nvSpPr>
        <p:spPr>
          <a:xfrm>
            <a:off x="6464808" y="2002536"/>
            <a:ext cx="402336" cy="402336"/>
          </a:xfrm>
          <a:prstGeom prst="ellipse">
            <a:avLst/>
          </a:prstGeom>
          <a:solidFill>
            <a:srgbClr val="F7EEE0"/>
          </a:solidFill>
          <a:ln/>
        </p:spPr>
      </p:sp>
      <p:sp>
        <p:nvSpPr>
          <p:cNvPr id="11" name="Text 9"/>
          <p:cNvSpPr/>
          <p:nvPr/>
        </p:nvSpPr>
        <p:spPr>
          <a:xfrm>
            <a:off x="6464808" y="2002536"/>
            <a:ext cx="402336" cy="402336"/>
          </a:xfrm>
          <a:prstGeom prst="rect">
            <a:avLst/>
          </a:prstGeom>
          <a:noFill/>
          <a:ln/>
        </p:spPr>
        <p:txBody>
          <a:bodyPr wrap="square" lIns="0" tIns="0" rIns="0" bIns="0" rtlCol="0" anchor="ctr"/>
          <a:lstStyle/>
          <a:p>
            <a:pPr algn="ctr" indent="0" marL="0">
              <a:buNone/>
            </a:pPr>
            <a:r>
              <a:rPr lang="en-US" sz="1300" b="1" dirty="0">
                <a:solidFill>
                  <a:srgbClr val="7A551F"/>
                </a:solidFill>
                <a:latin typeface="Courier New" pitchFamily="34" charset="0"/>
                <a:ea typeface="Courier New" pitchFamily="34" charset="-122"/>
                <a:cs typeface="Courier New" pitchFamily="34" charset="-120"/>
              </a:rPr>
              <a:t>02</a:t>
            </a:r>
            <a:endParaRPr lang="en-US" sz="1300" dirty="0"/>
          </a:p>
        </p:txBody>
      </p:sp>
      <p:sp>
        <p:nvSpPr>
          <p:cNvPr id="12" name="Text 10"/>
          <p:cNvSpPr/>
          <p:nvPr/>
        </p:nvSpPr>
        <p:spPr>
          <a:xfrm>
            <a:off x="6976872" y="2002536"/>
            <a:ext cx="4361688"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Silent exclusion</a:t>
            </a:r>
            <a:endParaRPr lang="en-US" sz="1450" dirty="0"/>
          </a:p>
        </p:txBody>
      </p:sp>
      <p:sp>
        <p:nvSpPr>
          <p:cNvPr id="13" name="Text 11"/>
          <p:cNvSpPr/>
          <p:nvPr/>
        </p:nvSpPr>
        <p:spPr>
          <a:xfrm>
            <a:off x="6483096" y="2532888"/>
            <a:ext cx="4855464"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'name' missing for a fifth of Source A, so per-product summaries would drop them without warning.</a:t>
            </a:r>
            <a:endParaRPr lang="en-US" sz="1250" dirty="0"/>
          </a:p>
        </p:txBody>
      </p:sp>
      <p:sp>
        <p:nvSpPr>
          <p:cNvPr id="14" name="Shape 12"/>
          <p:cNvSpPr/>
          <p:nvPr/>
        </p:nvSpPr>
        <p:spPr>
          <a:xfrm>
            <a:off x="566928" y="3918204"/>
            <a:ext cx="5367528"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15" name="Shape 13"/>
          <p:cNvSpPr/>
          <p:nvPr/>
        </p:nvSpPr>
        <p:spPr>
          <a:xfrm>
            <a:off x="804672" y="4137660"/>
            <a:ext cx="402336" cy="402336"/>
          </a:xfrm>
          <a:prstGeom prst="ellipse">
            <a:avLst/>
          </a:prstGeom>
          <a:solidFill>
            <a:srgbClr val="F7EEE0"/>
          </a:solidFill>
          <a:ln/>
        </p:spPr>
      </p:sp>
      <p:sp>
        <p:nvSpPr>
          <p:cNvPr id="16" name="Text 14"/>
          <p:cNvSpPr/>
          <p:nvPr/>
        </p:nvSpPr>
        <p:spPr>
          <a:xfrm>
            <a:off x="804672" y="4137660"/>
            <a:ext cx="402336" cy="402336"/>
          </a:xfrm>
          <a:prstGeom prst="rect">
            <a:avLst/>
          </a:prstGeom>
          <a:noFill/>
          <a:ln/>
        </p:spPr>
        <p:txBody>
          <a:bodyPr wrap="square" lIns="0" tIns="0" rIns="0" bIns="0" rtlCol="0" anchor="ctr"/>
          <a:lstStyle/>
          <a:p>
            <a:pPr algn="ctr" indent="0" marL="0">
              <a:buNone/>
            </a:pPr>
            <a:r>
              <a:rPr lang="en-US" sz="1300" b="1" dirty="0">
                <a:solidFill>
                  <a:srgbClr val="7A551F"/>
                </a:solidFill>
                <a:latin typeface="Courier New" pitchFamily="34" charset="0"/>
                <a:ea typeface="Courier New" pitchFamily="34" charset="-122"/>
                <a:cs typeface="Courier New" pitchFamily="34" charset="-120"/>
              </a:rPr>
              <a:t>03</a:t>
            </a:r>
            <a:endParaRPr lang="en-US" sz="1300" dirty="0"/>
          </a:p>
        </p:txBody>
      </p:sp>
      <p:sp>
        <p:nvSpPr>
          <p:cNvPr id="17" name="Text 15"/>
          <p:cNvSpPr/>
          <p:nvPr/>
        </p:nvSpPr>
        <p:spPr>
          <a:xfrm>
            <a:off x="1316736" y="4137660"/>
            <a:ext cx="4361688"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Unsortable dates</a:t>
            </a:r>
            <a:endParaRPr lang="en-US" sz="1450" dirty="0"/>
          </a:p>
        </p:txBody>
      </p:sp>
      <p:sp>
        <p:nvSpPr>
          <p:cNvPr id="18" name="Text 16"/>
          <p:cNvSpPr/>
          <p:nvPr/>
        </p:nvSpPr>
        <p:spPr>
          <a:xfrm>
            <a:off x="822960" y="4668012"/>
            <a:ext cx="4855464"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Dates arrive as strings — sorting is lexicographic and resampling impossible.</a:t>
            </a:r>
            <a:endParaRPr lang="en-US" sz="1250" dirty="0"/>
          </a:p>
        </p:txBody>
      </p:sp>
      <p:sp>
        <p:nvSpPr>
          <p:cNvPr id="19" name="Shape 17"/>
          <p:cNvSpPr/>
          <p:nvPr/>
        </p:nvSpPr>
        <p:spPr>
          <a:xfrm>
            <a:off x="6227064" y="3918204"/>
            <a:ext cx="5367528"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20" name="Shape 18"/>
          <p:cNvSpPr/>
          <p:nvPr/>
        </p:nvSpPr>
        <p:spPr>
          <a:xfrm>
            <a:off x="6464808" y="4137660"/>
            <a:ext cx="402336" cy="402336"/>
          </a:xfrm>
          <a:prstGeom prst="ellipse">
            <a:avLst/>
          </a:prstGeom>
          <a:solidFill>
            <a:srgbClr val="F7EEE0"/>
          </a:solidFill>
          <a:ln/>
        </p:spPr>
      </p:sp>
      <p:sp>
        <p:nvSpPr>
          <p:cNvPr id="21" name="Text 19"/>
          <p:cNvSpPr/>
          <p:nvPr/>
        </p:nvSpPr>
        <p:spPr>
          <a:xfrm>
            <a:off x="6464808" y="4137660"/>
            <a:ext cx="402336" cy="402336"/>
          </a:xfrm>
          <a:prstGeom prst="rect">
            <a:avLst/>
          </a:prstGeom>
          <a:noFill/>
          <a:ln/>
        </p:spPr>
        <p:txBody>
          <a:bodyPr wrap="square" lIns="0" tIns="0" rIns="0" bIns="0" rtlCol="0" anchor="ctr"/>
          <a:lstStyle/>
          <a:p>
            <a:pPr algn="ctr" indent="0" marL="0">
              <a:buNone/>
            </a:pPr>
            <a:r>
              <a:rPr lang="en-US" sz="1300" b="1" dirty="0">
                <a:solidFill>
                  <a:srgbClr val="7A551F"/>
                </a:solidFill>
                <a:latin typeface="Courier New" pitchFamily="34" charset="0"/>
                <a:ea typeface="Courier New" pitchFamily="34" charset="-122"/>
                <a:cs typeface="Courier New" pitchFamily="34" charset="-120"/>
              </a:rPr>
              <a:t>04</a:t>
            </a:r>
            <a:endParaRPr lang="en-US" sz="1300" dirty="0"/>
          </a:p>
        </p:txBody>
      </p:sp>
      <p:sp>
        <p:nvSpPr>
          <p:cNvPr id="22" name="Text 20"/>
          <p:cNvSpPr/>
          <p:nvPr/>
        </p:nvSpPr>
        <p:spPr>
          <a:xfrm>
            <a:off x="6976872" y="4137660"/>
            <a:ext cx="4361688"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Double counting</a:t>
            </a:r>
            <a:endParaRPr lang="en-US" sz="1450" dirty="0"/>
          </a:p>
        </p:txBody>
      </p:sp>
      <p:sp>
        <p:nvSpPr>
          <p:cNvPr id="23" name="Text 21"/>
          <p:cNvSpPr/>
          <p:nvPr/>
        </p:nvSpPr>
        <p:spPr>
          <a:xfrm>
            <a:off x="6483096" y="4668012"/>
            <a:ext cx="4855464"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Nothing prevents the same review being counted twice across the two extracts.</a:t>
            </a:r>
            <a:endParaRPr lang="en-US" sz="1250" dirty="0"/>
          </a:p>
        </p:txBody>
      </p:sp>
      <p:sp>
        <p:nvSpPr>
          <p:cNvPr id="24" name="Text 22"/>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25" name="Text 23"/>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EEE0"/>
        </a:solidFill>
      </p:bgPr>
    </p:bg>
    <p:spTree>
      <p:nvGrpSpPr>
        <p:cNvPr id="1" name=""/>
        <p:cNvGrpSpPr/>
        <p:nvPr/>
      </p:nvGrpSpPr>
      <p:grpSpPr>
        <a:xfrm>
          <a:off x="0" y="0"/>
          <a:ext cx="0" cy="0"/>
          <a:chOff x="0" y="0"/>
          <a:chExt cx="0" cy="0"/>
        </a:xfrm>
      </p:grpSpPr>
      <p:sp>
        <p:nvSpPr>
          <p:cNvPr id="2" name="Shape 0"/>
          <p:cNvSpPr/>
          <p:nvPr/>
        </p:nvSpPr>
        <p:spPr>
          <a:xfrm>
            <a:off x="566928" y="1828800"/>
            <a:ext cx="274320" cy="274320"/>
          </a:xfrm>
          <a:prstGeom prst="rect">
            <a:avLst/>
          </a:prstGeom>
          <a:solidFill>
            <a:srgbClr val="A6752C"/>
          </a:solidFill>
          <a:ln/>
        </p:spPr>
      </p:sp>
      <p:sp>
        <p:nvSpPr>
          <p:cNvPr id="3" name="Text 1"/>
          <p:cNvSpPr/>
          <p:nvPr/>
        </p:nvSpPr>
        <p:spPr>
          <a:xfrm>
            <a:off x="566928" y="2331720"/>
            <a:ext cx="9564624" cy="2011680"/>
          </a:xfrm>
          <a:prstGeom prst="rect">
            <a:avLst/>
          </a:prstGeom>
          <a:noFill/>
          <a:ln/>
        </p:spPr>
        <p:txBody>
          <a:bodyPr wrap="square" lIns="0" tIns="0" rIns="0" bIns="0" rtlCol="0" anchor="t"/>
          <a:lstStyle/>
          <a:p>
            <a:pPr indent="0" marL="0">
              <a:lnSpc>
                <a:spcPct val="108000"/>
              </a:lnSpc>
              <a:buNone/>
            </a:pPr>
            <a:r>
              <a:rPr lang="en-US" sz="3300" b="1" dirty="0">
                <a:solidFill>
                  <a:srgbClr val="1B2229"/>
                </a:solidFill>
                <a:latin typeface="Cambria" pitchFamily="34" charset="0"/>
                <a:ea typeface="Cambria" pitchFamily="34" charset="-122"/>
                <a:cs typeface="Cambria" pitchFamily="34" charset="-120"/>
              </a:rPr>
              <a:t>The product key was malformed — and it would have defeated any join.</a:t>
            </a:r>
            <a:endParaRPr lang="en-US" sz="3300" dirty="0"/>
          </a:p>
        </p:txBody>
      </p:sp>
      <p:sp>
        <p:nvSpPr>
          <p:cNvPr id="4" name="Text 2"/>
          <p:cNvSpPr/>
          <p:nvPr/>
        </p:nvSpPr>
        <p:spPr>
          <a:xfrm>
            <a:off x="566928" y="4434840"/>
            <a:ext cx="8650224" cy="1005840"/>
          </a:xfrm>
          <a:prstGeom prst="rect">
            <a:avLst/>
          </a:prstGeom>
          <a:noFill/>
          <a:ln/>
        </p:spPr>
        <p:txBody>
          <a:bodyPr wrap="square" lIns="0" tIns="0" rIns="0" bIns="0" rtlCol="0" anchor="ctr"/>
          <a:lstStyle/>
          <a:p>
            <a:pPr indent="0" marL="0">
              <a:buNone/>
            </a:pPr>
            <a:r>
              <a:rPr lang="en-US" sz="1550" dirty="0">
                <a:solidFill>
                  <a:srgbClr val="5A646E"/>
                </a:solidFill>
                <a:latin typeface="Calibri" pitchFamily="34" charset="0"/>
                <a:ea typeface="Calibri" pitchFamily="34" charset="-122"/>
                <a:cs typeface="Calibri" pitchFamily="34" charset="-120"/>
              </a:rPr>
              <a:t>Source B stores asins as a comma-separated list in one cell ('B018SZT3BK,B01AHB9CN2'); Source A stores a single id. Compared as strings they never match, even for the same product.</a:t>
            </a:r>
            <a:endParaRPr lang="en-US" sz="1550" dirty="0"/>
          </a:p>
        </p:txBody>
      </p:sp>
      <p:sp>
        <p:nvSpPr>
          <p:cNvPr id="5"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6"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Q2 · INTEGRATION</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Chasing a discrepancy to its cause</a:t>
            </a:r>
            <a:endParaRPr lang="en-US" sz="3000" dirty="0"/>
          </a:p>
        </p:txBody>
      </p:sp>
      <p:sp>
        <p:nvSpPr>
          <p:cNvPr id="4" name="Shape 2"/>
          <p:cNvSpPr/>
          <p:nvPr/>
        </p:nvSpPr>
        <p:spPr>
          <a:xfrm>
            <a:off x="566928" y="1783080"/>
            <a:ext cx="6065215" cy="3977640"/>
          </a:xfrm>
          <a:prstGeom prst="roundRect">
            <a:avLst>
              <a:gd name="adj" fmla="val 1379"/>
            </a:avLst>
          </a:prstGeom>
          <a:solidFill>
            <a:srgbClr val="1B2229"/>
          </a:solidFill>
          <a:ln w="12700">
            <a:solidFill>
              <a:srgbClr val="FFFFFF"/>
            </a:solidFill>
            <a:prstDash val="solid"/>
          </a:ln>
        </p:spPr>
      </p:sp>
      <p:sp>
        <p:nvSpPr>
          <p:cNvPr id="5" name="Text 3"/>
          <p:cNvSpPr/>
          <p:nvPr/>
        </p:nvSpPr>
        <p:spPr>
          <a:xfrm>
            <a:off x="768096" y="1920240"/>
            <a:ext cx="5662879" cy="3703320"/>
          </a:xfrm>
          <a:prstGeom prst="rect">
            <a:avLst/>
          </a:prstGeom>
          <a:noFill/>
          <a:ln/>
        </p:spPr>
        <p:txBody>
          <a:bodyPr wrap="square" lIns="0" tIns="0" rIns="0" bIns="0" rtlCol="0" anchor="t"/>
          <a:lstStyle/>
          <a:p>
            <a:pPr indent="0" marL="0">
              <a:buNone/>
            </a:pPr>
            <a:r>
              <a:rPr lang="en-US" sz="950" dirty="0">
                <a:solidFill>
                  <a:srgbClr val="7FA8A6"/>
                </a:solidFill>
                <a:latin typeface="Courier New" pitchFamily="34" charset="0"/>
                <a:ea typeface="Courier New" pitchFamily="34" charset="-122"/>
                <a:cs typeface="Courier New" pitchFamily="34" charset="-120"/>
              </a:rPr>
              <a:t># overlap measured two ways disagreed - so we investigated</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ab = pd.merge(src_a[keys], src_b[keys],</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              on=["reviews.username","reviews.text"],</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              how="inner", suffixes=("_A","_B"))</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print(len(ab))                       # 14,053 row-pairs</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print(ab[keys2].drop_duplicates().shape[0])   # 7,255 distinct</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7FA8A6"/>
                </a:solidFill>
                <a:latin typeface="Courier New" pitchFamily="34" charset="0"/>
                <a:ea typeface="Courier New" pitchFamily="34" charset="-122"/>
                <a:cs typeface="Courier New" pitchFamily="34" charset="-120"/>
              </a:rPr>
              <a:t># the join is many-to-many, so row counts inflate.</a:t>
            </a:r>
            <a:endParaRPr lang="en-US" sz="950" dirty="0"/>
          </a:p>
          <a:p>
            <a:pPr indent="0" marL="0">
              <a:buNone/>
            </a:pPr>
            <a:r>
              <a:rPr lang="en-US" sz="950" dirty="0">
                <a:solidFill>
                  <a:srgbClr val="7FA8A6"/>
                </a:solidFill>
                <a:latin typeface="Courier New" pitchFamily="34" charset="0"/>
                <a:ea typeface="Courier New" pitchFamily="34" charset="-122"/>
                <a:cs typeface="Courier New" pitchFamily="34" charset="-120"/>
              </a:rPr>
              <a:t># then: why do the asins differ?</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def key_set(v):</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    return {x.strip() for x in str(v).split(",") if x.strip()}</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ab["overlap"] = [bool(key_set(x) &amp; key_set(y))</a:t>
            </a:r>
            <a:endParaRPr lang="en-US" sz="950" dirty="0"/>
          </a:p>
          <a:p>
            <a:pPr indent="0" marL="0">
              <a:buNone/>
            </a:pPr>
            <a:r>
              <a:rPr lang="en-US" sz="950" dirty="0">
                <a:solidFill>
                  <a:srgbClr val="E4E9EC"/>
                </a:solidFill>
                <a:latin typeface="Courier New" pitchFamily="34" charset="0"/>
                <a:ea typeface="Courier New" pitchFamily="34" charset="-122"/>
                <a:cs typeface="Courier New" pitchFamily="34" charset="-120"/>
              </a:rPr>
              <a:t>                 for x,y in zip(ab.asins_A, ab.asins_B)]</a:t>
            </a:r>
            <a:endParaRPr lang="en-US" sz="950" dirty="0"/>
          </a:p>
        </p:txBody>
      </p:sp>
      <p:sp>
        <p:nvSpPr>
          <p:cNvPr id="6" name="Shape 4"/>
          <p:cNvSpPr/>
          <p:nvPr/>
        </p:nvSpPr>
        <p:spPr>
          <a:xfrm>
            <a:off x="6943039" y="1783080"/>
            <a:ext cx="4651553" cy="3977640"/>
          </a:xfrm>
          <a:prstGeom prst="roundRect">
            <a:avLst>
              <a:gd name="adj" fmla="val 1379"/>
            </a:avLst>
          </a:prstGeom>
          <a:solidFill>
            <a:srgbClr val="F7EEE0"/>
          </a:solidFill>
          <a:ln w="12700">
            <a:solidFill>
              <a:srgbClr val="FFFFFF"/>
            </a:solidFill>
            <a:prstDash val="solid"/>
          </a:ln>
        </p:spPr>
      </p:sp>
      <p:sp>
        <p:nvSpPr>
          <p:cNvPr id="7" name="Text 5"/>
          <p:cNvSpPr/>
          <p:nvPr/>
        </p:nvSpPr>
        <p:spPr>
          <a:xfrm>
            <a:off x="7144207" y="1883664"/>
            <a:ext cx="4249217" cy="219456"/>
          </a:xfrm>
          <a:prstGeom prst="rect">
            <a:avLst/>
          </a:prstGeom>
          <a:noFill/>
          <a:ln/>
        </p:spPr>
        <p:txBody>
          <a:bodyPr wrap="square" lIns="0" tIns="0" rIns="0" bIns="0" rtlCol="0" anchor="ctr"/>
          <a:lstStyle/>
          <a:p>
            <a:pPr indent="0" marL="0">
              <a:buNone/>
            </a:pPr>
            <a:r>
              <a:rPr lang="en-US" sz="850" b="1" spc="120" kern="0" dirty="0">
                <a:solidFill>
                  <a:srgbClr val="7A551F"/>
                </a:solidFill>
                <a:latin typeface="Courier New" pitchFamily="34" charset="0"/>
                <a:ea typeface="Courier New" pitchFamily="34" charset="-122"/>
                <a:cs typeface="Courier New" pitchFamily="34" charset="-120"/>
              </a:rPr>
              <a:t>OUTPUT</a:t>
            </a:r>
            <a:endParaRPr lang="en-US" sz="850" dirty="0"/>
          </a:p>
        </p:txBody>
      </p:sp>
      <p:sp>
        <p:nvSpPr>
          <p:cNvPr id="8" name="Text 6"/>
          <p:cNvSpPr/>
          <p:nvPr/>
        </p:nvSpPr>
        <p:spPr>
          <a:xfrm>
            <a:off x="7144207" y="2139696"/>
            <a:ext cx="4249217" cy="3520440"/>
          </a:xfrm>
          <a:prstGeom prst="rect">
            <a:avLst/>
          </a:prstGeom>
          <a:noFill/>
          <a:ln/>
        </p:spPr>
        <p:txBody>
          <a:bodyPr wrap="square" lIns="0" tIns="0" rIns="0" bIns="0" rtlCol="0" anchor="t"/>
          <a:lstStyle/>
          <a:p>
            <a:pPr indent="0" marL="0">
              <a:buNone/>
            </a:pPr>
            <a:r>
              <a:rPr lang="en-US" sz="850" dirty="0">
                <a:solidFill>
                  <a:srgbClr val="1B2229"/>
                </a:solidFill>
                <a:latin typeface="Courier New" pitchFamily="34" charset="0"/>
                <a:ea typeface="Courier New" pitchFamily="34" charset="-122"/>
                <a:cs typeface="Courier New" pitchFamily="34" charset="-120"/>
              </a:rPr>
              <a:t>row-pairs from join : 14,053</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distinct user+text  :  7,255</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exact string match  :  3,560</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asins differ        : 10,493</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  A: 'B01AHB9CN2'</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  B: 'B018SZT3BK,B01AHB9CN2'</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after normalising the key:</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  share a product id:  6,017</a:t>
            </a:r>
            <a:endParaRPr lang="en-US" sz="850" dirty="0"/>
          </a:p>
          <a:p>
            <a:pPr indent="0" marL="0">
              <a:buNone/>
            </a:pPr>
            <a:r>
              <a:rPr lang="en-US" sz="850" dirty="0">
                <a:solidFill>
                  <a:srgbClr val="1B2229"/>
                </a:solidFill>
                <a:latin typeface="Courier New" pitchFamily="34" charset="0"/>
                <a:ea typeface="Courier New" pitchFamily="34" charset="-122"/>
                <a:cs typeface="Courier New" pitchFamily="34" charset="-120"/>
              </a:rPr>
              <a:t>  genuinely different: 8,036</a:t>
            </a:r>
            <a:endParaRPr lang="en-US" sz="850" dirty="0"/>
          </a:p>
        </p:txBody>
      </p:sp>
      <p:sp>
        <p:nvSpPr>
          <p:cNvPr id="9" name="Text 7"/>
          <p:cNvSpPr/>
          <p:nvPr/>
        </p:nvSpPr>
        <p:spPr>
          <a:xfrm>
            <a:off x="566928" y="5870448"/>
            <a:ext cx="11027664" cy="411480"/>
          </a:xfrm>
          <a:prstGeom prst="rect">
            <a:avLst/>
          </a:prstGeom>
          <a:noFill/>
          <a:ln/>
        </p:spPr>
        <p:txBody>
          <a:bodyPr wrap="square" lIns="0" tIns="0" rIns="0" bIns="0" rtlCol="0" anchor="ctr"/>
          <a:lstStyle/>
          <a:p>
            <a:pPr indent="0" marL="0">
              <a:buNone/>
            </a:pPr>
            <a:r>
              <a:rPr lang="en-US" sz="1150" i="1" dirty="0">
                <a:solidFill>
                  <a:srgbClr val="7A551F"/>
                </a:solidFill>
                <a:latin typeface="Calibri" pitchFamily="34" charset="0"/>
                <a:ea typeface="Calibri" pitchFamily="34" charset="-122"/>
                <a:cs typeface="Calibri" pitchFamily="34" charset="-120"/>
              </a:rPr>
              <a:t>Always check distinct keys, not row counts — a many-to-many join inflates both.</a:t>
            </a:r>
            <a:endParaRPr lang="en-US" sz="1150" dirty="0"/>
          </a:p>
        </p:txBody>
      </p:sp>
      <p:sp>
        <p:nvSpPr>
          <p:cNvPr id="10" name="Text 8"/>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11" name="Text 9"/>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Q3 · CLEANING</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Where the rows went</a:t>
            </a:r>
            <a:endParaRPr lang="en-US" sz="3000" dirty="0"/>
          </a:p>
        </p:txBody>
      </p:sp>
      <p:pic>
        <p:nvPicPr>
          <p:cNvPr id="4" name="Image 0" descr="/home/claude/casestudy2/figs/fig02_pipeline.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Row count at each stage of the cleaning pipeline. Removing reviews duplicated across the two extracts is by far the largest single reduction, which is exactly the cost of integrating sources that were never designed to be combined.</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Q3 · CLEANING LOG</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Every decision, recorded</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27664" cy="914400"/>
        </p:xfrm>
        <a:graphic>
          <a:graphicData uri="http://schemas.openxmlformats.org/drawingml/2006/table">
            <a:tbl>
              <a:tblPr/>
              <a:tblGrid>
                <a:gridCol w="822960"/>
                <a:gridCol w="3749040"/>
                <a:gridCol w="1371600"/>
                <a:gridCol w="5084064"/>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Step</a:t>
                      </a:r>
                      <a:endParaRPr lang="en-US" sz="125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7A551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Action</a:t>
                      </a:r>
                      <a:endParaRPr lang="en-US" sz="125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7A551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Rows lost</a:t>
                      </a:r>
                      <a:endParaRPr lang="en-US" sz="125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7A551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a:t>
                      </a:r>
                      <a:endParaRPr lang="en-US" sz="125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7A551F"/>
                    </a:solidFill>
                  </a:tcPr>
                </a:tc>
              </a:tr>
              <a:tr h="0">
                <a:tc>
                  <a:txBody>
                    <a:bodyPr/>
                    <a:lstStyle/>
                    <a:p>
                      <a:pPr indent="0" marL="0">
                        <a:buNone/>
                      </a:pPr>
                      <a:r>
                        <a:rPr lang="en-US" sz="1200" b="1" dirty="0">
                          <a:solidFill>
                            <a:srgbClr val="1B2229"/>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Removed exact duplicates</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Identical across all carried columns</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B2229"/>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Removed cross-source duplicates</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5,737</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Same user + text + normalised product key</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r>
              <a:tr h="0">
                <a:tc>
                  <a:txBody>
                    <a:bodyPr/>
                    <a:lstStyle/>
                    <a:p>
                      <a:pPr indent="0" marL="0">
                        <a:buNone/>
                      </a:pPr>
                      <a:r>
                        <a:rPr lang="en-US" sz="1200" b="1" dirty="0">
                          <a:solidFill>
                            <a:srgbClr val="1B2229"/>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Trimmed whitespace, case-folded brand</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8 spellings of a handful of real brands</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B2229"/>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Parsed dates, dropped unusable</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Needed for resampling</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r>
              <a:tr h="0">
                <a:tc>
                  <a:txBody>
                    <a:bodyPr/>
                    <a:lstStyle/>
                    <a:p>
                      <a:pPr indent="0" marL="0">
                        <a:buNone/>
                      </a:pPr>
                      <a:r>
                        <a:rPr lang="en-US" sz="1200" b="1" dirty="0">
                          <a:solidFill>
                            <a:srgbClr val="1B2229"/>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Enforced rating domain [1,5]</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Values off-scale cannot be genuine</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5897880"/>
            <a:ext cx="11027664" cy="411480"/>
          </a:xfrm>
          <a:prstGeom prst="rect">
            <a:avLst/>
          </a:prstGeom>
          <a:noFill/>
          <a:ln/>
        </p:spPr>
        <p:txBody>
          <a:bodyPr wrap="square" lIns="0" tIns="0" rIns="0" bIns="0" rtlCol="0" anchor="ctr"/>
          <a:lstStyle/>
          <a:p>
            <a:pPr indent="0" marL="0">
              <a:buNone/>
            </a:pPr>
            <a:r>
              <a:rPr lang="en-US" sz="1200" i="1" dirty="0">
                <a:solidFill>
                  <a:srgbClr val="7A551F"/>
                </a:solidFill>
                <a:latin typeface="Calibri" pitchFamily="34" charset="0"/>
                <a:ea typeface="Calibri" pitchFamily="34" charset="-122"/>
                <a:cs typeface="Calibri" pitchFamily="34" charset="-120"/>
              </a:rPr>
              <a:t>90.6% of the union survived. Integration cost more rows than cleaning did.</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Q4 · NUMERIC</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Scaling relocates; only transforming reshapes</a:t>
            </a:r>
            <a:endParaRPr lang="en-US" sz="3000" dirty="0"/>
          </a:p>
        </p:txBody>
      </p:sp>
      <p:pic>
        <p:nvPicPr>
          <p:cNvPr id="4" name="Image 0" descr="/home/claude/casestudy2/figs/fig03_scaling.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Helpful-vote counts raw, after standardisation, and after a log transform followed by standardisation. Scaling alone relocates the distribution without reshaping it; only the log transform addresses the extreme skew.</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Q5 · TEXT</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TF-IDF separates what raw counts cannot</a:t>
            </a:r>
            <a:endParaRPr lang="en-US" sz="3000" dirty="0"/>
          </a:p>
        </p:txBody>
      </p:sp>
      <p:pic>
        <p:nvPicPr>
          <p:cNvPr id="4" name="Image 0" descr="/home/claude/casestudy2/figs/fig04_text.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Highest mean TF-IDF terms for negative and positive reviews. TF-IDF suppresses words common to all reviews and promotes the terms that actually distinguish the two groups, which raw frequency counts fail to do.</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Q6 · TIME SERIES</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Resampling makes an unusable series readable</a:t>
            </a:r>
            <a:endParaRPr lang="en-US" sz="3000" dirty="0"/>
          </a:p>
        </p:txBody>
      </p:sp>
      <p:pic>
        <p:nvPicPr>
          <p:cNvPr id="4" name="Image 0" descr="/home/claude/casestudy2/figs/fig05_timeseries.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The same data as raw daily events, resampled to monthly frequency, and with the daily rating series forward-filled. Resampling turns an unusable spiky series into a readable trend; forward filling makes the gaps explicit rather than invisible.</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Q7 · MISSING VALUES</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What each imputation strategy costs</a:t>
            </a:r>
            <a:endParaRPr lang="en-US" sz="3000" dirty="0"/>
          </a:p>
        </p:txBody>
      </p:sp>
      <p:pic>
        <p:nvPicPr>
          <p:cNvPr id="4" name="Image 0" descr="/home/claude/casestudy2/figs/fig06_imputation.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Distribution of helpful votes after mean, median and KNN imputation compared with the observed values. Mean and median imputation create a spike at a single value and shrink the variance; KNN preserves the shape far better because it uses the other columns rather than one constant.</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Q7 · MECHANISM</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Missingness was explained by provenance</a:t>
            </a:r>
            <a:endParaRPr lang="en-US" sz="3000" dirty="0"/>
          </a:p>
        </p:txBody>
      </p:sp>
      <p:sp>
        <p:nvSpPr>
          <p:cNvPr id="4" name="Text 2"/>
          <p:cNvSpPr/>
          <p:nvPr/>
        </p:nvSpPr>
        <p:spPr>
          <a:xfrm>
            <a:off x="566928" y="1783080"/>
            <a:ext cx="6616598" cy="393192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Helpful votes present for 98.6% of Source A rows, 56.9% of Source B</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The missingness indicator correlates with source, an OBSERVED variable</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That is MAR — missing at random given source — not MCAR</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So imputation is defensible, but imputed values inherit the character of the source that did record them</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Mean and median fills shrink the standard deviation; KNN stays closest to the observed spread</a:t>
            </a:r>
            <a:endParaRPr lang="en-US" sz="1500" dirty="0"/>
          </a:p>
        </p:txBody>
      </p:sp>
      <p:sp>
        <p:nvSpPr>
          <p:cNvPr id="5" name="Shape 3"/>
          <p:cNvSpPr/>
          <p:nvPr/>
        </p:nvSpPr>
        <p:spPr>
          <a:xfrm>
            <a:off x="7624633" y="1783080"/>
            <a:ext cx="3969959" cy="2679192"/>
          </a:xfrm>
          <a:prstGeom prst="roundRect">
            <a:avLst>
              <a:gd name="adj" fmla="val 2048"/>
            </a:avLst>
          </a:prstGeom>
          <a:solidFill>
            <a:srgbClr val="F7EEE0"/>
          </a:solidFill>
          <a:ln w="12700">
            <a:solidFill>
              <a:srgbClr val="FFFFFF"/>
            </a:solidFill>
            <a:prstDash val="solid"/>
          </a:ln>
        </p:spPr>
      </p:sp>
      <p:sp>
        <p:nvSpPr>
          <p:cNvPr id="6" name="Text 4"/>
          <p:cNvSpPr/>
          <p:nvPr/>
        </p:nvSpPr>
        <p:spPr>
          <a:xfrm>
            <a:off x="7880665" y="1993392"/>
            <a:ext cx="3457895" cy="365760"/>
          </a:xfrm>
          <a:prstGeom prst="rect">
            <a:avLst/>
          </a:prstGeom>
          <a:noFill/>
          <a:ln/>
        </p:spPr>
        <p:txBody>
          <a:bodyPr wrap="square" lIns="0" tIns="0" rIns="0" bIns="0" rtlCol="0" anchor="ctr"/>
          <a:lstStyle/>
          <a:p>
            <a:pPr indent="0" marL="0">
              <a:buNone/>
            </a:pPr>
            <a:r>
              <a:rPr lang="en-US" sz="1300" b="1" dirty="0">
                <a:solidFill>
                  <a:srgbClr val="7A551F"/>
                </a:solidFill>
                <a:latin typeface="Calibri" pitchFamily="34" charset="0"/>
                <a:ea typeface="Calibri" pitchFamily="34" charset="-122"/>
                <a:cs typeface="Calibri" pitchFamily="34" charset="-120"/>
              </a:rPr>
              <a:t>Applied</a:t>
            </a:r>
            <a:endParaRPr lang="en-US" sz="1300" dirty="0"/>
          </a:p>
        </p:txBody>
      </p:sp>
      <p:sp>
        <p:nvSpPr>
          <p:cNvPr id="7" name="Text 5"/>
          <p:cNvSpPr/>
          <p:nvPr/>
        </p:nvSpPr>
        <p:spPr>
          <a:xfrm>
            <a:off x="7880665" y="2395728"/>
            <a:ext cx="3457895" cy="1901952"/>
          </a:xfrm>
          <a:prstGeom prst="rect">
            <a:avLst/>
          </a:prstGeom>
          <a:noFill/>
          <a:ln/>
        </p:spPr>
        <p:txBody>
          <a:bodyPr wrap="square" lIns="0" tIns="0" rIns="0" bIns="0" rtlCol="0" anchor="t"/>
          <a:lstStyle/>
          <a:p>
            <a:pPr marL="228600" indent="-228600">
              <a:spcAft>
                <a:spcPts val="600"/>
              </a:spcAft>
              <a:buSzPct val="100000"/>
              <a:buChar char="•"/>
            </a:pPr>
            <a:r>
              <a:rPr lang="en-US" sz="1250" dirty="0">
                <a:solidFill>
                  <a:srgbClr val="5A646E"/>
                </a:solidFill>
                <a:latin typeface="Calibri" pitchFamily="34" charset="0"/>
                <a:ea typeface="Calibri" pitchFamily="34" charset="-122"/>
                <a:cs typeface="Calibri" pitchFamily="34" charset="-120"/>
              </a:rPr>
              <a:t>mean</a:t>
            </a:r>
            <a:endParaRPr lang="en-US" sz="1250" dirty="0"/>
          </a:p>
          <a:p>
            <a:pPr marL="228600" indent="-228600">
              <a:spcAft>
                <a:spcPts val="600"/>
              </a:spcAft>
              <a:buSzPct val="100000"/>
              <a:buChar char="•"/>
            </a:pPr>
            <a:r>
              <a:rPr lang="en-US" sz="1250" dirty="0">
                <a:solidFill>
                  <a:srgbClr val="5A646E"/>
                </a:solidFill>
                <a:latin typeface="Calibri" pitchFamily="34" charset="0"/>
                <a:ea typeface="Calibri" pitchFamily="34" charset="-122"/>
                <a:cs typeface="Calibri" pitchFamily="34" charset="-120"/>
              </a:rPr>
              <a:t>median</a:t>
            </a:r>
            <a:endParaRPr lang="en-US" sz="1250" dirty="0"/>
          </a:p>
          <a:p>
            <a:pPr marL="228600" indent="-228600">
              <a:spcAft>
                <a:spcPts val="600"/>
              </a:spcAft>
              <a:buSzPct val="100000"/>
              <a:buChar char="•"/>
            </a:pPr>
            <a:r>
              <a:rPr lang="en-US" sz="1250" dirty="0">
                <a:solidFill>
                  <a:srgbClr val="5A646E"/>
                </a:solidFill>
                <a:latin typeface="Calibri" pitchFamily="34" charset="0"/>
                <a:ea typeface="Calibri" pitchFamily="34" charset="-122"/>
                <a:cs typeface="Calibri" pitchFamily="34" charset="-120"/>
              </a:rPr>
              <a:t>mode</a:t>
            </a:r>
            <a:endParaRPr lang="en-US" sz="1250" dirty="0"/>
          </a:p>
          <a:p>
            <a:pPr marL="228600" indent="-228600">
              <a:spcAft>
                <a:spcPts val="600"/>
              </a:spcAft>
              <a:buSzPct val="100000"/>
              <a:buChar char="•"/>
            </a:pPr>
            <a:r>
              <a:rPr lang="en-US" sz="1250" dirty="0">
                <a:solidFill>
                  <a:srgbClr val="5A646E"/>
                </a:solidFill>
                <a:latin typeface="Calibri" pitchFamily="34" charset="0"/>
                <a:ea typeface="Calibri" pitchFamily="34" charset="-122"/>
                <a:cs typeface="Calibri" pitchFamily="34" charset="-120"/>
              </a:rPr>
              <a:t>KNN (k=5)</a:t>
            </a:r>
            <a:endParaRPr lang="en-US" sz="1250" dirty="0"/>
          </a:p>
        </p:txBody>
      </p:sp>
      <p:sp>
        <p:nvSpPr>
          <p:cNvPr id="8" name="Text 6"/>
          <p:cNvSpPr/>
          <p:nvPr/>
        </p:nvSpPr>
        <p:spPr>
          <a:xfrm>
            <a:off x="566928" y="5833872"/>
            <a:ext cx="10661904" cy="457200"/>
          </a:xfrm>
          <a:prstGeom prst="rect">
            <a:avLst/>
          </a:prstGeom>
          <a:noFill/>
          <a:ln/>
        </p:spPr>
        <p:txBody>
          <a:bodyPr wrap="square" lIns="0" tIns="0" rIns="0" bIns="0" rtlCol="0" anchor="ctr"/>
          <a:lstStyle/>
          <a:p>
            <a:pPr indent="0" marL="0">
              <a:buNone/>
            </a:pPr>
            <a:r>
              <a:rPr lang="en-US" sz="1200" i="1" dirty="0">
                <a:solidFill>
                  <a:srgbClr val="7A551F"/>
                </a:solidFill>
                <a:latin typeface="Calibri" pitchFamily="34" charset="0"/>
                <a:ea typeface="Calibri" pitchFamily="34" charset="-122"/>
                <a:cs typeface="Calibri" pitchFamily="34" charset="-120"/>
              </a:rPr>
              <a:t>Every constant fill makes the dataset look more precise than the evidence supports.</a:t>
            </a:r>
            <a:endParaRPr lang="en-US" sz="1200" dirty="0"/>
          </a:p>
        </p:txBody>
      </p:sp>
      <p:sp>
        <p:nvSpPr>
          <p:cNvPr id="9" name="Text 7"/>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10" name="Text 8"/>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Q8 · OUTLIERS</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Four treatments compared</a:t>
            </a:r>
            <a:endParaRPr lang="en-US" sz="3000" dirty="0"/>
          </a:p>
        </p:txBody>
      </p:sp>
      <p:pic>
        <p:nvPicPr>
          <p:cNvPr id="4" name="Image 0" descr="/home/claude/casestudy2/figs/fig07_outliers.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Helpful votes under four treatments: untouched, winsorised at the 1st and 99th percentiles, log-transformed, and with IQR-flagged rows removed. The log transform reduces skew from 67 to under 5 while keeping every row, which is why it is preferred to deletion here.</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Q8 · ROBUSTNESS</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Does the outlier policy change the conclusion?</a:t>
            </a:r>
            <a:endParaRPr lang="en-US" sz="3000" dirty="0"/>
          </a:p>
        </p:txBody>
      </p:sp>
      <p:pic>
        <p:nvPicPr>
          <p:cNvPr id="4" name="Image 0" descr="/home/claude/casestudy2/figs/fig08_outlier_impact.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Mean helpful votes by star rating under three outlier policies. Keeping the extreme values makes 1-star reviews look far more helpful than any other band; winsorising or log-transforming shows the same ranking with far less volatility. The finding survives all three, which is what makes it trustworthy.</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Q8 · DECISION PER VARIABLE</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Treat, cap, transform or keep</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27664" cy="914400"/>
        </p:xfrm>
        <a:graphic>
          <a:graphicData uri="http://schemas.openxmlformats.org/drawingml/2006/table">
            <a:tbl>
              <a:tblPr/>
              <a:tblGrid>
                <a:gridCol w="2011680"/>
                <a:gridCol w="2377440"/>
                <a:gridCol w="6638544"/>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Variable</a:t>
                      </a:r>
                      <a:endParaRPr lang="en-US" sz="125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7A551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7A551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Reason</a:t>
                      </a:r>
                      <a:endParaRPr lang="en-US" sz="125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7A551F"/>
                    </a:solidFill>
                  </a:tcPr>
                </a:tc>
              </a:tr>
              <a:tr h="0">
                <a:tc>
                  <a:txBody>
                    <a:bodyPr/>
                    <a:lstStyle/>
                    <a:p>
                      <a:pPr indent="0" marL="0">
                        <a:buNone/>
                      </a:pPr>
                      <a:r>
                        <a:rPr lang="en-US" sz="1200" b="1" dirty="0">
                          <a:solidFill>
                            <a:srgbClr val="1B2229"/>
                          </a:solidFill>
                          <a:latin typeface="Calibri" pitchFamily="34" charset="0"/>
                          <a:ea typeface="Calibri" pitchFamily="34" charset="-122"/>
                          <a:cs typeface="Calibri" pitchFamily="34" charset="-120"/>
                        </a:rPr>
                        <a:t>helpful</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Log transform</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Skew 56 is intrinsic; deleting would discard the most-read reviews</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B2229"/>
                          </a:solidFill>
                          <a:latin typeface="Calibri" pitchFamily="34" charset="0"/>
                          <a:ea typeface="Calibri" pitchFamily="34" charset="-122"/>
                          <a:cs typeface="Calibri" pitchFamily="34" charset="-120"/>
                        </a:rPr>
                        <a:t>review_len</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Winsorise 99th</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Extreme tail plausible but adds noise</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r>
              <a:tr h="0">
                <a:tc>
                  <a:txBody>
                    <a:bodyPr/>
                    <a:lstStyle/>
                    <a:p>
                      <a:pPr indent="0" marL="0">
                        <a:buNone/>
                      </a:pPr>
                      <a:r>
                        <a:rPr lang="en-US" sz="1200" b="1" dirty="0">
                          <a:solidFill>
                            <a:srgbClr val="1B2229"/>
                          </a:solidFill>
                          <a:latin typeface="Calibri" pitchFamily="34" charset="0"/>
                          <a:ea typeface="Calibri" pitchFamily="34" charset="-122"/>
                          <a:cs typeface="Calibri" pitchFamily="34" charset="-120"/>
                        </a:rPr>
                        <a:t>words</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Winsorise 99th</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Same reasoning</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B2229"/>
                          </a:solidFill>
                          <a:latin typeface="Calibri" pitchFamily="34" charset="0"/>
                          <a:ea typeface="Calibri" pitchFamily="34" charset="-122"/>
                          <a:cs typeface="Calibri" pitchFamily="34" charset="-120"/>
                        </a:rPr>
                        <a:t>rating</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Keep</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c>
                  <a:txBody>
                    <a:bodyPr/>
                    <a:lstStyle/>
                    <a:p>
                      <a:pPr indent="0" marL="0">
                        <a:buNone/>
                      </a:pPr>
                      <a:r>
                        <a:rPr lang="en-US" sz="1200" dirty="0">
                          <a:solidFill>
                            <a:srgbClr val="5A646E"/>
                          </a:solidFill>
                          <a:latin typeface="Calibri" pitchFamily="34" charset="0"/>
                          <a:ea typeface="Calibri" pitchFamily="34" charset="-122"/>
                          <a:cs typeface="Calibri" pitchFamily="34" charset="-120"/>
                        </a:rPr>
                        <a:t>Bounded [1,5] by construction — nothing can be an outlier</a:t>
                      </a:r>
                      <a:endParaRPr lang="en-US" sz="1200" dirty="0">
                        <a:latin typeface="Calibri" charset="0"/>
                        <a:ea typeface="Calibri" charset="0"/>
                        <a:cs typeface="Calibri" charset="0"/>
                      </a:endParaRPr>
                    </a:p>
                  </a:txBody>
                  <a:tcPr marL="101600" marR="101600" marT="76200" marB="76200">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2F4F5"/>
                    </a:solidFill>
                  </a:tcPr>
                </a:tc>
              </a:tr>
            </a:tbl>
          </a:graphicData>
        </a:graphic>
      </p:graphicFrame>
      <p:sp>
        <p:nvSpPr>
          <p:cNvPr id="5" name="Text 2"/>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6" name="Text 3"/>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Q9 · BEST PRACTICE</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The relationships that survived cleaning</a:t>
            </a:r>
            <a:endParaRPr lang="en-US" sz="3000" dirty="0"/>
          </a:p>
        </p:txBody>
      </p:sp>
      <p:pic>
        <p:nvPicPr>
          <p:cNvPr id="4" name="Image 0" descr="/home/claude/casestudy2/figs/fig09_relationships.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Correlation structure and the two relationships that survive cleaning: recommendation rate rises monotonically with rating, and review length falls as rating rises. Both hold on the merged, deduplicated dataset.</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CONCLUSION</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Before and after — what EDA bought</a:t>
            </a:r>
            <a:endParaRPr lang="en-US" sz="3000" dirty="0"/>
          </a:p>
        </p:txBody>
      </p:sp>
      <p:pic>
        <p:nvPicPr>
          <p:cNvPr id="4" name="Image 0" descr="/home/claude/casestudy2/figs/fig10_dashboard.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Summary dashboard contrasting the raw union with the cleaned dataset: rows retained, completeness recovered, duplicate removal, skew reduction from transformation, and the relationships that survived. This is the one-page answer to 'what did EDA do for this dataset?'</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A6752C"/>
                </a:solidFill>
                <a:latin typeface="Courier New" pitchFamily="34" charset="0"/>
                <a:ea typeface="Courier New" pitchFamily="34" charset="-122"/>
                <a:cs typeface="Courier New" pitchFamily="34" charset="-120"/>
              </a:rPr>
              <a:t>FINDINGS</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Five things this work established</a:t>
            </a:r>
            <a:endParaRPr lang="en-US" sz="3000" dirty="0"/>
          </a:p>
        </p:txBody>
      </p:sp>
      <p:sp>
        <p:nvSpPr>
          <p:cNvPr id="4" name="Shape 2"/>
          <p:cNvSpPr/>
          <p:nvPr/>
        </p:nvSpPr>
        <p:spPr>
          <a:xfrm>
            <a:off x="566928" y="1783080"/>
            <a:ext cx="3480816"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5" name="Shape 3"/>
          <p:cNvSpPr/>
          <p:nvPr/>
        </p:nvSpPr>
        <p:spPr>
          <a:xfrm>
            <a:off x="804672" y="2002536"/>
            <a:ext cx="402336" cy="402336"/>
          </a:xfrm>
          <a:prstGeom prst="ellipse">
            <a:avLst/>
          </a:prstGeom>
          <a:solidFill>
            <a:srgbClr val="F7EEE0"/>
          </a:solidFill>
          <a:ln/>
        </p:spPr>
      </p:sp>
      <p:sp>
        <p:nvSpPr>
          <p:cNvPr id="6" name="Text 4"/>
          <p:cNvSpPr/>
          <p:nvPr/>
        </p:nvSpPr>
        <p:spPr>
          <a:xfrm>
            <a:off x="804672" y="2002536"/>
            <a:ext cx="402336" cy="402336"/>
          </a:xfrm>
          <a:prstGeom prst="rect">
            <a:avLst/>
          </a:prstGeom>
          <a:noFill/>
          <a:ln/>
        </p:spPr>
        <p:txBody>
          <a:bodyPr wrap="square" lIns="0" tIns="0" rIns="0" bIns="0" rtlCol="0" anchor="ctr"/>
          <a:lstStyle/>
          <a:p>
            <a:pPr algn="ctr" indent="0" marL="0">
              <a:buNone/>
            </a:pPr>
            <a:r>
              <a:rPr lang="en-US" sz="1300" b="1" dirty="0">
                <a:solidFill>
                  <a:srgbClr val="7A551F"/>
                </a:solidFill>
                <a:latin typeface="Courier New" pitchFamily="34" charset="0"/>
                <a:ea typeface="Courier New" pitchFamily="34" charset="-122"/>
                <a:cs typeface="Courier New" pitchFamily="34" charset="-120"/>
              </a:rPr>
              <a:t>01</a:t>
            </a:r>
            <a:endParaRPr lang="en-US" sz="1300" dirty="0"/>
          </a:p>
        </p:txBody>
      </p:sp>
      <p:sp>
        <p:nvSpPr>
          <p:cNvPr id="7" name="Text 5"/>
          <p:cNvSpPr/>
          <p:nvPr/>
        </p:nvSpPr>
        <p:spPr>
          <a:xfrm>
            <a:off x="1316736" y="2002536"/>
            <a:ext cx="2474976"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Integration cost more than cleaning</a:t>
            </a:r>
            <a:endParaRPr lang="en-US" sz="1450" dirty="0"/>
          </a:p>
        </p:txBody>
      </p:sp>
      <p:sp>
        <p:nvSpPr>
          <p:cNvPr id="8" name="Text 6"/>
          <p:cNvSpPr/>
          <p:nvPr/>
        </p:nvSpPr>
        <p:spPr>
          <a:xfrm>
            <a:off x="822960" y="2532888"/>
            <a:ext cx="2968752"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Removing reviews present in both extracts was the largest single reduction. Two sources are not twice the data.</a:t>
            </a:r>
            <a:endParaRPr lang="en-US" sz="1250" dirty="0"/>
          </a:p>
        </p:txBody>
      </p:sp>
      <p:sp>
        <p:nvSpPr>
          <p:cNvPr id="9" name="Shape 7"/>
          <p:cNvSpPr/>
          <p:nvPr/>
        </p:nvSpPr>
        <p:spPr>
          <a:xfrm>
            <a:off x="4340352" y="1783080"/>
            <a:ext cx="3480816"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10" name="Shape 8"/>
          <p:cNvSpPr/>
          <p:nvPr/>
        </p:nvSpPr>
        <p:spPr>
          <a:xfrm>
            <a:off x="4578096" y="2002536"/>
            <a:ext cx="402336" cy="402336"/>
          </a:xfrm>
          <a:prstGeom prst="ellipse">
            <a:avLst/>
          </a:prstGeom>
          <a:solidFill>
            <a:srgbClr val="F7EEE0"/>
          </a:solidFill>
          <a:ln/>
        </p:spPr>
      </p:sp>
      <p:sp>
        <p:nvSpPr>
          <p:cNvPr id="11" name="Text 9"/>
          <p:cNvSpPr/>
          <p:nvPr/>
        </p:nvSpPr>
        <p:spPr>
          <a:xfrm>
            <a:off x="4578096" y="2002536"/>
            <a:ext cx="402336" cy="402336"/>
          </a:xfrm>
          <a:prstGeom prst="rect">
            <a:avLst/>
          </a:prstGeom>
          <a:noFill/>
          <a:ln/>
        </p:spPr>
        <p:txBody>
          <a:bodyPr wrap="square" lIns="0" tIns="0" rIns="0" bIns="0" rtlCol="0" anchor="ctr"/>
          <a:lstStyle/>
          <a:p>
            <a:pPr algn="ctr" indent="0" marL="0">
              <a:buNone/>
            </a:pPr>
            <a:r>
              <a:rPr lang="en-US" sz="1300" b="1" dirty="0">
                <a:solidFill>
                  <a:srgbClr val="7A551F"/>
                </a:solidFill>
                <a:latin typeface="Courier New" pitchFamily="34" charset="0"/>
                <a:ea typeface="Courier New" pitchFamily="34" charset="-122"/>
                <a:cs typeface="Courier New" pitchFamily="34" charset="-120"/>
              </a:rPr>
              <a:t>02</a:t>
            </a:r>
            <a:endParaRPr lang="en-US" sz="1300" dirty="0"/>
          </a:p>
        </p:txBody>
      </p:sp>
      <p:sp>
        <p:nvSpPr>
          <p:cNvPr id="12" name="Text 10"/>
          <p:cNvSpPr/>
          <p:nvPr/>
        </p:nvSpPr>
        <p:spPr>
          <a:xfrm>
            <a:off x="5090160" y="2002536"/>
            <a:ext cx="2474976"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A malformed key nearly defeated the join</a:t>
            </a:r>
            <a:endParaRPr lang="en-US" sz="1450" dirty="0"/>
          </a:p>
        </p:txBody>
      </p:sp>
      <p:sp>
        <p:nvSpPr>
          <p:cNvPr id="13" name="Text 11"/>
          <p:cNvSpPr/>
          <p:nvPr/>
        </p:nvSpPr>
        <p:spPr>
          <a:xfrm>
            <a:off x="4596384" y="2532888"/>
            <a:ext cx="2968752"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Comma-separated product ids in one source only. Found by chasing a discrepancy between two counts.</a:t>
            </a:r>
            <a:endParaRPr lang="en-US" sz="1250" dirty="0"/>
          </a:p>
        </p:txBody>
      </p:sp>
      <p:sp>
        <p:nvSpPr>
          <p:cNvPr id="14" name="Shape 12"/>
          <p:cNvSpPr/>
          <p:nvPr/>
        </p:nvSpPr>
        <p:spPr>
          <a:xfrm>
            <a:off x="8113776" y="1783080"/>
            <a:ext cx="3480816"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15" name="Shape 13"/>
          <p:cNvSpPr/>
          <p:nvPr/>
        </p:nvSpPr>
        <p:spPr>
          <a:xfrm>
            <a:off x="8351520" y="2002536"/>
            <a:ext cx="402336" cy="402336"/>
          </a:xfrm>
          <a:prstGeom prst="ellipse">
            <a:avLst/>
          </a:prstGeom>
          <a:solidFill>
            <a:srgbClr val="F7EEE0"/>
          </a:solidFill>
          <a:ln/>
        </p:spPr>
      </p:sp>
      <p:sp>
        <p:nvSpPr>
          <p:cNvPr id="16" name="Text 14"/>
          <p:cNvSpPr/>
          <p:nvPr/>
        </p:nvSpPr>
        <p:spPr>
          <a:xfrm>
            <a:off x="8351520" y="2002536"/>
            <a:ext cx="402336" cy="402336"/>
          </a:xfrm>
          <a:prstGeom prst="rect">
            <a:avLst/>
          </a:prstGeom>
          <a:noFill/>
          <a:ln/>
        </p:spPr>
        <p:txBody>
          <a:bodyPr wrap="square" lIns="0" tIns="0" rIns="0" bIns="0" rtlCol="0" anchor="ctr"/>
          <a:lstStyle/>
          <a:p>
            <a:pPr algn="ctr" indent="0" marL="0">
              <a:buNone/>
            </a:pPr>
            <a:r>
              <a:rPr lang="en-US" sz="1300" b="1" dirty="0">
                <a:solidFill>
                  <a:srgbClr val="7A551F"/>
                </a:solidFill>
                <a:latin typeface="Courier New" pitchFamily="34" charset="0"/>
                <a:ea typeface="Courier New" pitchFamily="34" charset="-122"/>
                <a:cs typeface="Courier New" pitchFamily="34" charset="-120"/>
              </a:rPr>
              <a:t>03</a:t>
            </a:r>
            <a:endParaRPr lang="en-US" sz="1300" dirty="0"/>
          </a:p>
        </p:txBody>
      </p:sp>
      <p:sp>
        <p:nvSpPr>
          <p:cNvPr id="17" name="Text 15"/>
          <p:cNvSpPr/>
          <p:nvPr/>
        </p:nvSpPr>
        <p:spPr>
          <a:xfrm>
            <a:off x="8863584" y="2002536"/>
            <a:ext cx="2474976"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Missingness tracked provenance</a:t>
            </a:r>
            <a:endParaRPr lang="en-US" sz="1450" dirty="0"/>
          </a:p>
        </p:txBody>
      </p:sp>
      <p:sp>
        <p:nvSpPr>
          <p:cNvPr id="18" name="Text 16"/>
          <p:cNvSpPr/>
          <p:nvPr/>
        </p:nvSpPr>
        <p:spPr>
          <a:xfrm>
            <a:off x="8369808" y="2532888"/>
            <a:ext cx="2968752"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MAR given source — which makes imputation defensible but source-dependent.</a:t>
            </a:r>
            <a:endParaRPr lang="en-US" sz="1250" dirty="0"/>
          </a:p>
        </p:txBody>
      </p:sp>
      <p:sp>
        <p:nvSpPr>
          <p:cNvPr id="19" name="Shape 17"/>
          <p:cNvSpPr/>
          <p:nvPr/>
        </p:nvSpPr>
        <p:spPr>
          <a:xfrm>
            <a:off x="566928" y="3918204"/>
            <a:ext cx="3480816"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20" name="Shape 18"/>
          <p:cNvSpPr/>
          <p:nvPr/>
        </p:nvSpPr>
        <p:spPr>
          <a:xfrm>
            <a:off x="804672" y="4137660"/>
            <a:ext cx="402336" cy="402336"/>
          </a:xfrm>
          <a:prstGeom prst="ellipse">
            <a:avLst/>
          </a:prstGeom>
          <a:solidFill>
            <a:srgbClr val="F7EEE0"/>
          </a:solidFill>
          <a:ln/>
        </p:spPr>
      </p:sp>
      <p:sp>
        <p:nvSpPr>
          <p:cNvPr id="21" name="Text 19"/>
          <p:cNvSpPr/>
          <p:nvPr/>
        </p:nvSpPr>
        <p:spPr>
          <a:xfrm>
            <a:off x="804672" y="4137660"/>
            <a:ext cx="402336" cy="402336"/>
          </a:xfrm>
          <a:prstGeom prst="rect">
            <a:avLst/>
          </a:prstGeom>
          <a:noFill/>
          <a:ln/>
        </p:spPr>
        <p:txBody>
          <a:bodyPr wrap="square" lIns="0" tIns="0" rIns="0" bIns="0" rtlCol="0" anchor="ctr"/>
          <a:lstStyle/>
          <a:p>
            <a:pPr algn="ctr" indent="0" marL="0">
              <a:buNone/>
            </a:pPr>
            <a:r>
              <a:rPr lang="en-US" sz="1300" b="1" dirty="0">
                <a:solidFill>
                  <a:srgbClr val="7A551F"/>
                </a:solidFill>
                <a:latin typeface="Courier New" pitchFamily="34" charset="0"/>
                <a:ea typeface="Courier New" pitchFamily="34" charset="-122"/>
                <a:cs typeface="Courier New" pitchFamily="34" charset="-120"/>
              </a:rPr>
              <a:t>04</a:t>
            </a:r>
            <a:endParaRPr lang="en-US" sz="1300" dirty="0"/>
          </a:p>
        </p:txBody>
      </p:sp>
      <p:sp>
        <p:nvSpPr>
          <p:cNvPr id="22" name="Text 20"/>
          <p:cNvSpPr/>
          <p:nvPr/>
        </p:nvSpPr>
        <p:spPr>
          <a:xfrm>
            <a:off x="1316736" y="4137660"/>
            <a:ext cx="2474976"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Scaling ≠ transforming</a:t>
            </a:r>
            <a:endParaRPr lang="en-US" sz="1450" dirty="0"/>
          </a:p>
        </p:txBody>
      </p:sp>
      <p:sp>
        <p:nvSpPr>
          <p:cNvPr id="23" name="Text 21"/>
          <p:cNvSpPr/>
          <p:nvPr/>
        </p:nvSpPr>
        <p:spPr>
          <a:xfrm>
            <a:off x="822960" y="4668012"/>
            <a:ext cx="2968752"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Every scaler left skew 56 untouched; log1p cut it to 6.2.</a:t>
            </a:r>
            <a:endParaRPr lang="en-US" sz="1250" dirty="0"/>
          </a:p>
        </p:txBody>
      </p:sp>
      <p:sp>
        <p:nvSpPr>
          <p:cNvPr id="24" name="Shape 22"/>
          <p:cNvSpPr/>
          <p:nvPr/>
        </p:nvSpPr>
        <p:spPr>
          <a:xfrm>
            <a:off x="4340352" y="3918204"/>
            <a:ext cx="3480816"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25" name="Shape 23"/>
          <p:cNvSpPr/>
          <p:nvPr/>
        </p:nvSpPr>
        <p:spPr>
          <a:xfrm>
            <a:off x="4578096" y="4137660"/>
            <a:ext cx="402336" cy="402336"/>
          </a:xfrm>
          <a:prstGeom prst="ellipse">
            <a:avLst/>
          </a:prstGeom>
          <a:solidFill>
            <a:srgbClr val="F7EEE0"/>
          </a:solidFill>
          <a:ln/>
        </p:spPr>
      </p:sp>
      <p:sp>
        <p:nvSpPr>
          <p:cNvPr id="26" name="Text 24"/>
          <p:cNvSpPr/>
          <p:nvPr/>
        </p:nvSpPr>
        <p:spPr>
          <a:xfrm>
            <a:off x="4578096" y="4137660"/>
            <a:ext cx="402336" cy="402336"/>
          </a:xfrm>
          <a:prstGeom prst="rect">
            <a:avLst/>
          </a:prstGeom>
          <a:noFill/>
          <a:ln/>
        </p:spPr>
        <p:txBody>
          <a:bodyPr wrap="square" lIns="0" tIns="0" rIns="0" bIns="0" rtlCol="0" anchor="ctr"/>
          <a:lstStyle/>
          <a:p>
            <a:pPr algn="ctr" indent="0" marL="0">
              <a:buNone/>
            </a:pPr>
            <a:r>
              <a:rPr lang="en-US" sz="1300" b="1" dirty="0">
                <a:solidFill>
                  <a:srgbClr val="7A551F"/>
                </a:solidFill>
                <a:latin typeface="Courier New" pitchFamily="34" charset="0"/>
                <a:ea typeface="Courier New" pitchFamily="34" charset="-122"/>
                <a:cs typeface="Courier New" pitchFamily="34" charset="-120"/>
              </a:rPr>
              <a:t>05</a:t>
            </a:r>
            <a:endParaRPr lang="en-US" sz="1300" dirty="0"/>
          </a:p>
        </p:txBody>
      </p:sp>
      <p:sp>
        <p:nvSpPr>
          <p:cNvPr id="27" name="Text 25"/>
          <p:cNvSpPr/>
          <p:nvPr/>
        </p:nvSpPr>
        <p:spPr>
          <a:xfrm>
            <a:off x="5090160" y="4137660"/>
            <a:ext cx="2474976"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The headline finding is robust</a:t>
            </a:r>
            <a:endParaRPr lang="en-US" sz="1450" dirty="0"/>
          </a:p>
        </p:txBody>
      </p:sp>
      <p:sp>
        <p:nvSpPr>
          <p:cNvPr id="28" name="Text 26"/>
          <p:cNvSpPr/>
          <p:nvPr/>
        </p:nvSpPr>
        <p:spPr>
          <a:xfrm>
            <a:off x="4596384" y="4668012"/>
            <a:ext cx="2968752"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Lower ratings attract more helpful votes under raw, winsorised and log policies alike.</a:t>
            </a:r>
            <a:endParaRPr lang="en-US" sz="1250" dirty="0"/>
          </a:p>
        </p:txBody>
      </p:sp>
      <p:sp>
        <p:nvSpPr>
          <p:cNvPr id="29" name="Shape 27"/>
          <p:cNvSpPr/>
          <p:nvPr/>
        </p:nvSpPr>
        <p:spPr>
          <a:xfrm>
            <a:off x="8113776" y="3918204"/>
            <a:ext cx="3480816"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30" name="Shape 28"/>
          <p:cNvSpPr/>
          <p:nvPr/>
        </p:nvSpPr>
        <p:spPr>
          <a:xfrm>
            <a:off x="8351520" y="4137660"/>
            <a:ext cx="402336" cy="402336"/>
          </a:xfrm>
          <a:prstGeom prst="ellipse">
            <a:avLst/>
          </a:prstGeom>
          <a:solidFill>
            <a:srgbClr val="F7EEE0"/>
          </a:solidFill>
          <a:ln/>
        </p:spPr>
      </p:sp>
      <p:sp>
        <p:nvSpPr>
          <p:cNvPr id="31" name="Text 29"/>
          <p:cNvSpPr/>
          <p:nvPr/>
        </p:nvSpPr>
        <p:spPr>
          <a:xfrm>
            <a:off x="8351520" y="4137660"/>
            <a:ext cx="402336" cy="402336"/>
          </a:xfrm>
          <a:prstGeom prst="rect">
            <a:avLst/>
          </a:prstGeom>
          <a:noFill/>
          <a:ln/>
        </p:spPr>
        <p:txBody>
          <a:bodyPr wrap="square" lIns="0" tIns="0" rIns="0" bIns="0" rtlCol="0" anchor="ctr"/>
          <a:lstStyle/>
          <a:p>
            <a:pPr algn="ctr" indent="0" marL="0">
              <a:buNone/>
            </a:pPr>
            <a:r>
              <a:rPr lang="en-US" sz="1300" b="1" dirty="0">
                <a:solidFill>
                  <a:srgbClr val="7A551F"/>
                </a:solidFill>
                <a:latin typeface="Courier New" pitchFamily="34" charset="0"/>
                <a:ea typeface="Courier New" pitchFamily="34" charset="-122"/>
                <a:cs typeface="Courier New" pitchFamily="34" charset="-120"/>
              </a:rPr>
              <a:t>06</a:t>
            </a:r>
            <a:endParaRPr lang="en-US" sz="1300" dirty="0"/>
          </a:p>
        </p:txBody>
      </p:sp>
      <p:sp>
        <p:nvSpPr>
          <p:cNvPr id="32" name="Text 30"/>
          <p:cNvSpPr/>
          <p:nvPr/>
        </p:nvSpPr>
        <p:spPr>
          <a:xfrm>
            <a:off x="8863584" y="4137660"/>
            <a:ext cx="2474976"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Completeness improved 88.6% → 96.6%</a:t>
            </a:r>
            <a:endParaRPr lang="en-US" sz="1450" dirty="0"/>
          </a:p>
        </p:txBody>
      </p:sp>
      <p:sp>
        <p:nvSpPr>
          <p:cNvPr id="33" name="Text 31"/>
          <p:cNvSpPr/>
          <p:nvPr/>
        </p:nvSpPr>
        <p:spPr>
          <a:xfrm>
            <a:off x="8369808" y="4668012"/>
            <a:ext cx="2968752"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And 90.6% of rows were retained — cleaning without gutting the dataset.</a:t>
            </a:r>
            <a:endParaRPr lang="en-US" sz="1250" dirty="0"/>
          </a:p>
        </p:txBody>
      </p:sp>
      <p:sp>
        <p:nvSpPr>
          <p:cNvPr id="34" name="Text 32"/>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3 — Assignment 2 — case study</a:t>
            </a:r>
            <a:endParaRPr lang="en-US" sz="900" dirty="0"/>
          </a:p>
        </p:txBody>
      </p:sp>
      <p:sp>
        <p:nvSpPr>
          <p:cNvPr id="35" name="Text 33"/>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7A551F"/>
        </a:solidFill>
      </p:bgPr>
    </p:bg>
    <p:spTree>
      <p:nvGrpSpPr>
        <p:cNvPr id="1" name=""/>
        <p:cNvGrpSpPr/>
        <p:nvPr/>
      </p:nvGrpSpPr>
      <p:grpSpPr>
        <a:xfrm>
          <a:off x="0" y="0"/>
          <a:ext cx="0" cy="0"/>
          <a:chOff x="0" y="0"/>
          <a:chExt cx="0" cy="0"/>
        </a:xfrm>
      </p:grpSpPr>
      <p:sp>
        <p:nvSpPr>
          <p:cNvPr id="2" name="Text 0"/>
          <p:cNvSpPr/>
          <p:nvPr/>
        </p:nvSpPr>
        <p:spPr>
          <a:xfrm>
            <a:off x="566928" y="658368"/>
            <a:ext cx="11027664"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What the cleaned dataset still cannot support</a:t>
            </a:r>
            <a:endParaRPr lang="en-US" sz="3200" dirty="0"/>
          </a:p>
        </p:txBody>
      </p:sp>
      <p:sp>
        <p:nvSpPr>
          <p:cNvPr id="3" name="Text 1"/>
          <p:cNvSpPr/>
          <p:nvPr/>
        </p:nvSpPr>
        <p:spPr>
          <a:xfrm>
            <a:off x="566928" y="1417320"/>
            <a:ext cx="11027664" cy="329184"/>
          </a:xfrm>
          <a:prstGeom prst="rect">
            <a:avLst/>
          </a:prstGeom>
          <a:noFill/>
          <a:ln/>
        </p:spPr>
        <p:txBody>
          <a:bodyPr wrap="square" lIns="0" tIns="0" rIns="0" bIns="0" rtlCol="0" anchor="ctr"/>
          <a:lstStyle/>
          <a:p>
            <a:pPr indent="0" marL="0">
              <a:buNone/>
            </a:pPr>
            <a:r>
              <a:rPr lang="en-US" sz="1400" dirty="0">
                <a:solidFill>
                  <a:srgbClr val="AEBAC2"/>
                </a:solidFill>
                <a:latin typeface="Calibri" pitchFamily="34" charset="0"/>
                <a:ea typeface="Calibri" pitchFamily="34" charset="-122"/>
                <a:cs typeface="Calibri" pitchFamily="34" charset="-120"/>
              </a:rPr>
              <a:t>You should now be able to:</a:t>
            </a:r>
            <a:endParaRPr lang="en-US" sz="1400" dirty="0"/>
          </a:p>
        </p:txBody>
      </p:sp>
      <p:sp>
        <p:nvSpPr>
          <p:cNvPr id="4" name="Text 2"/>
          <p:cNvSpPr/>
          <p:nvPr/>
        </p:nvSpPr>
        <p:spPr>
          <a:xfrm>
            <a:off x="566928" y="1874520"/>
            <a:ext cx="5239512" cy="365760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E2E7EA"/>
                </a:solidFill>
                <a:latin typeface="Calibri" pitchFamily="34" charset="0"/>
                <a:ea typeface="Calibri" pitchFamily="34" charset="-122"/>
                <a:cs typeface="Calibri" pitchFamily="34" charset="-120"/>
              </a:rPr>
              <a:t>Time trends — collection was not uniform; one month dominates volume</a:t>
            </a:r>
            <a:endParaRPr lang="en-US" sz="1450" dirty="0"/>
          </a:p>
          <a:p>
            <a:pPr marL="228600" indent="-228600">
              <a:spcAft>
                <a:spcPts val="1200"/>
              </a:spcAft>
              <a:buSzPct val="100000"/>
              <a:buChar char="•"/>
            </a:pPr>
            <a:r>
              <a:rPr lang="en-US" sz="1450" dirty="0">
                <a:solidFill>
                  <a:srgbClr val="E2E7EA"/>
                </a:solidFill>
                <a:latin typeface="Calibri" pitchFamily="34" charset="0"/>
                <a:ea typeface="Calibri" pitchFamily="34" charset="-122"/>
                <a:cs typeface="Calibri" pitchFamily="34" charset="-120"/>
              </a:rPr>
              <a:t>Authority — neither source is master, so precedence was applied, not truth established</a:t>
            </a:r>
            <a:endParaRPr lang="en-US" sz="1450" dirty="0"/>
          </a:p>
          <a:p>
            <a:pPr marL="228600" indent="-228600">
              <a:spcAft>
                <a:spcPts val="1200"/>
              </a:spcAft>
              <a:buSzPct val="100000"/>
              <a:buChar char="•"/>
            </a:pPr>
            <a:r>
              <a:rPr lang="en-US" sz="1450" dirty="0">
                <a:solidFill>
                  <a:srgbClr val="E2E7EA"/>
                </a:solidFill>
                <a:latin typeface="Calibri" pitchFamily="34" charset="0"/>
                <a:ea typeface="Calibri" pitchFamily="34" charset="-122"/>
                <a:cs typeface="Calibri" pitchFamily="34" charset="-120"/>
              </a:rPr>
              <a:t>Verified-purchase analysis — the field is empty in both extracts</a:t>
            </a:r>
            <a:endParaRPr lang="en-US" sz="1450" dirty="0"/>
          </a:p>
        </p:txBody>
      </p:sp>
      <p:sp>
        <p:nvSpPr>
          <p:cNvPr id="5" name="Text 3"/>
          <p:cNvSpPr/>
          <p:nvPr/>
        </p:nvSpPr>
        <p:spPr>
          <a:xfrm>
            <a:off x="6263640" y="1874520"/>
            <a:ext cx="5239512" cy="365760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E2E7EA"/>
                </a:solidFill>
                <a:latin typeface="Calibri" pitchFamily="34" charset="0"/>
                <a:ea typeface="Calibri" pitchFamily="34" charset="-122"/>
                <a:cs typeface="Calibri" pitchFamily="34" charset="-120"/>
              </a:rPr>
              <a:t>Population claims — reviewers who chose to write, on a narrow product set</a:t>
            </a:r>
            <a:endParaRPr lang="en-US" sz="1450" dirty="0"/>
          </a:p>
          <a:p>
            <a:pPr marL="228600" indent="-228600">
              <a:spcAft>
                <a:spcPts val="1200"/>
              </a:spcAft>
              <a:buSzPct val="100000"/>
              <a:buChar char="•"/>
            </a:pPr>
            <a:r>
              <a:rPr lang="en-US" sz="1450" dirty="0">
                <a:solidFill>
                  <a:srgbClr val="E2E7EA"/>
                </a:solidFill>
                <a:latin typeface="Calibri" pitchFamily="34" charset="0"/>
                <a:ea typeface="Calibri" pitchFamily="34" charset="-122"/>
                <a:cs typeface="Calibri" pitchFamily="34" charset="-120"/>
              </a:rPr>
              <a:t>H1: 1-2 star reviews are longer because they explain a specific failure</a:t>
            </a:r>
            <a:endParaRPr lang="en-US" sz="1450" dirty="0"/>
          </a:p>
          <a:p>
            <a:pPr marL="228600" indent="-228600">
              <a:spcAft>
                <a:spcPts val="1200"/>
              </a:spcAft>
              <a:buSzPct val="100000"/>
              <a:buChar char="•"/>
            </a:pPr>
            <a:r>
              <a:rPr lang="en-US" sz="1450" dirty="0">
                <a:solidFill>
                  <a:srgbClr val="E2E7EA"/>
                </a:solidFill>
                <a:latin typeface="Calibri" pitchFamily="34" charset="0"/>
                <a:ea typeface="Calibri" pitchFamily="34" charset="-122"/>
                <a:cs typeface="Calibri" pitchFamily="34" charset="-120"/>
              </a:rPr>
              <a:t>H4: apparent monthly movement reflects collection timing, not sentiment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Vidyashilp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DATA209 Module 3 — Assignment 2 — case study</dc:title>
  <dc:subject>Advanced Exploratory Data Analysis</dc:subject>
  <dc:creator>Dr. Shital Bhatt</dc:creator>
  <cp:lastModifiedBy>Dr. Shital Bhatt</cp:lastModifiedBy>
  <cp:revision>1</cp:revision>
  <dcterms:created xsi:type="dcterms:W3CDTF">2026-07-31T04:26:42Z</dcterms:created>
  <dcterms:modified xsi:type="dcterms:W3CDTF">2026-07-31T04:26:43Z</dcterms:modified>
</cp:coreProperties>
</file>