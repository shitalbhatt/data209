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E33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B2E33"/>
                </a:solidFill>
                <a:latin typeface="Cambria"/>
              </a:rPr>
              <a:t>Revenue by Food Item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Idli</c:v>
                </c:pt>
                <c:pt idx="1">
                  <c:v>Dosa</c:v>
                </c:pt>
                <c:pt idx="2">
                  <c:v>Tea</c:v>
                </c:pt>
                <c:pt idx="3">
                  <c:v>Coffee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4500</c:v>
                </c:pt>
                <c:pt idx="2">
                  <c:v>3750</c:v>
                </c:pt>
                <c:pt idx="3">
                  <c:v>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39-4D5D-8DB2-55D23D6222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663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40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REAL CAMPUS PROJECTS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9776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real-world problem to a predictive model — a hands-on framework where students collect their own data, analyze it, and present recommendations.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EDUCATORS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Problem, Not an 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should understand WHY they need data before learning HOW to analyze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Real Campus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waste, low marks, parking chaos — something students feel every day.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663440" y="31546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Own the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design the survey or log sheet and collect it themselves — no Kaggle handout.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412480" y="31546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Analyze, Then Recommend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models are tools to answer the question — not the end goal.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Project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with this same eight-step workflow.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20240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43684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043684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23844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47288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27448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50892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50892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31052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4496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34656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58100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58100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38260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1704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061704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341864" y="2519172"/>
            <a:ext cx="3246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65308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5308" y="2148840"/>
            <a:ext cx="12984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flow works for almost any campus data project — only the questions and data change.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34340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26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worked examples follow: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48920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</a:t>
            </a:r>
            <a:r>
              <a:rPr lang="en-US" sz="14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most popular food in the canteen, and how much revenue does it generate?”
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</a:t>
            </a:r>
            <a:r>
              <a:rPr lang="en-US" sz="14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predict a student's marks before the exam, so support arrives in time?”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40233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Most Popular Canteen Food?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212080" cy="5120640"/>
          </a:xfrm>
          <a:prstGeom prst="roundRect">
            <a:avLst>
              <a:gd name="adj" fmla="val 1786"/>
            </a:avLst>
          </a:prstGeom>
          <a:solidFill>
            <a:srgbClr val="F4FA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canteen prepares many items daily. Sometimes food is wasted; sometimes students miss their preferred item because demand is underestimated.
</a:t>
            </a:r>
            <a:r>
              <a:rPr lang="en-US" sz="135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needs to know: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4290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310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are most popular?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931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8130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see maximum demand?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4348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315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generate the most revenue?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9377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8188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food should be prepared more?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4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Students Should Ask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19659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0" name="Text 18"/>
          <p:cNvSpPr/>
          <p:nvPr/>
        </p:nvSpPr>
        <p:spPr>
          <a:xfrm>
            <a:off x="6858000" y="19659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food sells the most?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26243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3" name="Text 21"/>
          <p:cNvSpPr/>
          <p:nvPr/>
        </p:nvSpPr>
        <p:spPr>
          <a:xfrm>
            <a:off x="6858000" y="262432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food generates the highest revenue?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328269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6" name="Text 24"/>
          <p:cNvSpPr/>
          <p:nvPr/>
        </p:nvSpPr>
        <p:spPr>
          <a:xfrm>
            <a:off x="6858000" y="328269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 has maximum sales?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9410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9" name="Text 27"/>
          <p:cNvSpPr/>
          <p:nvPr/>
        </p:nvSpPr>
        <p:spPr>
          <a:xfrm>
            <a:off x="6858000" y="394106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 has the highest revenue?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59943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599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32" name="Text 30"/>
          <p:cNvSpPr/>
          <p:nvPr/>
        </p:nvSpPr>
        <p:spPr>
          <a:xfrm>
            <a:off x="6858000" y="45994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preference different for boys vs. girls?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55080" y="52578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35" name="Text 33"/>
          <p:cNvSpPr/>
          <p:nvPr/>
        </p:nvSpPr>
        <p:spPr>
          <a:xfrm>
            <a:off x="6858000" y="52578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has the biggest crowd?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 — Collecting the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low-cost methods students can run themselves, no special tools required.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 — Manual Sales Log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of students logs every transaction at the counter for 1-2 weeks: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80360"/>
          <a:ext cx="4754880" cy="1051560"/>
        </p:xfrm>
        <a:graphic>
          <a:graphicData uri="http://schemas.openxmlformats.org/drawingml/2006/table">
            <a:tbl>
              <a:tblPr/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1:05pm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1:10pm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log: Payment mode · Department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3949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 canteen coverage for 10-14 days to capture weekday and weekend patterns.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50876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5" name="Text 12"/>
          <p:cNvSpPr/>
          <p:nvPr/>
        </p:nvSpPr>
        <p:spPr>
          <a:xfrm>
            <a:off x="7178040" y="1737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 — Student Survey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Google Form sent to ~200 students, asking: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37960" y="288036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food did you buy?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37960" y="34747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buy it?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537960" y="406908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</p:spPr>
      </p:sp>
      <p:sp>
        <p:nvSpPr>
          <p:cNvPr id="22" name="Text 19"/>
          <p:cNvSpPr/>
          <p:nvPr/>
        </p:nvSpPr>
        <p:spPr>
          <a:xfrm>
            <a:off x="67208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you spend?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37960" y="466344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</p:spPr>
      </p:sp>
      <p:sp>
        <p:nvSpPr>
          <p:cNvPr id="24" name="Text 21"/>
          <p:cNvSpPr/>
          <p:nvPr/>
        </p:nvSpPr>
        <p:spPr>
          <a:xfrm>
            <a:off x="6720840" y="4663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you choose it — taste, price, or health?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37960" y="54406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200+ responses across departments and years for a representative sample.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 — Finding Revenue by Food Item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013A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=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×  Quantity Sold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4754880" cy="2194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Sold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results:  </a:t>
            </a:r>
            <a:endParaRPr lang="en-US" sz="1300" dirty="0"/>
          </a:p>
        </p:txBody>
      </p:sp>
      <p:sp>
        <p:nvSpPr>
          <p:cNvPr id="5" name="Shape 4"/>
          <p:cNvSpPr/>
          <p:nvPr/>
        </p:nvSpPr>
        <p:spPr>
          <a:xfrm>
            <a:off x="685800" y="46177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4988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Highest-selling item:  </a:t>
            </a: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(250 cups)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50749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49560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item:  </a:t>
            </a: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 (₹4,500)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55321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54132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item's share of total revenue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806440" y="146304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 — From Analysis to Prediction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8196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sold food item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230428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20370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spending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268833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25877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food and by day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0723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9718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lunch hour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345643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3558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preferred snack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Machine-Learning Angles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EAF6F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23317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food will a customer buy?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187452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EA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89720" y="23317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tomorrow's revenue or units sold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013A4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Students Can Present to the Manager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7" name="Text 25"/>
          <p:cNvSpPr/>
          <p:nvPr/>
        </p:nvSpPr>
        <p:spPr>
          <a:xfrm>
            <a:off x="1325880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preparation of top sellers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0" name="Text 28"/>
          <p:cNvSpPr/>
          <p:nvPr/>
        </p:nvSpPr>
        <p:spPr>
          <a:xfrm>
            <a:off x="4846320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preparation of low sellers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3" name="Text 31"/>
          <p:cNvSpPr/>
          <p:nvPr/>
        </p:nvSpPr>
        <p:spPr>
          <a:xfrm>
            <a:off x="8366760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on off-peak items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5394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6" name="Text 34"/>
          <p:cNvSpPr/>
          <p:nvPr/>
        </p:nvSpPr>
        <p:spPr>
          <a:xfrm>
            <a:off x="1325880" y="5367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the menu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34840" y="5394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9" name="Text 37"/>
          <p:cNvSpPr/>
          <p:nvPr/>
        </p:nvSpPr>
        <p:spPr>
          <a:xfrm>
            <a:off x="4846320" y="5367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daily inventory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F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40233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Student Marks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212080" cy="5120640"/>
          </a:xfrm>
          <a:prstGeom prst="roundRect">
            <a:avLst>
              <a:gd name="adj" fmla="val 1786"/>
            </a:avLst>
          </a:prstGeom>
          <a:solidFill>
            <a:srgbClr val="F4FA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want to identify students who may perform poorly before the exam, so timely support can still be provided — not after the results are out.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4663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means a tutor, counselor, or study plan can reach a struggling student weeks before the exam — instead of a grade report afterward.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4FA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Students Should Ask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965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15" name="Text 13"/>
          <p:cNvSpPr/>
          <p:nvPr/>
        </p:nvSpPr>
        <p:spPr>
          <a:xfrm>
            <a:off x="6858000" y="19659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attendance affect marks?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679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18" name="Text 16"/>
          <p:cNvSpPr/>
          <p:nvPr/>
        </p:nvSpPr>
        <p:spPr>
          <a:xfrm>
            <a:off x="6858000" y="26791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study time matter?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33924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1" name="Text 19"/>
          <p:cNvSpPr/>
          <p:nvPr/>
        </p:nvSpPr>
        <p:spPr>
          <a:xfrm>
            <a:off x="6858000" y="339242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sleep matter?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41056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4" name="Text 22"/>
          <p:cNvSpPr/>
          <p:nvPr/>
        </p:nvSpPr>
        <p:spPr>
          <a:xfrm>
            <a:off x="6858000" y="410565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phone/mobile usage reduce marks?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48188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24" dirty="0"/>
          </a:p>
        </p:txBody>
      </p:sp>
      <p:sp>
        <p:nvSpPr>
          <p:cNvPr id="27" name="Text 25"/>
          <p:cNvSpPr/>
          <p:nvPr/>
        </p:nvSpPr>
        <p:spPr>
          <a:xfrm>
            <a:off x="6858000" y="48188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previous CGPA matter?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 — Collecting the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anonymous Google Form, distributed to one or more classes.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675120" cy="4297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regularly the student attends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hours / 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daily study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nightly sleep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usage / 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spent on 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CGPA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academic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Coursework score so far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internal exam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087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18120" y="19659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150-300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81812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recommended for a reliable pattern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6118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013A40"/>
          </a:solidFill>
          <a:ln/>
        </p:spPr>
      </p:sp>
      <p:sp>
        <p:nvSpPr>
          <p:cNvPr id="4" name="Text 7"/>
          <p:cNvSpPr/>
          <p:nvPr/>
        </p:nvSpPr>
        <p:spPr>
          <a:xfrm>
            <a:off x="781812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Note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41148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responses anonymous, get consent, and never share individual results — the class learns from patterns, not from naming students.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 — Analysis, Prediction &amp; Recommendations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4FA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Techniques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01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472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995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11887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4FA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371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ML Angles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0" y="187452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final exam mark as a number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61188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4069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Fail, or Grade A / B / 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11887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013A40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1371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to Act 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75320" y="1874520"/>
            <a:ext cx="3063240" cy="777240"/>
          </a:xfrm>
          <a:prstGeom prst="roundRect">
            <a:avLst>
              <a:gd name="adj" fmla="val 7059"/>
            </a:avLst>
          </a:prstGeom>
          <a:solidFill>
            <a:srgbClr val="025F6B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18745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hrs/day study → higher risk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75320" y="2834640"/>
            <a:ext cx="3063240" cy="777240"/>
          </a:xfrm>
          <a:prstGeom prst="roundRect">
            <a:avLst>
              <a:gd name="adj" fmla="val 7059"/>
            </a:avLst>
          </a:prstGeom>
          <a:solidFill>
            <a:srgbClr val="025F6B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28346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below 75% → lower marks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75320" y="3794760"/>
            <a:ext cx="3063240" cy="777240"/>
          </a:xfrm>
          <a:prstGeom prst="roundRect">
            <a:avLst>
              <a:gd name="adj" fmla="val 7059"/>
            </a:avLst>
          </a:prstGeom>
          <a:solidFill>
            <a:srgbClr val="025F6B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794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 above 5 hrs/day → hurts performance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Campus Problems Students Can Explore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 — a different real-world problem and a different dataset each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73352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Usage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585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visitors &amp; popular books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639312" y="1673352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8288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Parking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39312" y="22585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parking occupancy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3952" y="1673352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8288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Use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73952" y="22585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tomorrow's consumption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0" y="150876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08592" y="1673352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308592" y="18288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Consumption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08592" y="22585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water requirement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3319272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4747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 Food Waste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390448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food waste by menu/day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1546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639312" y="3319272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39312" y="34747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Wi-Fi Load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39312" y="390448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peak network load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1546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3952" y="3319272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34747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Outcomes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73952" y="390448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placement &amp; package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0" y="31546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08592" y="3319272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9308592" y="347472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Attendance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308592" y="390448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attendance percentage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80060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" y="4965192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12064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Cafeteria Queue Time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04672" y="555040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queue length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0" y="480060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639312" y="4965192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3639312" y="512064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Usage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639312" y="555040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peak workout hours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480060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473952" y="4965192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6473952" y="512064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vs. Performance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473952" y="555040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sleep with marks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44000" y="480060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9308592" y="4965192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50" name="Text 48"/>
          <p:cNvSpPr/>
          <p:nvPr/>
        </p:nvSpPr>
        <p:spPr>
          <a:xfrm>
            <a:off x="9308592" y="512064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Transport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308592" y="555040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bus delay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Skills Each Project Builds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the framework teaches a distinct, transferable skill.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754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Learned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Definition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thinking, identifying objectives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design, data entry, sampling, ethics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 missing values, duplicates, formatting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Visualization, descriptive statistics, trend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Correlation, hypothesis testing, confidence intervals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Classification, regression, clustering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MAE, RMSE, confusion matrix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reports, presentations, recommendations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“Don’t have a dataset from Kaggle.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one from a real problem on campus.”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3383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4" dirty="0"/>
          </a:p>
        </p:txBody>
      </p:sp>
      <p:sp>
        <p:nvSpPr>
          <p:cNvPr id="6" name="Text 4"/>
          <p:cNvSpPr/>
          <p:nvPr/>
        </p:nvSpPr>
        <p:spPr>
          <a:xfrm>
            <a:off x="1325880" y="336499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3383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4" dirty="0"/>
          </a:p>
        </p:txBody>
      </p:sp>
      <p:sp>
        <p:nvSpPr>
          <p:cNvPr id="9" name="Text 7"/>
          <p:cNvSpPr/>
          <p:nvPr/>
        </p:nvSpPr>
        <p:spPr>
          <a:xfrm>
            <a:off x="4983480" y="336499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survey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3383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4" dirty="0"/>
          </a:p>
        </p:txBody>
      </p:sp>
      <p:sp>
        <p:nvSpPr>
          <p:cNvPr id="12" name="Text 10"/>
          <p:cNvSpPr/>
          <p:nvPr/>
        </p:nvSpPr>
        <p:spPr>
          <a:xfrm>
            <a:off x="8641080" y="336499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real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24" dirty="0"/>
          </a:p>
        </p:txBody>
      </p:sp>
      <p:sp>
        <p:nvSpPr>
          <p:cNvPr id="15" name="Text 13"/>
          <p:cNvSpPr/>
          <p:nvPr/>
        </p:nvSpPr>
        <p:spPr>
          <a:xfrm>
            <a:off x="1325880" y="432511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&amp; analyzes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43434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24" dirty="0"/>
          </a:p>
        </p:txBody>
      </p:sp>
      <p:sp>
        <p:nvSpPr>
          <p:cNvPr id="18" name="Text 16"/>
          <p:cNvSpPr/>
          <p:nvPr/>
        </p:nvSpPr>
        <p:spPr>
          <a:xfrm>
            <a:off x="4983480" y="432511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recommendations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3492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025F6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4924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builds more than technical skill — it grows problem-solving, communication, teamwork, and respect for the messiness of real data.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1205</Words>
  <Application>Microsoft Office PowerPoint</Application>
  <PresentationFormat>Widescreen</PresentationFormat>
  <Paragraphs>293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Shital Bhatt</cp:lastModifiedBy>
  <cp:revision>2</cp:revision>
  <dcterms:created xsi:type="dcterms:W3CDTF">2026-08-04T10:59:09Z</dcterms:created>
  <dcterms:modified xsi:type="dcterms:W3CDTF">2026-08-04T16:19:01Z</dcterms:modified>
</cp:coreProperties>
</file>