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records (%)</c:v>
                </c:pt>
              </c:strCache>
            </c:strRef>
          </c:tx>
          <c:spPr>
            <a:solidFill>
              <a:srgbClr val="1F6F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1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6F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91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Pima · no diabetes</c:v>
                  </c:pt>
                  <c:pt idx="1">
                    <c:v>Pima · diabetes</c:v>
                  </c:pt>
                  <c:pt idx="2">
                    <c:v>Shoppers · no purchase</c:v>
                  </c:pt>
                  <c:pt idx="3">
                    <c:v>Shoppers · purchase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65.1</c:v>
                </c:pt>
                <c:pt idx="1">
                  <c:v>34.9</c:v>
                </c:pt>
                <c:pt idx="2">
                  <c:v>84.5</c:v>
                </c:pt>
                <c:pt idx="3">
                  <c:v>15.5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Outcome (Pearson r)</c:v>
                </c:pt>
              </c:strCache>
            </c:strRef>
          </c:tx>
          <c:spPr>
            <a:solidFill>
              <a:srgbClr val="1F6F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Glucose</c:v>
                  </c:pt>
                  <c:pt idx="1">
                    <c:v>BMI</c:v>
                  </c:pt>
                  <c:pt idx="2">
                    <c:v>Age</c:v>
                  </c:pt>
                  <c:pt idx="3">
                    <c:v>Pregnancies</c:v>
                  </c:pt>
                  <c:pt idx="4">
                    <c:v>SkinThickness</c:v>
                  </c:pt>
                  <c:pt idx="5">
                    <c:v>Insulin</c:v>
                  </c:pt>
                  <c:pt idx="6">
                    <c:v>BloodPressure</c:v>
                  </c:pt>
                  <c:pt idx="7">
                    <c:v>DiabetesPedigree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0.47</c:v>
                </c:pt>
                <c:pt idx="1">
                  <c:v>0.29</c:v>
                </c:pt>
                <c:pt idx="2">
                  <c:v>0.24</c:v>
                </c:pt>
                <c:pt idx="3">
                  <c:v>0.22</c:v>
                </c:pt>
                <c:pt idx="4">
                  <c:v>0.19</c:v>
                </c:pt>
                <c:pt idx="5">
                  <c:v>0.13</c:v>
                </c:pt>
                <c:pt idx="6">
                  <c:v>0.07</c:v>
                </c:pt>
                <c:pt idx="7">
                  <c:v>0.17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</c:scaling>
        <c:delete val="0"/>
        <c:axPos val="b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silhouette</c:v>
                </c:pt>
              </c:strCache>
            </c:strRef>
          </c:tx>
          <c:spPr>
            <a:solidFill>
              <a:srgbClr val="1F6F6B"/>
            </a:solidFill>
            <a:ln w="34925" cap="flat">
              <a:solidFill>
                <a:srgbClr val="1F6F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6F6B"/>
              </a:solidFill>
              <a:ln w="9525" cap="flat">
                <a:solidFill>
                  <a:srgbClr val="1F6F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 = 2</c:v>
                  </c:pt>
                  <c:pt idx="1">
                    <c:v>k = 3</c:v>
                  </c:pt>
                  <c:pt idx="2">
                    <c:v>k = 4</c:v>
                  </c:pt>
                  <c:pt idx="3">
                    <c:v>k = 5</c:v>
                  </c:pt>
                  <c:pt idx="4">
                    <c:v>k = 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0.196</c:v>
                </c:pt>
                <c:pt idx="1">
                  <c:v>0.197</c:v>
                </c:pt>
                <c:pt idx="2">
                  <c:v>0.187</c:v>
                </c:pt>
                <c:pt idx="3">
                  <c:v>0.181</c:v>
                </c:pt>
                <c:pt idx="4">
                  <c:v>0.167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.1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working core of the course. Every technique here appears again in the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same variable at bins=5, 30 and 100 to make the bin-width point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reused number from Module 2 — students should carry it into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keep this sweep as a reusable snippet — it opens their final project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quartet if time permits. The point: a correlation without a scatterplot is an unverified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sketch each shape by hand before showing the plots.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last line: the numbers here are for shape of argument, not for 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Berkeley admissions case is the canonical example — cite it briefly, then move to VIF.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Insulin ranges to ~850 and DiabetesPedigreeFunction to ~2.4 — without scaling, Insulin defines the clusters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valuable slide in the module: a negative result, reported honestly, is a good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Wilkinson's grammar, popularised by ggplot2; seaborn's objects interface follows the same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02 · WEEKS 4–7 · CO2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Advanced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graphical and non-graphical technique — from one variable, to two, to many.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Lectures · 4 Practicals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· Application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· Titanic · Shoppers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· Week 7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complete univariate, bivariate and multivariate exploration on an unfamiliar dataset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graphical and non-graphical technique deliberately, and justify the choice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relationships with the right correlation coefficient for the variable types involved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multicollinearity with VIF and explain what it breaks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clustering exploratorily to discover structure, and evaluate whether that structure is real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plots that communicate honestly, and recognise the ones that do not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(25%, week 7)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assessment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course outcome CO2 — apply univariate, bivariate and multivariate exploratory data analysis techniques.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L7–8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EDA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 · numeric and categorical · distribution shape · detecting skew and anomalies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 · TWO FAMILIES OF TECHNIQUE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Non-graphical and graphical EDA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Non-graphical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summaries: counts, quantiles, moments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contingency tables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and covariance matrices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 reproducible; easy to tabulate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shape — Anscombe's quartet shares its statistics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density, boxplot, ECDF, violin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heatmap, pair plot, mosaic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shape, gaps, clusters and outliers instantly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Subjective; sensitive to bin width and axis choices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tabulate — must be described in words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both, always, in that order: compute the summary, then plot it, then reconcile the two when they disagree.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 · THE UNIVARIATE QUESTION 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every variable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centre?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 median — whichever the skew justifies. State which you used.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spread?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or IQR. Report the range too; it exposes impossible values.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shape?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Symmetric, skewed, bimodal, uniform, zero-inflated. This decides everything downstream.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unusual?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gaps, spikes at round numbers, impossible values like a zero blood pressure.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 · NUMERIC PLOTS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distribution plot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3108960"/>
                <a:gridCol w="38039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per bin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Intuitive; shows gaps and multimodality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width changes the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(KDE)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Smoothed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shape; easy to overlay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 invents smoothness; spills past data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Five-number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Compact; ideal for group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Hides multimodality completely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plus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and summary together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Cluttered with many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proportion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binning choice; exact percentiles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intuitive to a general 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histogram plus boxplot. Add a density overlay when comparing groups; reach for ECDF when bin width is contested.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 · CATEGORICAL UNIVARIATE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 is a univariate finding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record this now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changes which evaluation metric is honest later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whether a random split is acceptable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how you read a 'high accuracy' claim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15% positive rate means a model predicting 'never' is 85% accurate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outcome shares computed from pima.csv; shopper shares are approximate for the UCI online shoppers dataset.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L8 · ANOMALY DETECTION BY EYE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distribution plot is telling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spike at exactly zero usually means 'not recorded', not 'measured as zero'.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humps mean two populations are mixed — find the variable that separates them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wall at a round number suggests a cap, a truncation, or a data-entry limit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at multiples of 5 or 10 indicate self-reported or rounded data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thin tail is skew; isolated far points are candidate outliers — they are not the same problem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in the middle of a range is worth more attention than a point at the edge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 Pima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Insulin: 374 zeros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SkinThickness: 227 zeros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BloodPressure: 35 zeros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Glucose: 5 zeros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zeros is a disguised missing value. Module 3 deals with them; Module 2 finds them.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L8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univariate sweep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22192"/>
          </a:xfrm>
          <a:prstGeom prst="roundRect">
            <a:avLst>
              <a:gd name="adj" fmla="val 1435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sns, matplotlib.pyplot as plt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df.select_dtypes('number').columns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non-graphical first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df[num].describe().T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summary['skew'] = df[num].skew()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summary['zeros'] = (df[num] == 0).sum()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graphical, one figure per variable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num: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fig, ax = plt.subplots(1, 2, figsize=(9, 3))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sns.histplot(df[c], kde=True, ax=ax[0])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sns.boxplot(x=df[c], ax=ax[1])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ax[0].set_title(f'{c} — skew {df[c].skew():.2f}')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zeros column surfaces disguised missingness immediately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histogram and boxplot catches both shape and outliers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skew in the title forces you to read it every time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P7–8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distributions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univariate sweep on every numeric column and tabulate centre, spread, shape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histogram and boxplot pairs, and record the skewness on each figure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frequency tables and bar plots for every categorical column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distribution of two variables across the outcome groups and interpret the difference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anomaly you found — zeros, spikes, walls, gaps — and what you think each one 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2_EDA.ipynb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NonGraphical.ipynb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GRAPHICAL.ipynb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plus a one-page table of findings, one row per variable.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L9–10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relationships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and correlation · scatterplots · categorical relationships · from pattern to hypothesis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L9 · THE TWO MEASURES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and correlation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of paired deviations from the two means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tells direction: positive, negative or none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is uninterpretable — it carries the units of both variables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units from metres to centimetres changes the number, not the relationship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divided by the two standard deviations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on the interval −1 to +1; unitless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across variable pairs — which is the whole point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measures linear association only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standardised covariance. Report correlation; compute covariance when you need the matrix for PCA in Module 4.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L9 · CHOOSING A COEFFICIENT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correlations, three situations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4023360"/>
                <a:gridCol w="20665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outliers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association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variables continuous and roughly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Monotonic association on ranks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but consistently increasing; ordinal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Kendall 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Concordance of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samples; many tied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Cramér's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 between categoricals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nominal variables, from a chi-square 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ratio 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vs 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means differ across a 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Pearson on an ordinal or nominal column is the most common error in submitted assignments.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measures co-movement. It does not tell you which variable moved first, or whether a third one moved both.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Anscombe's quartet: four datasets with identical means, variances and correlation coefficients — and four completely different shapes. Always plot the pair before you trust the number.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L9 · READING A SCATTERPLOT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patterns worth naming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hug a straight line. Pearson is meaningful. Note the direction and the tightness.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or saturating. Pearson understates it; use Spearman, or transform in Module 4.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Heteroscedastic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widens along the axis. The relationship is real but its precision is not constant.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groups. A single correlation over all points is meaningless — split first.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0352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8096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8096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0160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Outlier-driven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6384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far points create or destroy the correlation. Recompute without them and compare.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3776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1520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3584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9808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formless cloud. Report it — a well-checked null result is a finding.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 · THE CORRELATION MATRIX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pairs are worth a scatterplot?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pairs, then plot the top few — never plot all pairs blindly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shows the whole matrix; a ranked bar shows the priority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does not mean no relationship — it means no linear one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feature-to-feature correlation too: that is multicollinearity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Pearson correlations against the Pima outcome. Compute your own — do not quote these.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 · BEYOND NUMERIC PAIRS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involving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vs. categorical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boxplots or violins — one box per category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medians and spreads, not just means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Overlaid density plots when there are two or three groups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with a group-means table and the correlation ratio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vs. categorical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 with row or column percentages, not raw counts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or grouped bar charts of the proportions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plot when both variables have several levels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with chi-square, then Cramér's V for strength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beat counts: a category with 20 purchases out of 40 beats one with 100 out of 1,000, and raw counts hide that.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bivariate sweep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22192"/>
          </a:xfrm>
          <a:prstGeom prst="roundRect">
            <a:avLst>
              <a:gd name="adj" fmla="val 1435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numeric vs numeric — rank, then look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df.corr(numeric_only=True)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annot=True, fmt='.2f', center=0, cmap='coolwarm')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corr['Outcome'].drop('Outcome').abs().sort_values(ascending=False)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non-linear check on the top pair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spearmanr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spearmanr(df['Glucose'], df['Outcome'])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numeric vs categorical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x='Outcome', y='Glucose')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df.groupby('Outcome')['Glucose'].agg(['median', 'std', 'count'])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categorical vs categorical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pd.crosstab(df['Weekend'], df['Revenue'], normalize='index')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Pearson with Spearman: a large gap means non-linearity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normalize='index' gives row percentages — the comparable number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the group sizes alongside the group statistics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 · THE OUTPUT OF BIVARIATE EDA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pattern into a hypothesis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names a mechanism, a direction and a testable consequence.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'Glucose is related to the outcome.' It restates the correlation and predicts nothing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'Elevated fasting glucose precedes diagnosis, so glucose will separate the classes better than BMI'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would falsify it — if a claim cannot fail, it is not a hypothesis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confounders you cannot rule out with this data; Age confounds almost everything here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shortlist forward: these become the features you engineer in Module 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hypothesis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mechanism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direction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falsifiable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its confounders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asks for three hypotheses and what you would need to test them. This slide is the marking scheme.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P9–10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mapping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correlation matrix and render it as an annotated heatmap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pairs by absolute correlation and scatterplot the top five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pair, compare Pearson with Spearman and explain any difference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 two categorical variables using row percentages and interpret the table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grouped boxplots for three numeric variables across the outcome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hypotheses the data suggests, each with a falsification condition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 · online_shoppers_intention.csv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2_EDA.ipynb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GRAPHICAL.ipynb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 practicals 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ending in a numbered list of hypotheses with confounders named.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L11–12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structure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and VIF · identifying groups · K-means for structure discovery · interpreting clusters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relationship that holds in every subgroup can reverse when the subgroups are pooled.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paradox. It is the strongest argument for going past bivariate analysis: two variables at a time can be consistently, confidently wrong.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 · MULTICOLLINEARITY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predictors carry the same information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is strong correlation among the predictors themselves, not with the target.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estimates become unstable — small data changes swing them wildly, sometimes flipping sign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errors inflate, so genuinely useful variables look statistically insignificant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accuracy may be unharmed; interpretability is destroyed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invisible in a target-correlation ranking — you must inspect the predictor-to-predictor block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with a correlation heatmap first, then confirm with the variance inflation factor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(BMI from height and weight)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quantity in two units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variable trap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alongside their parts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offers three responses: drop one, combine them, or reduce dimensions with PCA.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 · VIF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variance inflation factor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937760"/>
                <a:gridCol w="44439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correlation with other predictors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Moderate; usually tolerable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Keep, note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High; coefficients becoming unreliable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the pair; consider combining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Severe; the variable is largely explained by the 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Drop, combine, or reduce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for a predictor = 1 / (1 − R²) from regressing that predictor on all the others. It answers: how redundant is this column?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 · K-MEANS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 in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and initialise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centroids, usually with k-means++ rather than at random.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every point to its nearest centroid by Euclidean distance.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each centroid as the mean of the points assigned to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assign and update until assignments stop changing, or the iteration cap is hit.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 · CHOOSING 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 score on the Pima data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runs from −1 to +1; near 0 means overlapping clusters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score here is about 0.20 — weak structure, honestly reported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and k = 3 are indistinguishable on this evidence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conclusion is that Pima has no strong natural grouping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standardised pima.csv features with k-means++ initialisation, 10 restarts.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 · INTERPRETING CLUSTERS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cluster is only real if you can describe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each cluster: compute the mean of every feature within it and compare to the overall mean.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clusters in domain language — 'older, higher BMI, high glucose', not 'cluster 2'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sizes: a cluster of four points is usually an outlier group, not a segment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 clusters against a known label to see whether they recover anything meaningful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 a different seed and a different k — structure that vanishes was never there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describe a cluster in a sentence, do not report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 each cluster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share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features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name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across seeds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 clustering is exploratory only — a way of seeing structure, not a predictive model.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with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22192"/>
          </a:xfrm>
          <a:prstGeom prst="roundRect">
            <a:avLst>
              <a:gd name="adj" fmla="val 1435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df.drop(columns='Outcome')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StandardScaler().fit_transform(X)      # scale first, always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7):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 = KMeans(n_clusters=k, n_init=10, random_state=0)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 = km.fit_predict(Xs)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print(k, round(silhouette_score(Xs, lab), 3))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profile the chosen solution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df['cluster'] = KMeans(3, n_init=10, random_state=0).fit_predict(Xs)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df.groupby('cluster').mean().round(1)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df['cluster'].value_counts()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n_init=10 guards against an unlucky initialisation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makes the result reproducible for the marker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groupby profile is the deliverable — the labels alone are not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P11–12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feature matrix and explain why it must happen before clustering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k-means for k = 2 to 6 and record the silhouette score for each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k, justify it, and profile every cluster with a group-means table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cluster a plain-language name based on its profile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 two different random seeds and report whether the clusters are stable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pair plot coloured by cluster and interpret what it shows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 · Titanic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pima_groups.ipynb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Pima_Groups_Cluster_Analysis.ipynb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Pima_Groups_Cluster_Analysis_Eval.ipynb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titanic_groups.ipynb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with a named profile per cluster and an honest verdict on whether the structure is real.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L13–14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storytelling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of graphics · good versus misleading plots · visualising non-numeric data · dashboard logic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 · GRAMMAR OF GRAPHICS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plot is built from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tidy table being shown. One row per observation, one column per variable.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from variables to visual properties: x, y, colour, size, shape.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marks that carry the data: points, bars, lines, boxes, tiles.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values become visual values. Axis limits, log scales, colour palettes.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0352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8096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8096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0160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6384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multiples — the same plot repeated across the levels of a variable.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3776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1520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3584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&amp; theme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9808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system, plus the non-data ink: labels, grid, legend, annotation.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 · CHOOSING A CHART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types decide the plot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268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its shape?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density, boxplot, ECDF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common is each level?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plot of counts or proportions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they move together?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Scatterplot; add a smoother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+ 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 groups differ?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boxplot, violin, overlaid densities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they associated?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Cross-tab, stacked bar of proportions, mosaic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the structure?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heatmap, pair plot, parallel coordinates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over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trend?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chart, ordered by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 appear nowhere in this table. They compare angles, which people read poorly; a bar chart beats them almost always.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 · INTEGRITY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a plot misleads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axis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not starting at zero exaggerates small differences into large ones.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axes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scales on one chart manufacture a correlation by choosing the ranges.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and area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area distort comparison. Doubling a radius quadruples the perceived size.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Cherry-picked range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where the time axis starts changes an upward trend into a downward one.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0352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8096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8096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0160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colour maps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6384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Non-perceptual palettes create bands that are artefacts of the colours, not the data.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3776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1520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3584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aggregation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9808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means without spread or sample size conceals both variability and tiny groups.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 · NON-NUMERIC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Visualising categories and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bar plots for ordinal data — never let the software sort alphabetically.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bars of proportions for part-to-whole comparisons across groups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plots when both variables are categorical and both have several levels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for a contingency table, with a perceptually uniform colour scale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 are decorative, not analytical — a ranked frequency bar plot says more, and says it precisely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 cardinality, plot the top 15 and aggregate the rest into 'Other', labelled as such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rules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for magnitude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for a midpoint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for categories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colour-blind safety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plot needs axis labels with units, a title stating the finding, and a caption naming the data source.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 · STORYTELLING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an EDA narrative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finding, not the method. 'Glucose separates the classes' beats 'we plotted glucose'.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figure, one message — if a plot needs two sentences to explain, it is two plots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what the data is → what is wrong with it → what it shows → what you cannot conclude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directly on the figure; a reader should not have to hunt in a legend for the point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limitations in the same breath as the finding, not in a footnote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answers recurring questions; a report answers one question well. Know which you are building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marking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— 30%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— 35%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— 15%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20%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without a sentence saying what it means earns no marks in this course. That rule starts now.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P13–14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1 — mini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dataset and state the problem, the rows, the columns and the sampling frame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 types; separate dependent from independent variables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complete univariate sweep: shape, centre, spread, anomalies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bivariate analysis: correlation matrix, cross-tabs, and at least one unexpected relationship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multivariate structure with grouping or clustering, interpreted in plain language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three hypotheses with falsification conditions, and present in eight minutes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 — at least 1,000 rows, mixed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Plots and Charts.ipynb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1.docx (brief)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and an eight-minute presentation. Due week 7, worth 25%.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what you should now be able to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univariate sweep answering centre, spread, shape and anomaly for every column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distribution plot and defend the bin width you used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Pearson, Spearman, Kendall or Cramér's V according to the variable types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correlation must be plotted before it is trusted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numeric-categorical and categorical-categorical relationships with percentages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multicollinearity with a heatmap and confirm it with VIF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exploratorily, choose k with silhouette, and profile the result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plots that survive scrutiny, and identify the six ways plots mislead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for Module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Myatt &amp; Johnson — Making Sense of Data I, Ch. 3–4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Myatt &amp; Johnson — Making Sense of Data II (visualisation)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 — Graphical Data Analysis with R (CRC Press)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Tabachnick &amp; Fidell — Using Multivariate Statistics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 — Fundamentals of Data Visualization (clauswilke.com/dataviz)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NIST/SEMATECH e-Handbook, Ch. 1 — graphical techniques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Data 100 — course notes on EDA and visualisation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36-315 — Statistical Graphics and Visualization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— distributions, categorical and relational tutorials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clustering, silhouette score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— variance inflation factor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— Data Visualization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Core Advanced EDA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2 — Core Advanced EDA</dc:title>
  <dc:subject>Advanced Exploratory Data Analysis</dc:subject>
  <dc:creator>Dr. Shital Bhatt</dc:creator>
  <cp:lastModifiedBy>Dr. Shital Bhatt</cp:lastModifiedBy>
  <cp:revision>1</cp:revision>
  <dcterms:created xsi:type="dcterms:W3CDTF">2026-07-29T13:14:08Z</dcterms:created>
  <dcterms:modified xsi:type="dcterms:W3CDTF">2026-07-29T13:14:08Z</dcterms:modified>
</cp:coreProperties>
</file>