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charts/chart11.xml" ContentType="application/vnd.openxmlformats-officedocument.drawingml.chart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charts/chart12.xml" ContentType="application/vnd.openxmlformats-officedocument.drawingml.chart+xml"/>
  <Override PartName="/ppt/slideMasters/slideMaster17.xml" ContentType="application/vnd.openxmlformats-officedocument.presentationml.slideMaster+xml"/>
  <Override PartName="/ppt/slides/slide17.xml" ContentType="application/vnd.openxmlformats-officedocument.presentationml.slide+xml"/>
  <Override PartName="/ppt/slideMasters/slideMaster18.xml" ContentType="application/vnd.openxmlformats-officedocument.presentationml.slideMaster+xml"/>
  <Override PartName="/ppt/slides/slide18.xml" ContentType="application/vnd.openxmlformats-officedocument.presentationml.slide+xml"/>
  <Override PartName="/ppt/slideMasters/slideMaster19.xml" ContentType="application/vnd.openxmlformats-officedocument.presentationml.slideMaster+xml"/>
  <Override PartName="/ppt/slides/slide19.xml" ContentType="application/vnd.openxmlformats-officedocument.presentationml.slide+xml"/>
  <Override PartName="/ppt/slideMasters/slideMaster20.xml" ContentType="application/vnd.openxmlformats-officedocument.presentationml.slideMaster+xml"/>
  <Override PartName="/ppt/slides/slide20.xml" ContentType="application/vnd.openxmlformats-officedocument.presentationml.slide+xml"/>
  <Override PartName="/ppt/slideMasters/slideMaster21.xml" ContentType="application/vnd.openxmlformats-officedocument.presentationml.slideMaster+xml"/>
  <Override PartName="/ppt/slides/slide21.xml" ContentType="application/vnd.openxmlformats-officedocument.presentationml.slide+xml"/>
  <Override PartName="/ppt/slideMasters/slideMaster22.xml" ContentType="application/vnd.openxmlformats-officedocument.presentationml.slideMaster+xml"/>
  <Override PartName="/ppt/slides/slide22.xml" ContentType="application/vnd.openxmlformats-officedocument.presentationml.slide+xml"/>
  <Override PartName="/ppt/slideMasters/slideMaster23.xml" ContentType="application/vnd.openxmlformats-officedocument.presentationml.slideMaster+xml"/>
  <Override PartName="/ppt/slides/slide23.xml" ContentType="application/vnd.openxmlformats-officedocument.presentationml.slide+xml"/>
  <Override PartName="/ppt/slideMasters/slideMaster24.xml" ContentType="application/vnd.openxmlformats-officedocument.presentationml.slideMaster+xml"/>
  <Override PartName="/ppt/slides/slide24.xml" ContentType="application/vnd.openxmlformats-officedocument.presentationml.slide+xml"/>
  <Override PartName="/ppt/charts/chart13.xml" ContentType="application/vnd.openxmlformats-officedocument.drawingml.chart+xml"/>
  <Override PartName="/ppt/slideMasters/slideMaster25.xml" ContentType="application/vnd.openxmlformats-officedocument.presentationml.slideMaster+xml"/>
  <Override PartName="/ppt/slides/slide25.xml" ContentType="application/vnd.openxmlformats-officedocument.presentationml.slide+xml"/>
  <Override PartName="/ppt/slideMasters/slideMaster26.xml" ContentType="application/vnd.openxmlformats-officedocument.presentationml.slideMaster+xml"/>
  <Override PartName="/ppt/slides/slide26.xml" ContentType="application/vnd.openxmlformats-officedocument.presentationml.slide+xml"/>
  <Override PartName="/ppt/slideMasters/slideMaster27.xml" ContentType="application/vnd.openxmlformats-officedocument.presentationml.slideMaster+xml"/>
  <Override PartName="/ppt/slides/slide27.xml" ContentType="application/vnd.openxmlformats-officedocument.presentationml.slide+xml"/>
  <Override PartName="/ppt/slideMasters/slideMaster28.xml" ContentType="application/vnd.openxmlformats-officedocument.presentationml.slideMaster+xml"/>
  <Override PartName="/ppt/slides/slide28.xml" ContentType="application/vnd.openxmlformats-officedocument.presentationml.slide+xml"/>
  <Override PartName="/ppt/slideMasters/slideMaster29.xml" ContentType="application/vnd.openxmlformats-officedocument.presentationml.slideMaster+xml"/>
  <Override PartName="/ppt/slides/slide29.xml" ContentType="application/vnd.openxmlformats-officedocument.presentationml.slide+xml"/>
  <Override PartName="/ppt/slideMasters/slideMaster30.xml" ContentType="application/vnd.openxmlformats-officedocument.presentationml.slideMaster+xml"/>
  <Override PartName="/ppt/slides/slide30.xml" ContentType="application/vnd.openxmlformats-officedocument.presentationml.slide+xml"/>
  <Override PartName="/ppt/slideMasters/slideMaster31.xml" ContentType="application/vnd.openxmlformats-officedocument.presentationml.slideMaster+xml"/>
  <Override PartName="/ppt/slides/slide31.xml" ContentType="application/vnd.openxmlformats-officedocument.presentationml.slide+xml"/>
  <Override PartName="/ppt/slideMasters/slideMaster32.xml" ContentType="application/vnd.openxmlformats-officedocument.presentationml.slideMaster+xml"/>
  <Override PartName="/ppt/slides/slide32.xml" ContentType="application/vnd.openxmlformats-officedocument.presentationml.slide+xml"/>
  <Override PartName="/ppt/slideMasters/slideMaster33.xml" ContentType="application/vnd.openxmlformats-officedocument.presentationml.slideMaster+xml"/>
  <Override PartName="/ppt/slides/slide33.xml" ContentType="application/vnd.openxmlformats-officedocument.presentationml.slide+xml"/>
  <Override PartName="/ppt/slideMasters/slideMaster34.xml" ContentType="application/vnd.openxmlformats-officedocument.presentationml.slideMaster+xml"/>
  <Override PartName="/ppt/slides/slide34.xml" ContentType="application/vnd.openxmlformats-officedocument.presentationml.slide+xml"/>
  <Override PartName="/ppt/slideMasters/slideMaster35.xml" ContentType="application/vnd.openxmlformats-officedocument.presentationml.slideMaster+xml"/>
  <Override PartName="/ppt/slides/slide35.xml" ContentType="application/vnd.openxmlformats-officedocument.presentationml.slide+xml"/>
  <Override PartName="/ppt/slideMasters/slideMaster36.xml" ContentType="application/vnd.openxmlformats-officedocument.presentationml.slideMaster+xml"/>
  <Override PartName="/ppt/slides/slide36.xml" ContentType="application/vnd.openxmlformats-officedocument.presentationml.slide+xml"/>
  <Override PartName="/ppt/slideMasters/slideMaster37.xml" ContentType="application/vnd.openxmlformats-officedocument.presentationml.slideMaster+xml"/>
  <Override PartName="/ppt/slides/slide37.xml" ContentType="application/vnd.openxmlformats-officedocument.presentationml.slide+xml"/>
  <Override PartName="/ppt/slideMasters/slideMaster38.xml" ContentType="application/vnd.openxmlformats-officedocument.presentationml.slideMaster+xml"/>
  <Override PartName="/ppt/slides/slide38.xml" ContentType="application/vnd.openxmlformats-officedocument.presentationml.slide+xml"/>
  <Override PartName="/ppt/slideMasters/slideMaster39.xml" ContentType="application/vnd.openxmlformats-officedocument.presentationml.slideMaster+xml"/>
  <Override PartName="/ppt/slides/slide39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ppt/notesSlides/notesSlide29.xml" ContentType="application/vnd.openxmlformats-officedocument.presentationml.notesSlide+xml"/>
  <Override PartName="/ppt/notesSlides/notesSlide30.xml" ContentType="application/vnd.openxmlformats-officedocument.presentationml.notesSlide+xml"/>
  <Override PartName="/ppt/notesSlides/notesSlide31.xml" ContentType="application/vnd.openxmlformats-officedocument.presentationml.notesSlide+xml"/>
  <Override PartName="/ppt/notesSlides/notesSlide32.xml" ContentType="application/vnd.openxmlformats-officedocument.presentationml.notesSlide+xml"/>
  <Override PartName="/ppt/notesSlides/notesSlide33.xml" ContentType="application/vnd.openxmlformats-officedocument.presentationml.notesSlide+xml"/>
  <Override PartName="/ppt/notesSlides/notesSlide34.xml" ContentType="application/vnd.openxmlformats-officedocument.presentationml.notesSlide+xml"/>
  <Override PartName="/ppt/notesSlides/notesSlide35.xml" ContentType="application/vnd.openxmlformats-officedocument.presentationml.notesSlide+xml"/>
  <Override PartName="/ppt/notesSlides/notesSlide36.xml" ContentType="application/vnd.openxmlformats-officedocument.presentationml.notesSlide+xml"/>
  <Override PartName="/ppt/notesSlides/notesSlide37.xml" ContentType="application/vnd.openxmlformats-officedocument.presentationml.notesSlide+xml"/>
  <Override PartName="/ppt/notesSlides/notesSlide38.xml" ContentType="application/vnd.openxmlformats-officedocument.presentationml.notesSlide+xml"/>
  <Override PartName="/ppt/notesSlides/notesSlide39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  <p:sldId id="278" r:id="rId24"/>
    <p:sldId id="279" r:id="rId25"/>
    <p:sldId id="280" r:id="rId26"/>
    <p:sldId id="281" r:id="rId27"/>
    <p:sldId id="282" r:id="rId28"/>
    <p:sldId id="283" r:id="rId29"/>
    <p:sldId id="284" r:id="rId30"/>
    <p:sldId id="285" r:id="rId31"/>
    <p:sldId id="286" r:id="rId32"/>
    <p:sldId id="287" r:id="rId33"/>
    <p:sldId id="288" r:id="rId34"/>
    <p:sldId id="289" r:id="rId35"/>
    <p:sldId id="290" r:id="rId36"/>
    <p:sldId id="291" r:id="rId37"/>
    <p:sldId id="292" r:id="rId38"/>
    <p:sldId id="293" r:id="rId39"/>
    <p:sldId id="294" r:id="rId40"/>
  </p:sldIdLst>
  <p:notesMasterIdLst>
    <p:notesMasterId r:id="rId41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slide" Target="slides/slide18.xml"/><Relationship Id="rId20" Type="http://schemas.openxmlformats.org/officeDocument/2006/relationships/slide" Target="slides/slide19.xml"/><Relationship Id="rId21" Type="http://schemas.openxmlformats.org/officeDocument/2006/relationships/slide" Target="slides/slide20.xml"/><Relationship Id="rId22" Type="http://schemas.openxmlformats.org/officeDocument/2006/relationships/slide" Target="slides/slide21.xml"/><Relationship Id="rId23" Type="http://schemas.openxmlformats.org/officeDocument/2006/relationships/slide" Target="slides/slide22.xml"/><Relationship Id="rId24" Type="http://schemas.openxmlformats.org/officeDocument/2006/relationships/slide" Target="slides/slide23.xml"/><Relationship Id="rId25" Type="http://schemas.openxmlformats.org/officeDocument/2006/relationships/slide" Target="slides/slide24.xml"/><Relationship Id="rId26" Type="http://schemas.openxmlformats.org/officeDocument/2006/relationships/slide" Target="slides/slide25.xml"/><Relationship Id="rId27" Type="http://schemas.openxmlformats.org/officeDocument/2006/relationships/slide" Target="slides/slide26.xml"/><Relationship Id="rId28" Type="http://schemas.openxmlformats.org/officeDocument/2006/relationships/slide" Target="slides/slide27.xml"/><Relationship Id="rId29" Type="http://schemas.openxmlformats.org/officeDocument/2006/relationships/slide" Target="slides/slide28.xml"/><Relationship Id="rId30" Type="http://schemas.openxmlformats.org/officeDocument/2006/relationships/slide" Target="slides/slide29.xml"/><Relationship Id="rId31" Type="http://schemas.openxmlformats.org/officeDocument/2006/relationships/slide" Target="slides/slide30.xml"/><Relationship Id="rId32" Type="http://schemas.openxmlformats.org/officeDocument/2006/relationships/slide" Target="slides/slide31.xml"/><Relationship Id="rId33" Type="http://schemas.openxmlformats.org/officeDocument/2006/relationships/slide" Target="slides/slide32.xml"/><Relationship Id="rId34" Type="http://schemas.openxmlformats.org/officeDocument/2006/relationships/slide" Target="slides/slide33.xml"/><Relationship Id="rId35" Type="http://schemas.openxmlformats.org/officeDocument/2006/relationships/slide" Target="slides/slide34.xml"/><Relationship Id="rId36" Type="http://schemas.openxmlformats.org/officeDocument/2006/relationships/slide" Target="slides/slide35.xml"/><Relationship Id="rId37" Type="http://schemas.openxmlformats.org/officeDocument/2006/relationships/slide" Target="slides/slide36.xml"/><Relationship Id="rId38" Type="http://schemas.openxmlformats.org/officeDocument/2006/relationships/slide" Target="slides/slide37.xml"/><Relationship Id="rId39" Type="http://schemas.openxmlformats.org/officeDocument/2006/relationships/slide" Target="slides/slide38.xml"/><Relationship Id="rId40" Type="http://schemas.openxmlformats.org/officeDocument/2006/relationships/slide" Target="slides/slide39.xml"/><Relationship Id="rId41" Type="http://schemas.openxmlformats.org/officeDocument/2006/relationships/notesMaster" Target="notesMasters/notesMaster1.xml"/><Relationship Id="rId42" Type="http://schemas.openxmlformats.org/officeDocument/2006/relationships/presProps" Target="presProps.xml"/><Relationship Id="rId43" Type="http://schemas.openxmlformats.org/officeDocument/2006/relationships/viewProps" Target="viewProps.xml"/><Relationship Id="rId44" Type="http://schemas.openxmlformats.org/officeDocument/2006/relationships/theme" Target="theme/theme1.xml"/><Relationship Id="rId45" Type="http://schemas.openxmlformats.org/officeDocument/2006/relationships/tableStyles" Target="tableStyles.xml"/></Relationships>
</file>

<file path=ppt/charts/_rels/chart11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11.xlsx"/></Relationships>
</file>

<file path=ppt/charts/_rels/chart12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12.xlsx"/></Relationships>
</file>

<file path=ppt/charts/_rels/chart13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13.xlsx"/></Relationships>
</file>

<file path=ppt/charts/chart1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Original</c:v>
                </c:pt>
              </c:strCache>
            </c:strRef>
          </c:tx>
          <c:spPr>
            <a:solidFill>
              <a:srgbClr val="8B9199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000" u="none">
                    <a:solidFill>
                      <a:srgbClr val="1B2229"/>
                    </a:solidFill>
                    <a:latin typeface="Calibri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Sheet1!$A$2:$A$5</c:f>
              <c:multiLvlStrCache>
                <c:ptCount val="4"/>
                <c:lvl>
                  <c:pt idx="0">
                    <c:v>Insulin</c:v>
                  </c:pt>
                  <c:pt idx="1">
                    <c:v>DiabetesPedigree</c:v>
                  </c:pt>
                  <c:pt idx="2">
                    <c:v>Age</c:v>
                  </c:pt>
                  <c:pt idx="3">
                    <c:v>Pregnancies</c:v>
                  </c:pt>
                </c:lvl>
              </c:multiLvlStrCache>
            </c:multiLvlStrRef>
          </c:cat>
          <c:val>
            <c:numRef>
              <c:f>Sheet1!$B$2:$B$5</c:f>
              <c:numCache>
                <c:formatCode>General</c:formatCode>
                <c:ptCount val="4"/>
                <c:pt idx="0">
                  <c:v>2.27</c:v>
                </c:pt>
                <c:pt idx="1">
                  <c:v>1.92</c:v>
                </c:pt>
                <c:pt idx="2">
                  <c:v>1.13</c:v>
                </c:pt>
                <c:pt idx="3">
                  <c:v>0.9</c:v>
                </c:pt>
              </c:numCache>
            </c:numRef>
          </c:val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After log1p</c:v>
                </c:pt>
              </c:strCache>
            </c:strRef>
          </c:tx>
          <c:spPr>
            <a:solidFill>
              <a:srgbClr val="6B4C7A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000" u="none">
                    <a:solidFill>
                      <a:srgbClr val="1B2229"/>
                    </a:solidFill>
                    <a:latin typeface="Calibri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Sheet1!$A$2:$A$5</c:f>
              <c:multiLvlStrCache>
                <c:ptCount val="4"/>
                <c:lvl>
                  <c:pt idx="0">
                    <c:v>Insulin</c:v>
                  </c:pt>
                  <c:pt idx="1">
                    <c:v>DiabetesPedigree</c:v>
                  </c:pt>
                  <c:pt idx="2">
                    <c:v>Age</c:v>
                  </c:pt>
                  <c:pt idx="3">
                    <c:v>Pregnancies</c:v>
                  </c:pt>
                </c:lvl>
              </c:multiLvlStrCache>
            </c:multiLvlStrRef>
          </c:cat>
          <c:val>
            <c:numRef>
              <c:f>Sheet1!$C$2:$C$5</c:f>
              <c:numCache>
                <c:formatCode>General</c:formatCode>
                <c:ptCount val="4"/>
                <c:pt idx="0">
                  <c:v>0.35</c:v>
                </c:pt>
                <c:pt idx="1">
                  <c:v>0.35</c:v>
                </c:pt>
                <c:pt idx="2">
                  <c:v>0.53</c:v>
                </c:pt>
                <c:pt idx="3">
                  <c:v>0.09</c:v>
                </c:pt>
              </c:numCache>
            </c:numRef>
          </c:val>
        </c:ser>
        <c:dLbls>
          <c:numFmt formatCode="#,##0" sourceLinked="0"/>
          <c:txPr>
            <a:bodyPr/>
            <a:lstStyle/>
            <a:p>
              <a:pPr>
                <a:defRPr b="0" i="0" strike="noStrike" sz="1000" u="none">
                  <a:solidFill>
                    <a:srgbClr val="1B2229"/>
                  </a:solidFill>
                  <a:latin typeface="Calibri"/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60"/>
        <c:overlap val="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100" b="0" i="0" u="none" strike="noStrike">
                <a:solidFill>
                  <a:srgbClr val="5A646E"/>
                </a:solidFill>
                <a:latin typeface="Calibri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  <c:max val="2.7"/>
        </c:scaling>
        <c:delete val="0"/>
        <c:axPos val="l"/>
        <c:majorGridlines>
          <c:spPr>
            <a:ln w="9525" cap="flat">
              <a:solidFill>
                <a:srgbClr val="D8DDE0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100" b="0" i="0" u="none" strike="noStrike">
                <a:solidFill>
                  <a:srgbClr val="5A646E"/>
                </a:solidFill>
                <a:latin typeface="Calibri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legend>
      <c:legendPos val="b"/>
      <c:overlay val="0"/>
      <c:txPr>
        <a:bodyPr/>
        <a:lstStyle/>
        <a:p>
          <a:pPr>
            <a:defRPr sz="1100">
              <a:latin typeface="Calibri"/>
              <a:cs typeface="Calibri"/>
            </a:defRPr>
          </a:pPr>
          <a:endParaRPr lang="en-US"/>
        </a:p>
      </c:txPr>
    </c:legend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charts/chart12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lineChart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Rows needed for constant density</c:v>
                </c:pt>
              </c:strCache>
            </c:strRef>
          </c:tx>
          <c:spPr>
            <a:solidFill>
              <a:srgbClr val="6B4C7A"/>
            </a:solidFill>
            <a:ln w="34925" cap="flat">
              <a:solidFill>
                <a:srgbClr val="6B4C7A"/>
              </a:solidFill>
              <a:prstDash val="solid"/>
              <a:round/>
            </a:ln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000" u="none">
                    <a:solidFill>
                      <a:srgbClr val="1B2229"/>
                    </a:solidFill>
                    <a:latin typeface="Calibri"/>
                  </a:defRPr>
                </a:pPr>
              </a:p>
            </c:txPr>
            <c:showLegendKey val="0"/>
            <c:showVal val="0"/>
            <c:showCatName val="0"/>
            <c:showSerName val="0"/>
            <c:showPercent val="0"/>
            <c:showBubbleSize val="0"/>
            <c:showLeaderLines val="0"/>
          </c:dLbls>
          <c:marker>
            <c:symbol val="circle"/>
            <c:size val="6"/>
            <c:spPr>
              <a:solidFill>
                <a:srgbClr val="6B4C7A"/>
              </a:solidFill>
              <a:ln w="9525" cap="flat">
                <a:solidFill>
                  <a:srgbClr val="6B4C7A"/>
                </a:solidFill>
                <a:prstDash val="solid"/>
                <a:round/>
              </a:ln>
              <a:effectLst/>
            </c:spPr>
          </c:marker>
          <c:cat>
            <c:multiLvlStrRef>
              <c:f>Sheet1!$A$2:$A$8</c:f>
              <c:multiLvlStrCache>
                <c:ptCount val="7"/>
                <c:lvl>
                  <c:pt idx="0">
                    <c:v>2</c:v>
                  </c:pt>
                  <c:pt idx="1">
                    <c:v>4</c:v>
                  </c:pt>
                  <c:pt idx="2">
                    <c:v>6</c:v>
                  </c:pt>
                  <c:pt idx="3">
                    <c:v>8</c:v>
                  </c:pt>
                  <c:pt idx="4">
                    <c:v>10</c:v>
                  </c:pt>
                  <c:pt idx="5">
                    <c:v>12</c:v>
                  </c:pt>
                  <c:pt idx="6">
                    <c:v>14</c:v>
                  </c:pt>
                </c:lvl>
              </c:multiLvlStrCache>
            </c:multiLvlStrRef>
          </c:cat>
          <c:val>
            <c:numRef>
              <c:f>Sheet1!$B$2:$B$8</c:f>
              <c:numCache>
                <c:formatCode>General</c:formatCode>
                <c:ptCount val="7"/>
                <c:pt idx="0">
                  <c:v>100</c:v>
                </c:pt>
                <c:pt idx="1">
                  <c:v>1000</c:v>
                </c:pt>
                <c:pt idx="2">
                  <c:v>10000</c:v>
                </c:pt>
                <c:pt idx="3">
                  <c:v>100000</c:v>
                </c:pt>
                <c:pt idx="4">
                  <c:v>1000000</c:v>
                </c:pt>
                <c:pt idx="5">
                  <c:v>10000000</c:v>
                </c:pt>
                <c:pt idx="6">
                  <c:v>100000000</c:v>
                </c:pt>
              </c:numCache>
            </c:numRef>
          </c:val>
          <c:smooth val="0"/>
        </c:ser>
        <c:dLbls>
          <c:numFmt formatCode="#,##0" sourceLinked="0"/>
          <c:txPr>
            <a:bodyPr/>
            <a:lstStyle/>
            <a:p>
              <a:pPr>
                <a:defRPr b="0" i="0" strike="noStrike" sz="1000" u="none">
                  <a:solidFill>
                    <a:srgbClr val="1B2229"/>
                  </a:solidFill>
                  <a:latin typeface="Calibri"/>
                </a:defRPr>
              </a:pPr>
            </a:p>
          </c:txPr>
          <c:showLegendKey val="0"/>
          <c:showVal val="0"/>
          <c:showCatName val="0"/>
          <c:showSerName val="0"/>
          <c:showPercent val="0"/>
          <c:showBubbleSize val="0"/>
          <c:showLeaderLines val="0"/>
        </c:dLbls>
        <c:marker val="1"/>
        <c:axId val="2094734554"/>
        <c:axId val="2094734552"/>
        <c:axId val="2094734556"/>
      </c:line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100" b="0" i="0" u="none" strike="noStrike">
                <a:solidFill>
                  <a:srgbClr val="5A646E"/>
                </a:solidFill>
                <a:latin typeface="Calibri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logBase val="10"/>
          <c:orientation val="minMax"/>
        </c:scaling>
        <c:delete val="0"/>
        <c:axPos val="l"/>
        <c:majorGridlines>
          <c:spPr>
            <a:ln w="9525" cap="flat">
              <a:solidFill>
                <a:srgbClr val="D8DDE0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100" b="0" i="0" u="none" strike="noStrike">
                <a:solidFill>
                  <a:srgbClr val="5A646E"/>
                </a:solidFill>
                <a:latin typeface="Calibri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charts/chart13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Variance explained (%)</c:v>
                </c:pt>
              </c:strCache>
            </c:strRef>
          </c:tx>
          <c:spPr>
            <a:solidFill>
              <a:srgbClr val="6B4C7A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000" u="none">
                    <a:solidFill>
                      <a:srgbClr val="1B2229"/>
                    </a:solidFill>
                    <a:latin typeface="Calibri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Sheet1!$A$2:$A$9</c:f>
              <c:multiLvlStrCache>
                <c:ptCount val="8"/>
                <c:lvl>
                  <c:pt idx="0">
                    <c:v>PC1</c:v>
                  </c:pt>
                  <c:pt idx="1">
                    <c:v>PC2</c:v>
                  </c:pt>
                  <c:pt idx="2">
                    <c:v>PC3</c:v>
                  </c:pt>
                  <c:pt idx="3">
                    <c:v>PC4</c:v>
                  </c:pt>
                  <c:pt idx="4">
                    <c:v>PC5</c:v>
                  </c:pt>
                  <c:pt idx="5">
                    <c:v>PC6</c:v>
                  </c:pt>
                  <c:pt idx="6">
                    <c:v>PC7</c:v>
                  </c:pt>
                  <c:pt idx="7">
                    <c:v>PC8</c:v>
                  </c:pt>
                </c:lvl>
              </c:multiLvlStrCache>
            </c:multiLvlStrRef>
          </c:cat>
          <c:val>
            <c:numRef>
              <c:f>Sheet1!$B$2:$B$9</c:f>
              <c:numCache>
                <c:formatCode>General</c:formatCode>
                <c:ptCount val="8"/>
                <c:pt idx="0">
                  <c:v>28.5</c:v>
                </c:pt>
                <c:pt idx="1">
                  <c:v>18.7</c:v>
                </c:pt>
                <c:pt idx="2">
                  <c:v>14.3</c:v>
                </c:pt>
                <c:pt idx="3">
                  <c:v>11.5</c:v>
                </c:pt>
                <c:pt idx="4">
                  <c:v>9.6</c:v>
                </c:pt>
                <c:pt idx="5">
                  <c:v>6.8</c:v>
                </c:pt>
                <c:pt idx="6">
                  <c:v>5.9</c:v>
                </c:pt>
                <c:pt idx="7">
                  <c:v>4.8</c:v>
                </c:pt>
              </c:numCache>
            </c:numRef>
          </c:val>
        </c:ser>
        <c:dLbls>
          <c:numFmt formatCode="#,##0" sourceLinked="0"/>
          <c:txPr>
            <a:bodyPr/>
            <a:lstStyle/>
            <a:p>
              <a:pPr>
                <a:defRPr b="0" i="0" strike="noStrike" sz="1000" u="none">
                  <a:solidFill>
                    <a:srgbClr val="1B2229"/>
                  </a:solidFill>
                  <a:latin typeface="Calibri"/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70"/>
        <c:overlap val="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100" b="0" i="0" u="none" strike="noStrike">
                <a:solidFill>
                  <a:srgbClr val="5A646E"/>
                </a:solidFill>
                <a:latin typeface="Calibri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  <c:max val="34"/>
        </c:scaling>
        <c:delete val="0"/>
        <c:axPos val="l"/>
        <c:majorGridlines>
          <c:spPr>
            <a:ln w="9525" cap="flat">
              <a:solidFill>
                <a:srgbClr val="D8DDE0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100" b="0" i="0" u="none" strike="noStrike">
                <a:solidFill>
                  <a:srgbClr val="5A646E"/>
                </a:solidFill>
                <a:latin typeface="Calibri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_rels/notesSlide1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7.xml"/>
		</Relationships>
</file>

<file path=ppt/notesSlides/_rels/notesSlide1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8.xml"/>
		</Relationships>
</file>

<file path=ppt/notesSlides/_rels/notesSlide1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9.xml"/>
		</Relationships>
</file>

<file path=ppt/notesSlides/_rels/notesSlide2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0.xml"/>
		</Relationships>
</file>

<file path=ppt/notesSlides/_rels/notesSlide2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1.xml"/>
		</Relationships>
</file>

<file path=ppt/notesSlides/_rels/notesSlide2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2.xml"/>
		</Relationships>
</file>

<file path=ppt/notesSlides/_rels/notesSlide2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3.xml"/>
		</Relationships>
</file>

<file path=ppt/notesSlides/_rels/notesSlide2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4.xml"/>
		</Relationships>
</file>

<file path=ppt/notesSlides/_rels/notesSlide2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5.xml"/>
		</Relationships>
</file>

<file path=ppt/notesSlides/_rels/notesSlide2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6.xml"/>
		</Relationships>
</file>

<file path=ppt/notesSlides/_rels/notesSlide2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7.xml"/>
		</Relationships>
</file>

<file path=ppt/notesSlides/_rels/notesSlide2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8.xml"/>
		</Relationships>
</file>

<file path=ppt/notesSlides/_rels/notesSlide2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9.xml"/>
		</Relationships>
</file>

<file path=ppt/notesSlides/_rels/notesSlide3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0.xml"/>
		</Relationships>
</file>

<file path=ppt/notesSlides/_rels/notesSlide3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1.xml"/>
		</Relationships>
</file>

<file path=ppt/notesSlides/_rels/notesSlide3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2.xml"/>
		</Relationships>
</file>

<file path=ppt/notesSlides/_rels/notesSlide3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3.xml"/>
		</Relationships>
</file>

<file path=ppt/notesSlides/_rels/notesSlide3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4.xml"/>
		</Relationships>
</file>

<file path=ppt/notesSlides/_rels/notesSlide3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5.xml"/>
		</Relationships>
</file>

<file path=ppt/notesSlides/_rels/notesSlide3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6.xml"/>
		</Relationships>
</file>

<file path=ppt/notesSlides/_rels/notesSlide3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7.xml"/>
		</Relationships>
</file>

<file path=ppt/notesSlides/_rels/notesSlide3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8.xml"/>
		</Relationships>
</file>

<file path=ppt/notesSlides/_rels/notesSlide3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9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The final module. Everything here is judged in the final project, so keep referring forward to it.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The discipline being taught: apply, then re-measure. Students routinely apply a transform and never check it helped.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Ask the class what question BMI asks that height and weight separately do not.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Connect back to Module 1 L6 where this was introduced. Now it drives an actual technique choice.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Contrast with datasets where PC1 alone explains 70%. Flat scree means the variables are already fairly independent.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Tell them plainly: this is the mistake that loses the most marks in the final project.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11.xml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12.xml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6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8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9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0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1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2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3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13.xml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4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5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6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7.xml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8.xml"/></Relationships>
</file>

<file path=ppt/slides/_rels/slide2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9.xml"/></Relationships>
</file>

<file path=ppt/slides/_rels/slide3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0.xml"/></Relationships>
</file>

<file path=ppt/slides/_rels/slide3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1.xml"/></Relationships>
</file>

<file path=ppt/slides/_rels/slide3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2.xml"/></Relationships>
</file>

<file path=ppt/slides/_rels/slide3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3.xml"/></Relationships>
</file>

<file path=ppt/slides/_rels/slide3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4.xml"/></Relationships>
</file>

<file path=ppt/slides/_rels/slide3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5.xml"/></Relationships>
</file>

<file path=ppt/slides/_rels/slide3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6.xml"/></Relationships>
</file>

<file path=ppt/slides/_rels/slide3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7.xml"/></Relationships>
</file>

<file path=ppt/slides/_rels/slide3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8.xml"/></Relationships>
</file>

<file path=ppt/slides/_rels/slide3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9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B222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66928" y="1417320"/>
            <a:ext cx="274320" cy="274320"/>
          </a:xfrm>
          <a:prstGeom prst="rect">
            <a:avLst/>
          </a:prstGeom>
          <a:solidFill>
            <a:srgbClr val="6B4C7A"/>
          </a:solidFill>
          <a:ln/>
        </p:spPr>
      </p:sp>
      <p:sp>
        <p:nvSpPr>
          <p:cNvPr id="3" name="Text 1"/>
          <p:cNvSpPr/>
          <p:nvPr/>
        </p:nvSpPr>
        <p:spPr>
          <a:xfrm>
            <a:off x="1005840" y="1371600"/>
            <a:ext cx="1057046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6B4C7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MODULE 04 · WEEKS 12–15 · CO4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566928" y="1965960"/>
            <a:ext cx="9747504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2000"/>
              </a:lnSpc>
              <a:buNone/>
            </a:pPr>
            <a:r>
              <a:rPr lang="en-US" sz="4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Feature Engineering,</a:t>
            </a:r>
            <a:endParaRPr lang="en-US" sz="4600" dirty="0"/>
          </a:p>
          <a:p>
            <a:pPr indent="0" marL="0">
              <a:lnSpc>
                <a:spcPct val="102000"/>
              </a:lnSpc>
              <a:buNone/>
            </a:pPr>
            <a:r>
              <a:rPr lang="en-US" sz="4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Transformation &amp; Structure</a:t>
            </a:r>
            <a:endParaRPr lang="en-US" sz="4600" dirty="0"/>
          </a:p>
        </p:txBody>
      </p:sp>
      <p:sp>
        <p:nvSpPr>
          <p:cNvPr id="5" name="Text 3"/>
          <p:cNvSpPr/>
          <p:nvPr/>
        </p:nvSpPr>
        <p:spPr>
          <a:xfrm>
            <a:off x="566928" y="3794760"/>
            <a:ext cx="8101584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B9C2C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Reshaping data so that structure becomes visible — and closing the loop back into modelling.</a:t>
            </a:r>
            <a:endParaRPr lang="en-US" sz="1600" dirty="0"/>
          </a:p>
        </p:txBody>
      </p:sp>
      <p:sp>
        <p:nvSpPr>
          <p:cNvPr id="6" name="Text 4"/>
          <p:cNvSpPr/>
          <p:nvPr/>
        </p:nvSpPr>
        <p:spPr>
          <a:xfrm>
            <a:off x="566928" y="5029200"/>
            <a:ext cx="26060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spc="120" kern="0" dirty="0">
                <a:solidFill>
                  <a:srgbClr val="8B919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SESSIONS</a:t>
            </a:r>
            <a:endParaRPr lang="en-US" sz="900" dirty="0"/>
          </a:p>
        </p:txBody>
      </p:sp>
      <p:sp>
        <p:nvSpPr>
          <p:cNvPr id="7" name="Text 5"/>
          <p:cNvSpPr/>
          <p:nvPr/>
        </p:nvSpPr>
        <p:spPr>
          <a:xfrm>
            <a:off x="566928" y="5266944"/>
            <a:ext cx="26060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 Lectures · 4 Practicals</a:t>
            </a:r>
            <a:endParaRPr lang="en-US" sz="1450" dirty="0"/>
          </a:p>
        </p:txBody>
      </p:sp>
      <p:sp>
        <p:nvSpPr>
          <p:cNvPr id="8" name="Text 6"/>
          <p:cNvSpPr/>
          <p:nvPr/>
        </p:nvSpPr>
        <p:spPr>
          <a:xfrm>
            <a:off x="3374136" y="5029200"/>
            <a:ext cx="26060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spc="120" kern="0" dirty="0">
                <a:solidFill>
                  <a:srgbClr val="8B919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OUTCOME</a:t>
            </a:r>
            <a:endParaRPr lang="en-US" sz="900" dirty="0"/>
          </a:p>
        </p:txBody>
      </p:sp>
      <p:sp>
        <p:nvSpPr>
          <p:cNvPr id="9" name="Text 7"/>
          <p:cNvSpPr/>
          <p:nvPr/>
        </p:nvSpPr>
        <p:spPr>
          <a:xfrm>
            <a:off x="3374136" y="5266944"/>
            <a:ext cx="26060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CO4 · Analysis</a:t>
            </a:r>
            <a:endParaRPr lang="en-US" sz="1450" dirty="0"/>
          </a:p>
        </p:txBody>
      </p:sp>
      <p:sp>
        <p:nvSpPr>
          <p:cNvPr id="10" name="Text 8"/>
          <p:cNvSpPr/>
          <p:nvPr/>
        </p:nvSpPr>
        <p:spPr>
          <a:xfrm>
            <a:off x="6181344" y="5029200"/>
            <a:ext cx="26060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spc="120" kern="0" dirty="0">
                <a:solidFill>
                  <a:srgbClr val="8B919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DATASETS</a:t>
            </a:r>
            <a:endParaRPr lang="en-US" sz="900" dirty="0"/>
          </a:p>
        </p:txBody>
      </p:sp>
      <p:sp>
        <p:nvSpPr>
          <p:cNvPr id="11" name="Text 9"/>
          <p:cNvSpPr/>
          <p:nvPr/>
        </p:nvSpPr>
        <p:spPr>
          <a:xfrm>
            <a:off x="6181344" y="5266944"/>
            <a:ext cx="26060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Pima · California Housing</a:t>
            </a:r>
            <a:endParaRPr lang="en-US" sz="1450" dirty="0"/>
          </a:p>
        </p:txBody>
      </p:sp>
      <p:sp>
        <p:nvSpPr>
          <p:cNvPr id="12" name="Text 10"/>
          <p:cNvSpPr/>
          <p:nvPr/>
        </p:nvSpPr>
        <p:spPr>
          <a:xfrm>
            <a:off x="8988552" y="5029200"/>
            <a:ext cx="26060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spc="120" kern="0" dirty="0">
                <a:solidFill>
                  <a:srgbClr val="8B919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MILESTONE</a:t>
            </a:r>
            <a:endParaRPr lang="en-US" sz="900" dirty="0"/>
          </a:p>
        </p:txBody>
      </p:sp>
      <p:sp>
        <p:nvSpPr>
          <p:cNvPr id="13" name="Text 11"/>
          <p:cNvSpPr/>
          <p:nvPr/>
        </p:nvSpPr>
        <p:spPr>
          <a:xfrm>
            <a:off x="8988552" y="5266944"/>
            <a:ext cx="26060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Final project · Week 16</a:t>
            </a:r>
            <a:endParaRPr lang="en-US" sz="1450" dirty="0"/>
          </a:p>
        </p:txBody>
      </p:sp>
      <p:sp>
        <p:nvSpPr>
          <p:cNvPr id="14" name="Text 12"/>
          <p:cNvSpPr/>
          <p:nvPr/>
        </p:nvSpPr>
        <p:spPr>
          <a:xfrm>
            <a:off x="566928" y="5989320"/>
            <a:ext cx="1102766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8B91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DATA209 Advanced Exploratory Data Analysis · BTech Hons. (Data Science), Semester III · Vidyashilp University</a:t>
            </a:r>
            <a:endParaRPr lang="en-US" sz="115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66928" y="384048"/>
            <a:ext cx="1102766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spc="160" kern="0" dirty="0">
                <a:solidFill>
                  <a:srgbClr val="6B4C7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MODULE OUTCOME</a:t>
            </a:r>
            <a:endParaRPr lang="en-US" sz="1050" dirty="0"/>
          </a:p>
        </p:txBody>
      </p:sp>
      <p:sp>
        <p:nvSpPr>
          <p:cNvPr id="3" name="Text 1"/>
          <p:cNvSpPr/>
          <p:nvPr/>
        </p:nvSpPr>
        <p:spPr>
          <a:xfrm>
            <a:off x="566928" y="676656"/>
            <a:ext cx="11027664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000" b="1" dirty="0">
                <a:solidFill>
                  <a:srgbClr val="1B2229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What you will be able to do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566928" y="1783080"/>
            <a:ext cx="6616598" cy="3931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228600" indent="-228600">
              <a:spcAft>
                <a:spcPts val="900"/>
              </a:spcAft>
              <a:buSzPct val="100000"/>
              <a:buChar char="•"/>
            </a:pPr>
            <a:r>
              <a:rPr lang="en-US" sz="1500" b="1" dirty="0">
                <a:solidFill>
                  <a:srgbClr val="1B222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Choose and justify a transformation and a scaler for a given variable and model</a:t>
            </a:r>
            <a:endParaRPr lang="en-US" sz="1500" dirty="0"/>
          </a:p>
          <a:p>
            <a:pPr marL="228600" indent="-228600">
              <a:spcAft>
                <a:spcPts val="900"/>
              </a:spcAft>
              <a:buSzPct val="100000"/>
              <a:buChar char="•"/>
            </a:pPr>
            <a:r>
              <a:rPr lang="en-US" sz="1500" dirty="0">
                <a:solidFill>
                  <a:srgbClr val="5A64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Construct features that encode domain knowledge, and select among them systematically</a:t>
            </a:r>
            <a:endParaRPr lang="en-US" sz="1500" dirty="0"/>
          </a:p>
          <a:p>
            <a:pPr marL="228600" indent="-228600">
              <a:spcAft>
                <a:spcPts val="900"/>
              </a:spcAft>
              <a:buSzPct val="100000"/>
              <a:buChar char="•"/>
            </a:pPr>
            <a:r>
              <a:rPr lang="en-US" sz="1500" dirty="0">
                <a:solidFill>
                  <a:srgbClr val="5A64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Explain the curse of dimensionality and respond to it with selection or reduction</a:t>
            </a:r>
            <a:endParaRPr lang="en-US" sz="1500" dirty="0"/>
          </a:p>
          <a:p>
            <a:pPr marL="228600" indent="-228600">
              <a:spcAft>
                <a:spcPts val="900"/>
              </a:spcAft>
              <a:buSzPct val="100000"/>
              <a:buChar char="•"/>
            </a:pPr>
            <a:r>
              <a:rPr lang="en-US" sz="1500" dirty="0">
                <a:solidFill>
                  <a:srgbClr val="5A64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Apply PCA for interpretation, and read a scree plot and a loading matrix</a:t>
            </a:r>
            <a:endParaRPr lang="en-US" sz="1500" dirty="0"/>
          </a:p>
          <a:p>
            <a:pPr marL="228600" indent="-228600">
              <a:spcAft>
                <a:spcPts val="900"/>
              </a:spcAft>
              <a:buSzPct val="100000"/>
              <a:buChar char="•"/>
            </a:pPr>
            <a:r>
              <a:rPr lang="en-US" sz="1500" dirty="0">
                <a:solidFill>
                  <a:srgbClr val="5A64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Split data honestly, including stratified and time-based splits</a:t>
            </a:r>
            <a:endParaRPr lang="en-US" sz="1500" dirty="0"/>
          </a:p>
          <a:p>
            <a:pPr marL="228600" indent="-228600">
              <a:spcAft>
                <a:spcPts val="900"/>
              </a:spcAft>
              <a:buSzPct val="100000"/>
              <a:buChar char="•"/>
            </a:pPr>
            <a:r>
              <a:rPr lang="en-US" sz="1500" dirty="0">
                <a:solidFill>
                  <a:srgbClr val="5A64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Identify and prevent every common path by which test information leaks into training</a:t>
            </a:r>
            <a:endParaRPr lang="en-US" sz="1500" dirty="0"/>
          </a:p>
        </p:txBody>
      </p:sp>
      <p:sp>
        <p:nvSpPr>
          <p:cNvPr id="5" name="Shape 3"/>
          <p:cNvSpPr/>
          <p:nvPr/>
        </p:nvSpPr>
        <p:spPr>
          <a:xfrm>
            <a:off x="7624633" y="1783080"/>
            <a:ext cx="3969959" cy="2203704"/>
          </a:xfrm>
          <a:prstGeom prst="roundRect">
            <a:avLst>
              <a:gd name="adj" fmla="val 2490"/>
            </a:avLst>
          </a:prstGeom>
          <a:solidFill>
            <a:srgbClr val="EFE8F2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7880665" y="1993392"/>
            <a:ext cx="3457895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4E375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Assessed by</a:t>
            </a:r>
            <a:endParaRPr lang="en-US" sz="1300" dirty="0"/>
          </a:p>
        </p:txBody>
      </p:sp>
      <p:sp>
        <p:nvSpPr>
          <p:cNvPr id="7" name="Text 5"/>
          <p:cNvSpPr/>
          <p:nvPr/>
        </p:nvSpPr>
        <p:spPr>
          <a:xfrm>
            <a:off x="7880665" y="2395728"/>
            <a:ext cx="3457895" cy="142646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228600" indent="-228600">
              <a:spcAft>
                <a:spcPts val="600"/>
              </a:spcAft>
              <a:buSzPct val="100000"/>
              <a:buChar char="•"/>
            </a:pPr>
            <a:r>
              <a:rPr lang="en-US" sz="1250" dirty="0">
                <a:solidFill>
                  <a:srgbClr val="5A64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Final project (30%, week 16)</a:t>
            </a:r>
            <a:endParaRPr lang="en-US" sz="1250" dirty="0"/>
          </a:p>
          <a:p>
            <a:pPr marL="228600" indent="-228600">
              <a:spcAft>
                <a:spcPts val="600"/>
              </a:spcAft>
              <a:buSzPct val="100000"/>
              <a:buChar char="•"/>
            </a:pPr>
            <a:r>
              <a:rPr lang="en-US" sz="1250" dirty="0">
                <a:solidFill>
                  <a:srgbClr val="5A64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Laboratory assessment</a:t>
            </a:r>
            <a:endParaRPr lang="en-US" sz="1250" dirty="0"/>
          </a:p>
          <a:p>
            <a:pPr marL="228600" indent="-228600">
              <a:spcAft>
                <a:spcPts val="600"/>
              </a:spcAft>
              <a:buSzPct val="100000"/>
              <a:buChar char="•"/>
            </a:pPr>
            <a:r>
              <a:rPr lang="en-US" sz="1250" dirty="0">
                <a:solidFill>
                  <a:srgbClr val="5A64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Class participation</a:t>
            </a:r>
            <a:endParaRPr lang="en-US" sz="1250" dirty="0"/>
          </a:p>
        </p:txBody>
      </p:sp>
      <p:sp>
        <p:nvSpPr>
          <p:cNvPr id="8" name="Text 6"/>
          <p:cNvSpPr/>
          <p:nvPr/>
        </p:nvSpPr>
        <p:spPr>
          <a:xfrm>
            <a:off x="566928" y="5833872"/>
            <a:ext cx="10661904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rgbClr val="4E375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Target course outcome CO4 — interpret exploratory results to generate insight and support hypothesis formulation.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566928" y="6437376"/>
            <a:ext cx="64008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8B91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DATA209 · Module 4 — Feature Engineering &amp; Structure</a:t>
            </a:r>
            <a:endParaRPr lang="en-US" sz="900" dirty="0"/>
          </a:p>
        </p:txBody>
      </p:sp>
      <p:sp>
        <p:nvSpPr>
          <p:cNvPr id="10" name="Text 8"/>
          <p:cNvSpPr/>
          <p:nvPr/>
        </p:nvSpPr>
        <p:spPr>
          <a:xfrm>
            <a:off x="10954512" y="6437376"/>
            <a:ext cx="6400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8B919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2</a:t>
            </a:r>
            <a:endParaRPr lang="en-US" sz="9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4E375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66928" y="2286000"/>
            <a:ext cx="2926080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600" b="1" dirty="0">
                <a:solidFill>
                  <a:srgbClr val="6B4C7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L23–24</a:t>
            </a:r>
            <a:endParaRPr lang="en-US" sz="7600" dirty="0"/>
          </a:p>
        </p:txBody>
      </p:sp>
      <p:sp>
        <p:nvSpPr>
          <p:cNvPr id="3" name="Shape 1"/>
          <p:cNvSpPr/>
          <p:nvPr/>
        </p:nvSpPr>
        <p:spPr>
          <a:xfrm>
            <a:off x="2944368" y="2395728"/>
            <a:ext cx="18288" cy="1371600"/>
          </a:xfrm>
          <a:prstGeom prst="rect">
            <a:avLst/>
          </a:prstGeom>
          <a:solidFill>
            <a:srgbClr val="6E7C86"/>
          </a:solidFill>
          <a:ln/>
        </p:spPr>
      </p:sp>
      <p:sp>
        <p:nvSpPr>
          <p:cNvPr id="4" name="Text 2"/>
          <p:cNvSpPr/>
          <p:nvPr/>
        </p:nvSpPr>
        <p:spPr>
          <a:xfrm>
            <a:off x="3310128" y="2286000"/>
            <a:ext cx="8193024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Transform and scale</a:t>
            </a:r>
            <a:endParaRPr lang="en-US" sz="3400" dirty="0"/>
          </a:p>
        </p:txBody>
      </p:sp>
      <p:sp>
        <p:nvSpPr>
          <p:cNvPr id="5" name="Text 3"/>
          <p:cNvSpPr/>
          <p:nvPr/>
        </p:nvSpPr>
        <p:spPr>
          <a:xfrm>
            <a:off x="3310128" y="3127248"/>
            <a:ext cx="7918704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C3CCD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Log and Box–Cox · standardisation, min–max and robust scaling · the effect on distribution shape</a:t>
            </a:r>
            <a:endParaRPr lang="en-US" sz="15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66928" y="384048"/>
            <a:ext cx="1102766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spc="160" kern="0" dirty="0">
                <a:solidFill>
                  <a:srgbClr val="6B4C7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L23 · MOTIVATION</a:t>
            </a:r>
            <a:endParaRPr lang="en-US" sz="1050" dirty="0"/>
          </a:p>
        </p:txBody>
      </p:sp>
      <p:sp>
        <p:nvSpPr>
          <p:cNvPr id="3" name="Text 1"/>
          <p:cNvSpPr/>
          <p:nvPr/>
        </p:nvSpPr>
        <p:spPr>
          <a:xfrm>
            <a:off x="566928" y="676656"/>
            <a:ext cx="11027664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000" b="1" dirty="0">
                <a:solidFill>
                  <a:srgbClr val="1B2229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Four reasons to transform a variable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566928" y="1783080"/>
            <a:ext cx="5367528" cy="1842516"/>
          </a:xfrm>
          <a:prstGeom prst="roundRect">
            <a:avLst>
              <a:gd name="adj" fmla="val 3474"/>
            </a:avLst>
          </a:prstGeom>
          <a:solidFill>
            <a:srgbClr val="FFFFFF"/>
          </a:solidFill>
          <a:ln w="11430">
            <a:solidFill>
              <a:srgbClr val="D8DDE0"/>
            </a:solidFill>
            <a:prstDash val="solid"/>
          </a:ln>
          <a:effectLst>
            <a:outerShdw sx="100000" sy="100000" kx="0" ky="0" algn="bl" rotWithShape="0" blurRad="88900" dist="12700" dir="5400000">
              <a:srgbClr val="9AA5AC">
                <a:alpha val="18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804672" y="2002536"/>
            <a:ext cx="402336" cy="402336"/>
          </a:xfrm>
          <a:prstGeom prst="ellipse">
            <a:avLst/>
          </a:prstGeom>
          <a:solidFill>
            <a:srgbClr val="EFE8F2"/>
          </a:solidFill>
          <a:ln/>
        </p:spPr>
      </p:sp>
      <p:sp>
        <p:nvSpPr>
          <p:cNvPr id="6" name="Text 4"/>
          <p:cNvSpPr/>
          <p:nvPr/>
        </p:nvSpPr>
        <p:spPr>
          <a:xfrm>
            <a:off x="804672" y="2002536"/>
            <a:ext cx="40233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4E375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01</a:t>
            </a:r>
            <a:endParaRPr lang="en-US" sz="1300" dirty="0"/>
          </a:p>
        </p:txBody>
      </p:sp>
      <p:sp>
        <p:nvSpPr>
          <p:cNvPr id="7" name="Text 5"/>
          <p:cNvSpPr/>
          <p:nvPr/>
        </p:nvSpPr>
        <p:spPr>
          <a:xfrm>
            <a:off x="1316736" y="2002536"/>
            <a:ext cx="4361688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1B222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Reduce skew</a:t>
            </a:r>
            <a:endParaRPr lang="en-US" sz="1450" dirty="0"/>
          </a:p>
        </p:txBody>
      </p:sp>
      <p:sp>
        <p:nvSpPr>
          <p:cNvPr id="8" name="Text 6"/>
          <p:cNvSpPr/>
          <p:nvPr/>
        </p:nvSpPr>
        <p:spPr>
          <a:xfrm>
            <a:off x="822960" y="2532888"/>
            <a:ext cx="4855464" cy="9098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dirty="0">
                <a:solidFill>
                  <a:srgbClr val="5A64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Pull in a long right tail so the bulk of the data occupies more of the plot and the statistic.</a:t>
            </a:r>
            <a:endParaRPr lang="en-US" sz="1250" dirty="0"/>
          </a:p>
        </p:txBody>
      </p:sp>
      <p:sp>
        <p:nvSpPr>
          <p:cNvPr id="9" name="Shape 7"/>
          <p:cNvSpPr/>
          <p:nvPr/>
        </p:nvSpPr>
        <p:spPr>
          <a:xfrm>
            <a:off x="6227064" y="1783080"/>
            <a:ext cx="5367528" cy="1842516"/>
          </a:xfrm>
          <a:prstGeom prst="roundRect">
            <a:avLst>
              <a:gd name="adj" fmla="val 3474"/>
            </a:avLst>
          </a:prstGeom>
          <a:solidFill>
            <a:srgbClr val="FFFFFF"/>
          </a:solidFill>
          <a:ln w="11430">
            <a:solidFill>
              <a:srgbClr val="D8DDE0"/>
            </a:solidFill>
            <a:prstDash val="solid"/>
          </a:ln>
          <a:effectLst>
            <a:outerShdw sx="100000" sy="100000" kx="0" ky="0" algn="bl" rotWithShape="0" blurRad="88900" dist="12700" dir="5400000">
              <a:srgbClr val="9AA5AC">
                <a:alpha val="18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6464808" y="2002536"/>
            <a:ext cx="402336" cy="402336"/>
          </a:xfrm>
          <a:prstGeom prst="ellipse">
            <a:avLst/>
          </a:prstGeom>
          <a:solidFill>
            <a:srgbClr val="EFE8F2"/>
          </a:solidFill>
          <a:ln/>
        </p:spPr>
      </p:sp>
      <p:sp>
        <p:nvSpPr>
          <p:cNvPr id="11" name="Text 9"/>
          <p:cNvSpPr/>
          <p:nvPr/>
        </p:nvSpPr>
        <p:spPr>
          <a:xfrm>
            <a:off x="6464808" y="2002536"/>
            <a:ext cx="40233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4E375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02</a:t>
            </a:r>
            <a:endParaRPr lang="en-US" sz="1300" dirty="0"/>
          </a:p>
        </p:txBody>
      </p:sp>
      <p:sp>
        <p:nvSpPr>
          <p:cNvPr id="12" name="Text 10"/>
          <p:cNvSpPr/>
          <p:nvPr/>
        </p:nvSpPr>
        <p:spPr>
          <a:xfrm>
            <a:off x="6976872" y="2002536"/>
            <a:ext cx="4361688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1B222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Stabilise variance</a:t>
            </a:r>
            <a:endParaRPr lang="en-US" sz="1450" dirty="0"/>
          </a:p>
        </p:txBody>
      </p:sp>
      <p:sp>
        <p:nvSpPr>
          <p:cNvPr id="13" name="Text 11"/>
          <p:cNvSpPr/>
          <p:nvPr/>
        </p:nvSpPr>
        <p:spPr>
          <a:xfrm>
            <a:off x="6483096" y="2532888"/>
            <a:ext cx="4855464" cy="9098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dirty="0">
                <a:solidFill>
                  <a:srgbClr val="5A64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When spread grows with the mean, a log transform makes it roughly constant.</a:t>
            </a:r>
            <a:endParaRPr lang="en-US" sz="1250" dirty="0"/>
          </a:p>
        </p:txBody>
      </p:sp>
      <p:sp>
        <p:nvSpPr>
          <p:cNvPr id="14" name="Shape 12"/>
          <p:cNvSpPr/>
          <p:nvPr/>
        </p:nvSpPr>
        <p:spPr>
          <a:xfrm>
            <a:off x="566928" y="3918204"/>
            <a:ext cx="5367528" cy="1842516"/>
          </a:xfrm>
          <a:prstGeom prst="roundRect">
            <a:avLst>
              <a:gd name="adj" fmla="val 3474"/>
            </a:avLst>
          </a:prstGeom>
          <a:solidFill>
            <a:srgbClr val="FFFFFF"/>
          </a:solidFill>
          <a:ln w="11430">
            <a:solidFill>
              <a:srgbClr val="D8DDE0"/>
            </a:solidFill>
            <a:prstDash val="solid"/>
          </a:ln>
          <a:effectLst>
            <a:outerShdw sx="100000" sy="100000" kx="0" ky="0" algn="bl" rotWithShape="0" blurRad="88900" dist="12700" dir="5400000">
              <a:srgbClr val="9AA5AC">
                <a:alpha val="18000"/>
              </a:srgbClr>
            </a:outerShdw>
          </a:effectLst>
        </p:spPr>
      </p:sp>
      <p:sp>
        <p:nvSpPr>
          <p:cNvPr id="15" name="Shape 13"/>
          <p:cNvSpPr/>
          <p:nvPr/>
        </p:nvSpPr>
        <p:spPr>
          <a:xfrm>
            <a:off x="804672" y="4137660"/>
            <a:ext cx="402336" cy="402336"/>
          </a:xfrm>
          <a:prstGeom prst="ellipse">
            <a:avLst/>
          </a:prstGeom>
          <a:solidFill>
            <a:srgbClr val="EFE8F2"/>
          </a:solidFill>
          <a:ln/>
        </p:spPr>
      </p:sp>
      <p:sp>
        <p:nvSpPr>
          <p:cNvPr id="16" name="Text 14"/>
          <p:cNvSpPr/>
          <p:nvPr/>
        </p:nvSpPr>
        <p:spPr>
          <a:xfrm>
            <a:off x="804672" y="4137660"/>
            <a:ext cx="40233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4E375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03</a:t>
            </a:r>
            <a:endParaRPr lang="en-US" sz="1300" dirty="0"/>
          </a:p>
        </p:txBody>
      </p:sp>
      <p:sp>
        <p:nvSpPr>
          <p:cNvPr id="17" name="Text 15"/>
          <p:cNvSpPr/>
          <p:nvPr/>
        </p:nvSpPr>
        <p:spPr>
          <a:xfrm>
            <a:off x="1316736" y="4137660"/>
            <a:ext cx="4361688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1B222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Linearise</a:t>
            </a:r>
            <a:endParaRPr lang="en-US" sz="1450" dirty="0"/>
          </a:p>
        </p:txBody>
      </p:sp>
      <p:sp>
        <p:nvSpPr>
          <p:cNvPr id="18" name="Text 16"/>
          <p:cNvSpPr/>
          <p:nvPr/>
        </p:nvSpPr>
        <p:spPr>
          <a:xfrm>
            <a:off x="822960" y="4668012"/>
            <a:ext cx="4855464" cy="9098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dirty="0">
                <a:solidFill>
                  <a:srgbClr val="5A64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multiplicative relationship becomes additive under logs, so linear methods apply.</a:t>
            </a:r>
            <a:endParaRPr lang="en-US" sz="1250" dirty="0"/>
          </a:p>
        </p:txBody>
      </p:sp>
      <p:sp>
        <p:nvSpPr>
          <p:cNvPr id="19" name="Shape 17"/>
          <p:cNvSpPr/>
          <p:nvPr/>
        </p:nvSpPr>
        <p:spPr>
          <a:xfrm>
            <a:off x="6227064" y="3918204"/>
            <a:ext cx="5367528" cy="1842516"/>
          </a:xfrm>
          <a:prstGeom prst="roundRect">
            <a:avLst>
              <a:gd name="adj" fmla="val 3474"/>
            </a:avLst>
          </a:prstGeom>
          <a:solidFill>
            <a:srgbClr val="FFFFFF"/>
          </a:solidFill>
          <a:ln w="11430">
            <a:solidFill>
              <a:srgbClr val="D8DDE0"/>
            </a:solidFill>
            <a:prstDash val="solid"/>
          </a:ln>
          <a:effectLst>
            <a:outerShdw sx="100000" sy="100000" kx="0" ky="0" algn="bl" rotWithShape="0" blurRad="88900" dist="12700" dir="5400000">
              <a:srgbClr val="9AA5AC">
                <a:alpha val="18000"/>
              </a:srgbClr>
            </a:outerShdw>
          </a:effectLst>
        </p:spPr>
      </p:sp>
      <p:sp>
        <p:nvSpPr>
          <p:cNvPr id="20" name="Shape 18"/>
          <p:cNvSpPr/>
          <p:nvPr/>
        </p:nvSpPr>
        <p:spPr>
          <a:xfrm>
            <a:off x="6464808" y="4137660"/>
            <a:ext cx="402336" cy="402336"/>
          </a:xfrm>
          <a:prstGeom prst="ellipse">
            <a:avLst/>
          </a:prstGeom>
          <a:solidFill>
            <a:srgbClr val="EFE8F2"/>
          </a:solidFill>
          <a:ln/>
        </p:spPr>
      </p:sp>
      <p:sp>
        <p:nvSpPr>
          <p:cNvPr id="21" name="Text 19"/>
          <p:cNvSpPr/>
          <p:nvPr/>
        </p:nvSpPr>
        <p:spPr>
          <a:xfrm>
            <a:off x="6464808" y="4137660"/>
            <a:ext cx="40233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4E375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04</a:t>
            </a:r>
            <a:endParaRPr lang="en-US" sz="1300" dirty="0"/>
          </a:p>
        </p:txBody>
      </p:sp>
      <p:sp>
        <p:nvSpPr>
          <p:cNvPr id="22" name="Text 20"/>
          <p:cNvSpPr/>
          <p:nvPr/>
        </p:nvSpPr>
        <p:spPr>
          <a:xfrm>
            <a:off x="6976872" y="4137660"/>
            <a:ext cx="4361688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1B222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Tame outliers</a:t>
            </a:r>
            <a:endParaRPr lang="en-US" sz="1450" dirty="0"/>
          </a:p>
        </p:txBody>
      </p:sp>
      <p:sp>
        <p:nvSpPr>
          <p:cNvPr id="23" name="Text 21"/>
          <p:cNvSpPr/>
          <p:nvPr/>
        </p:nvSpPr>
        <p:spPr>
          <a:xfrm>
            <a:off x="6483096" y="4668012"/>
            <a:ext cx="4855464" cy="9098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dirty="0">
                <a:solidFill>
                  <a:srgbClr val="5A64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Compressing the tail reduces the influence of extreme points without deleting any row.</a:t>
            </a:r>
            <a:endParaRPr lang="en-US" sz="1250" dirty="0"/>
          </a:p>
        </p:txBody>
      </p:sp>
      <p:sp>
        <p:nvSpPr>
          <p:cNvPr id="24" name="Text 22"/>
          <p:cNvSpPr/>
          <p:nvPr/>
        </p:nvSpPr>
        <p:spPr>
          <a:xfrm>
            <a:off x="566928" y="6437376"/>
            <a:ext cx="64008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8B91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DATA209 · Module 4 — Feature Engineering &amp; Structure</a:t>
            </a:r>
            <a:endParaRPr lang="en-US" sz="900" dirty="0"/>
          </a:p>
        </p:txBody>
      </p:sp>
      <p:sp>
        <p:nvSpPr>
          <p:cNvPr id="25" name="Text 23"/>
          <p:cNvSpPr/>
          <p:nvPr/>
        </p:nvSpPr>
        <p:spPr>
          <a:xfrm>
            <a:off x="10954512" y="6437376"/>
            <a:ext cx="6400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8B919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4</a:t>
            </a:r>
            <a:endParaRPr lang="en-US" sz="9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66928" y="384048"/>
            <a:ext cx="1102766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spc="160" kern="0" dirty="0">
                <a:solidFill>
                  <a:srgbClr val="6B4C7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L23 · THE TRANSFORMATION MENU</a:t>
            </a:r>
            <a:endParaRPr lang="en-US" sz="1050" dirty="0"/>
          </a:p>
        </p:txBody>
      </p:sp>
      <p:sp>
        <p:nvSpPr>
          <p:cNvPr id="3" name="Text 1"/>
          <p:cNvSpPr/>
          <p:nvPr/>
        </p:nvSpPr>
        <p:spPr>
          <a:xfrm>
            <a:off x="566928" y="676656"/>
            <a:ext cx="11027664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000" b="1" dirty="0">
                <a:solidFill>
                  <a:srgbClr val="1B2229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Which transform, and when</a:t>
            </a:r>
            <a:endParaRPr lang="en-US" sz="3000" dirty="0"/>
          </a:p>
        </p:txBody>
      </p:sp>
      <p:graphicFrame>
        <p:nvGraphicFramePr>
          <p:cNvPr id="6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66928" y="1783080"/>
          <a:ext cx="11027664" cy="914400"/>
        </p:xfrm>
        <a:graphic>
          <a:graphicData uri="http://schemas.openxmlformats.org/drawingml/2006/table">
            <a:tbl>
              <a:tblPr/>
              <a:tblGrid>
                <a:gridCol w="2194560"/>
                <a:gridCol w="2651760"/>
                <a:gridCol w="2468880"/>
                <a:gridCol w="3712464"/>
              </a:tblGrid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Transform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76200" marB="76200">
                    <a:lnL w="9525" cap="flat" cmpd="sng" algn="ctr">
                      <a:solidFill>
                        <a:srgbClr val="D8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4E375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Effect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76200" marB="76200">
                    <a:lnL w="9525" cap="flat" cmpd="sng" algn="ctr">
                      <a:solidFill>
                        <a:srgbClr val="D8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4E375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Requires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76200" marB="76200">
                    <a:lnL w="9525" cap="flat" cmpd="sng" algn="ctr">
                      <a:solidFill>
                        <a:srgbClr val="D8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4E375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Notes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76200" marB="76200">
                    <a:lnL w="9525" cap="flat" cmpd="sng" algn="ctr">
                      <a:solidFill>
                        <a:srgbClr val="D8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4E3759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1B222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Log (natural or log1p)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76200" marB="76200">
                    <a:lnL w="9525" cap="flat" cmpd="sng" algn="ctr">
                      <a:solidFill>
                        <a:srgbClr val="D8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5A646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Strong pull-in of a right tail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76200" marB="76200">
                    <a:lnL w="9525" cap="flat" cmpd="sng" algn="ctr">
                      <a:solidFill>
                        <a:srgbClr val="D8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5A646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Strictly positive; log1p allows zero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76200" marB="76200">
                    <a:lnL w="9525" cap="flat" cmpd="sng" algn="ctr">
                      <a:solidFill>
                        <a:srgbClr val="D8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5A646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The default first attempt for right-skew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76200" marB="76200">
                    <a:lnL w="9525" cap="flat" cmpd="sng" algn="ctr">
                      <a:solidFill>
                        <a:srgbClr val="D8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1B222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Square root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76200" marB="76200">
                    <a:lnL w="9525" cap="flat" cmpd="sng" algn="ctr">
                      <a:solidFill>
                        <a:srgbClr val="D8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4F5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5A646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Milder than log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76200" marB="76200">
                    <a:lnL w="9525" cap="flat" cmpd="sng" algn="ctr">
                      <a:solidFill>
                        <a:srgbClr val="D8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4F5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5A646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Non-negative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76200" marB="76200">
                    <a:lnL w="9525" cap="flat" cmpd="sng" algn="ctr">
                      <a:solidFill>
                        <a:srgbClr val="D8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4F5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5A646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Good for counts and Poisson-like data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76200" marB="76200">
                    <a:lnL w="9525" cap="flat" cmpd="sng" algn="ctr">
                      <a:solidFill>
                        <a:srgbClr val="D8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4F5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1B222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Reciprocal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76200" marB="76200">
                    <a:lnL w="9525" cap="flat" cmpd="sng" algn="ctr">
                      <a:solidFill>
                        <a:srgbClr val="D8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5A646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Very strong; reverses order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76200" marB="76200">
                    <a:lnL w="9525" cap="flat" cmpd="sng" algn="ctr">
                      <a:solidFill>
                        <a:srgbClr val="D8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5A646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Non-zero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76200" marB="76200">
                    <a:lnL w="9525" cap="flat" cmpd="sng" algn="ctr">
                      <a:solidFill>
                        <a:srgbClr val="D8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5A646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Rarely appropriate; reverses interpretation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76200" marB="76200">
                    <a:lnL w="9525" cap="flat" cmpd="sng" algn="ctr">
                      <a:solidFill>
                        <a:srgbClr val="D8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1B222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Box–Cox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76200" marB="76200">
                    <a:lnL w="9525" cap="flat" cmpd="sng" algn="ctr">
                      <a:solidFill>
                        <a:srgbClr val="D8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4F5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5A646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Searches for the best power λ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76200" marB="76200">
                    <a:lnL w="9525" cap="flat" cmpd="sng" algn="ctr">
                      <a:solidFill>
                        <a:srgbClr val="D8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4F5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5A646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Strictly positive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76200" marB="76200">
                    <a:lnL w="9525" cap="flat" cmpd="sng" algn="ctr">
                      <a:solidFill>
                        <a:srgbClr val="D8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4F5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5A646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Data-driven; λ = 0 is the log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76200" marB="76200">
                    <a:lnL w="9525" cap="flat" cmpd="sng" algn="ctr">
                      <a:solidFill>
                        <a:srgbClr val="D8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4F5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1B222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Yeo–Johnson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76200" marB="76200">
                    <a:lnL w="9525" cap="flat" cmpd="sng" algn="ctr">
                      <a:solidFill>
                        <a:srgbClr val="D8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5A646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Box–Cox generalised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76200" marB="76200">
                    <a:lnL w="9525" cap="flat" cmpd="sng" algn="ctr">
                      <a:solidFill>
                        <a:srgbClr val="D8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5A646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Handles zero and negatives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76200" marB="76200">
                    <a:lnL w="9525" cap="flat" cmpd="sng" algn="ctr">
                      <a:solidFill>
                        <a:srgbClr val="D8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5A646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Use when Box–Cox cannot be applied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76200" marB="76200">
                    <a:lnL w="9525" cap="flat" cmpd="sng" algn="ctr">
                      <a:solidFill>
                        <a:srgbClr val="D8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1B222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Rank / quantile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76200" marB="76200">
                    <a:lnL w="9525" cap="flat" cmpd="sng" algn="ctr">
                      <a:solidFill>
                        <a:srgbClr val="D8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4F5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5A646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Forces a chosen distribution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76200" marB="76200">
                    <a:lnL w="9525" cap="flat" cmpd="sng" algn="ctr">
                      <a:solidFill>
                        <a:srgbClr val="D8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4F5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5A646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Nothing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76200" marB="76200">
                    <a:lnL w="9525" cap="flat" cmpd="sng" algn="ctr">
                      <a:solidFill>
                        <a:srgbClr val="D8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4F5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5A646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Powerful and largely uninterpretable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76200" marB="76200">
                    <a:lnL w="9525" cap="flat" cmpd="sng" algn="ctr">
                      <a:solidFill>
                        <a:srgbClr val="D8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4F5"/>
                    </a:solidFill>
                  </a:tcPr>
                </a:tc>
              </a:tr>
            </a:tbl>
          </a:graphicData>
        </a:graphic>
      </p:graphicFrame>
      <p:sp>
        <p:nvSpPr>
          <p:cNvPr id="5" name="Text 2"/>
          <p:cNvSpPr/>
          <p:nvPr/>
        </p:nvSpPr>
        <p:spPr>
          <a:xfrm>
            <a:off x="566928" y="5897880"/>
            <a:ext cx="11027664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rgbClr val="4E375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Pima Insulin has skew +2.27. A log1p transform is the natural first attempt; measure the skew again afterwards.</a:t>
            </a:r>
            <a:endParaRPr lang="en-US" sz="1200" dirty="0"/>
          </a:p>
        </p:txBody>
      </p:sp>
      <p:sp>
        <p:nvSpPr>
          <p:cNvPr id="6" name="Text 3"/>
          <p:cNvSpPr/>
          <p:nvPr/>
        </p:nvSpPr>
        <p:spPr>
          <a:xfrm>
            <a:off x="566928" y="6437376"/>
            <a:ext cx="64008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8B91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DATA209 · Module 4 — Feature Engineering &amp; Structure</a:t>
            </a:r>
            <a:endParaRPr lang="en-US" sz="900" dirty="0"/>
          </a:p>
        </p:txBody>
      </p:sp>
      <p:sp>
        <p:nvSpPr>
          <p:cNvPr id="7" name="Text 4"/>
          <p:cNvSpPr/>
          <p:nvPr/>
        </p:nvSpPr>
        <p:spPr>
          <a:xfrm>
            <a:off x="10954512" y="6437376"/>
            <a:ext cx="6400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8B919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5</a:t>
            </a:r>
            <a:endParaRPr lang="en-US" sz="9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66928" y="384048"/>
            <a:ext cx="1102766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spc="160" kern="0" dirty="0">
                <a:solidFill>
                  <a:srgbClr val="6B4C7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L24 · MEASURE, DO NOT ASSUME</a:t>
            </a:r>
            <a:endParaRPr lang="en-US" sz="1050" dirty="0"/>
          </a:p>
        </p:txBody>
      </p:sp>
      <p:sp>
        <p:nvSpPr>
          <p:cNvPr id="3" name="Text 1"/>
          <p:cNvSpPr/>
          <p:nvPr/>
        </p:nvSpPr>
        <p:spPr>
          <a:xfrm>
            <a:off x="566928" y="676656"/>
            <a:ext cx="11027664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000" b="1" dirty="0">
                <a:solidFill>
                  <a:srgbClr val="1B2229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Skew before and after a log transform</a:t>
            </a:r>
            <a:endParaRPr lang="en-US" sz="3000" dirty="0"/>
          </a:p>
        </p:txBody>
      </p:sp>
      <p:graphicFrame>
        <p:nvGraphicFramePr>
          <p:cNvPr id="4" name="Chart 0" descr=""/>
          <p:cNvGraphicFramePr/>
          <p:nvPr/>
        </p:nvGraphicFramePr>
        <p:xfrm>
          <a:off x="566928" y="1783080"/>
          <a:ext cx="11027664" cy="384048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5" name="Text 2"/>
          <p:cNvSpPr/>
          <p:nvPr/>
        </p:nvSpPr>
        <p:spPr>
          <a:xfrm>
            <a:off x="566928" y="5779008"/>
            <a:ext cx="11027664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i="1" dirty="0">
                <a:solidFill>
                  <a:srgbClr val="5A64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Original skew computed from pima.csv; post-transform values are indicative. Recompute on your own data — never assume the transform worked.</a:t>
            </a:r>
            <a:endParaRPr lang="en-US" sz="1150" dirty="0"/>
          </a:p>
        </p:txBody>
      </p:sp>
      <p:sp>
        <p:nvSpPr>
          <p:cNvPr id="6" name="Text 3"/>
          <p:cNvSpPr/>
          <p:nvPr/>
        </p:nvSpPr>
        <p:spPr>
          <a:xfrm>
            <a:off x="566928" y="6437376"/>
            <a:ext cx="64008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8B91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DATA209 · Module 4 — Feature Engineering &amp; Structure</a:t>
            </a:r>
            <a:endParaRPr lang="en-US" sz="900" dirty="0"/>
          </a:p>
        </p:txBody>
      </p:sp>
      <p:sp>
        <p:nvSpPr>
          <p:cNvPr id="7" name="Text 4"/>
          <p:cNvSpPr/>
          <p:nvPr/>
        </p:nvSpPr>
        <p:spPr>
          <a:xfrm>
            <a:off x="10954512" y="6437376"/>
            <a:ext cx="6400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8B919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6</a:t>
            </a:r>
            <a:endParaRPr lang="en-US" sz="9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66928" y="384048"/>
            <a:ext cx="1102766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spc="160" kern="0" dirty="0">
                <a:solidFill>
                  <a:srgbClr val="6B4C7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L24 · A DISTINCTION STUDENTS BLUR</a:t>
            </a:r>
            <a:endParaRPr lang="en-US" sz="1050" dirty="0"/>
          </a:p>
        </p:txBody>
      </p:sp>
      <p:sp>
        <p:nvSpPr>
          <p:cNvPr id="3" name="Text 1"/>
          <p:cNvSpPr/>
          <p:nvPr/>
        </p:nvSpPr>
        <p:spPr>
          <a:xfrm>
            <a:off x="566928" y="676656"/>
            <a:ext cx="11027664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000" b="1" dirty="0">
                <a:solidFill>
                  <a:srgbClr val="1B2229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Transforming versus scaling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566928" y="1783080"/>
            <a:ext cx="5285232" cy="3886200"/>
          </a:xfrm>
          <a:prstGeom prst="roundRect">
            <a:avLst>
              <a:gd name="adj" fmla="val 1412"/>
            </a:avLst>
          </a:prstGeom>
          <a:solidFill>
            <a:srgbClr val="F2F4F5"/>
          </a:solidFill>
          <a:ln w="9525">
            <a:solidFill>
              <a:srgbClr val="D8DDE0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841248" y="2029968"/>
            <a:ext cx="201168" cy="201168"/>
          </a:xfrm>
          <a:prstGeom prst="rect">
            <a:avLst/>
          </a:prstGeom>
          <a:solidFill>
            <a:srgbClr val="6B4C7A"/>
          </a:solidFill>
          <a:ln/>
        </p:spPr>
      </p:sp>
      <p:sp>
        <p:nvSpPr>
          <p:cNvPr id="6" name="Text 4"/>
          <p:cNvSpPr/>
          <p:nvPr/>
        </p:nvSpPr>
        <p:spPr>
          <a:xfrm>
            <a:off x="1133856" y="1947672"/>
            <a:ext cx="4443984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B222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Transformation</a:t>
            </a:r>
            <a:endParaRPr lang="en-US" sz="1600" dirty="0"/>
          </a:p>
        </p:txBody>
      </p:sp>
      <p:sp>
        <p:nvSpPr>
          <p:cNvPr id="7" name="Text 5"/>
          <p:cNvSpPr/>
          <p:nvPr/>
        </p:nvSpPr>
        <p:spPr>
          <a:xfrm>
            <a:off x="859536" y="2450592"/>
            <a:ext cx="4700016" cy="3063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228600" indent="-228600">
              <a:spcAft>
                <a:spcPts val="800"/>
              </a:spcAft>
              <a:buSzPct val="100000"/>
              <a:buChar char="•"/>
            </a:pPr>
            <a:r>
              <a:rPr lang="en-US" sz="1350" dirty="0">
                <a:solidFill>
                  <a:srgbClr val="5A64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Changes the shape of the distribution</a:t>
            </a:r>
            <a:endParaRPr lang="en-US" sz="1350" dirty="0"/>
          </a:p>
          <a:p>
            <a:pPr marL="228600" indent="-228600">
              <a:spcAft>
                <a:spcPts val="800"/>
              </a:spcAft>
              <a:buSzPct val="100000"/>
              <a:buChar char="•"/>
            </a:pPr>
            <a:r>
              <a:rPr lang="en-US" sz="1350" dirty="0">
                <a:solidFill>
                  <a:srgbClr val="5A64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Non-linear: log, square root, Box–Cox</a:t>
            </a:r>
            <a:endParaRPr lang="en-US" sz="1350" dirty="0"/>
          </a:p>
          <a:p>
            <a:pPr marL="228600" indent="-228600">
              <a:spcAft>
                <a:spcPts val="800"/>
              </a:spcAft>
              <a:buSzPct val="100000"/>
              <a:buChar char="•"/>
            </a:pPr>
            <a:r>
              <a:rPr lang="en-US" sz="1350" dirty="0">
                <a:solidFill>
                  <a:srgbClr val="5A64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Fixes skew, non-linearity and unstable variance</a:t>
            </a:r>
            <a:endParaRPr lang="en-US" sz="1350" dirty="0"/>
          </a:p>
          <a:p>
            <a:pPr marL="228600" indent="-228600">
              <a:spcAft>
                <a:spcPts val="800"/>
              </a:spcAft>
              <a:buSzPct val="100000"/>
              <a:buChar char="•"/>
            </a:pPr>
            <a:r>
              <a:rPr lang="en-US" sz="1350" dirty="0">
                <a:solidFill>
                  <a:srgbClr val="5A64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Changes the meaning of a unit — interpretation must follow</a:t>
            </a:r>
            <a:endParaRPr lang="en-US" sz="1350" dirty="0"/>
          </a:p>
        </p:txBody>
      </p:sp>
      <p:sp>
        <p:nvSpPr>
          <p:cNvPr id="8" name="Shape 6"/>
          <p:cNvSpPr/>
          <p:nvPr/>
        </p:nvSpPr>
        <p:spPr>
          <a:xfrm>
            <a:off x="6309360" y="1783080"/>
            <a:ext cx="5285232" cy="3886200"/>
          </a:xfrm>
          <a:prstGeom prst="roundRect">
            <a:avLst>
              <a:gd name="adj" fmla="val 1412"/>
            </a:avLst>
          </a:prstGeom>
          <a:solidFill>
            <a:srgbClr val="F2F4F5"/>
          </a:solidFill>
          <a:ln w="9525">
            <a:solidFill>
              <a:srgbClr val="D8DDE0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6583680" y="2029968"/>
            <a:ext cx="201168" cy="201168"/>
          </a:xfrm>
          <a:prstGeom prst="rect">
            <a:avLst/>
          </a:prstGeom>
          <a:solidFill>
            <a:srgbClr val="1B2229"/>
          </a:solidFill>
          <a:ln/>
        </p:spPr>
      </p:sp>
      <p:sp>
        <p:nvSpPr>
          <p:cNvPr id="10" name="Text 8"/>
          <p:cNvSpPr/>
          <p:nvPr/>
        </p:nvSpPr>
        <p:spPr>
          <a:xfrm>
            <a:off x="6876288" y="1947672"/>
            <a:ext cx="4443984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B222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Scaling</a:t>
            </a:r>
            <a:endParaRPr lang="en-US" sz="1600" dirty="0"/>
          </a:p>
        </p:txBody>
      </p:sp>
      <p:sp>
        <p:nvSpPr>
          <p:cNvPr id="11" name="Text 9"/>
          <p:cNvSpPr/>
          <p:nvPr/>
        </p:nvSpPr>
        <p:spPr>
          <a:xfrm>
            <a:off x="6601968" y="2450592"/>
            <a:ext cx="4700016" cy="3063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228600" indent="-228600">
              <a:spcAft>
                <a:spcPts val="800"/>
              </a:spcAft>
              <a:buSzPct val="100000"/>
              <a:buChar char="•"/>
            </a:pPr>
            <a:r>
              <a:rPr lang="en-US" sz="1350" dirty="0">
                <a:solidFill>
                  <a:srgbClr val="5A64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Changes the location and spread, not the shape</a:t>
            </a:r>
            <a:endParaRPr lang="en-US" sz="1350" dirty="0"/>
          </a:p>
          <a:p>
            <a:pPr marL="228600" indent="-228600">
              <a:spcAft>
                <a:spcPts val="800"/>
              </a:spcAft>
              <a:buSzPct val="100000"/>
              <a:buChar char="•"/>
            </a:pPr>
            <a:r>
              <a:rPr lang="en-US" sz="1350" dirty="0">
                <a:solidFill>
                  <a:srgbClr val="5A64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Linear: subtract a centre, divide by a spread</a:t>
            </a:r>
            <a:endParaRPr lang="en-US" sz="1350" dirty="0"/>
          </a:p>
          <a:p>
            <a:pPr marL="228600" indent="-228600">
              <a:spcAft>
                <a:spcPts val="800"/>
              </a:spcAft>
              <a:buSzPct val="100000"/>
              <a:buChar char="•"/>
            </a:pPr>
            <a:r>
              <a:rPr lang="en-US" sz="1350" dirty="0">
                <a:solidFill>
                  <a:srgbClr val="5A64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Puts variables on comparable ranges</a:t>
            </a:r>
            <a:endParaRPr lang="en-US" sz="1350" dirty="0"/>
          </a:p>
          <a:p>
            <a:pPr marL="228600" indent="-228600">
              <a:spcAft>
                <a:spcPts val="800"/>
              </a:spcAft>
              <a:buSzPct val="100000"/>
              <a:buChar char="•"/>
            </a:pPr>
            <a:r>
              <a:rPr lang="en-US" sz="1350" dirty="0">
                <a:solidFill>
                  <a:srgbClr val="5A64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Skew survives scaling completely untouched</a:t>
            </a:r>
            <a:endParaRPr lang="en-US" sz="1350" dirty="0"/>
          </a:p>
        </p:txBody>
      </p:sp>
      <p:sp>
        <p:nvSpPr>
          <p:cNvPr id="12" name="Text 10"/>
          <p:cNvSpPr/>
          <p:nvPr/>
        </p:nvSpPr>
        <p:spPr>
          <a:xfrm>
            <a:off x="566928" y="5852160"/>
            <a:ext cx="11027664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rgbClr val="4E375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Order: impute → transform → scale. Scaling a skewed variable leaves it skewed; transform first if shape is the problem.</a:t>
            </a:r>
            <a:endParaRPr lang="en-US" sz="1200" dirty="0"/>
          </a:p>
        </p:txBody>
      </p:sp>
      <p:sp>
        <p:nvSpPr>
          <p:cNvPr id="13" name="Text 11"/>
          <p:cNvSpPr/>
          <p:nvPr/>
        </p:nvSpPr>
        <p:spPr>
          <a:xfrm>
            <a:off x="566928" y="6437376"/>
            <a:ext cx="64008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8B91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DATA209 · Module 4 — Feature Engineering &amp; Structure</a:t>
            </a:r>
            <a:endParaRPr lang="en-US" sz="900" dirty="0"/>
          </a:p>
        </p:txBody>
      </p:sp>
      <p:sp>
        <p:nvSpPr>
          <p:cNvPr id="14" name="Text 12"/>
          <p:cNvSpPr/>
          <p:nvPr/>
        </p:nvSpPr>
        <p:spPr>
          <a:xfrm>
            <a:off x="10954512" y="6437376"/>
            <a:ext cx="6400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8B919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7</a:t>
            </a:r>
            <a:endParaRPr lang="en-US" sz="9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66928" y="384048"/>
            <a:ext cx="1102766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spc="160" kern="0" dirty="0">
                <a:solidFill>
                  <a:srgbClr val="6B4C7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L24 · SCALERS</a:t>
            </a:r>
            <a:endParaRPr lang="en-US" sz="1050" dirty="0"/>
          </a:p>
        </p:txBody>
      </p:sp>
      <p:sp>
        <p:nvSpPr>
          <p:cNvPr id="3" name="Text 1"/>
          <p:cNvSpPr/>
          <p:nvPr/>
        </p:nvSpPr>
        <p:spPr>
          <a:xfrm>
            <a:off x="566928" y="676656"/>
            <a:ext cx="11027664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000" b="1" dirty="0">
                <a:solidFill>
                  <a:srgbClr val="1B2229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Four scalers and what they assume</a:t>
            </a:r>
            <a:endParaRPr lang="en-US" sz="3000" dirty="0"/>
          </a:p>
        </p:txBody>
      </p:sp>
      <p:graphicFrame>
        <p:nvGraphicFramePr>
          <p:cNvPr id="9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66928" y="1783080"/>
          <a:ext cx="11027664" cy="914400"/>
        </p:xfrm>
        <a:graphic>
          <a:graphicData uri="http://schemas.openxmlformats.org/drawingml/2006/table">
            <a:tbl>
              <a:tblPr/>
              <a:tblGrid>
                <a:gridCol w="2194560"/>
                <a:gridCol w="3474720"/>
                <a:gridCol w="2468880"/>
                <a:gridCol w="2889504"/>
              </a:tblGrid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Scaler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76200" marB="76200">
                    <a:lnL w="9525" cap="flat" cmpd="sng" algn="ctr">
                      <a:solidFill>
                        <a:srgbClr val="D8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4E375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Formula in words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76200" marB="76200">
                    <a:lnL w="9525" cap="flat" cmpd="sng" algn="ctr">
                      <a:solidFill>
                        <a:srgbClr val="D8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4E375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Output range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76200" marB="76200">
                    <a:lnL w="9525" cap="flat" cmpd="sng" algn="ctr">
                      <a:solidFill>
                        <a:srgbClr val="D8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4E375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Best when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76200" marB="76200">
                    <a:lnL w="9525" cap="flat" cmpd="sng" algn="ctr">
                      <a:solidFill>
                        <a:srgbClr val="D8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4E3759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1B222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StandardScaler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76200" marB="76200">
                    <a:lnL w="9525" cap="flat" cmpd="sng" algn="ctr">
                      <a:solidFill>
                        <a:srgbClr val="D8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5A646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Subtract the mean, divide by the SD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76200" marB="76200">
                    <a:lnL w="9525" cap="flat" cmpd="sng" algn="ctr">
                      <a:solidFill>
                        <a:srgbClr val="D8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5A646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Mean 0, SD 1, unbounded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76200" marB="76200">
                    <a:lnL w="9525" cap="flat" cmpd="sng" algn="ctr">
                      <a:solidFill>
                        <a:srgbClr val="D8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5A646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Roughly symmetric data; PCA and linear models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76200" marB="76200">
                    <a:lnL w="9525" cap="flat" cmpd="sng" algn="ctr">
                      <a:solidFill>
                        <a:srgbClr val="D8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1B222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MinMaxScaler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76200" marB="76200">
                    <a:lnL w="9525" cap="flat" cmpd="sng" algn="ctr">
                      <a:solidFill>
                        <a:srgbClr val="D8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4F5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5A646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Rescale to a fixed interval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76200" marB="76200">
                    <a:lnL w="9525" cap="flat" cmpd="sng" algn="ctr">
                      <a:solidFill>
                        <a:srgbClr val="D8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4F5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5A646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Usually 0 to 1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76200" marB="76200">
                    <a:lnL w="9525" cap="flat" cmpd="sng" algn="ctr">
                      <a:solidFill>
                        <a:srgbClr val="D8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4F5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5A646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Bounded input needed; no extreme outliers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76200" marB="76200">
                    <a:lnL w="9525" cap="flat" cmpd="sng" algn="ctr">
                      <a:solidFill>
                        <a:srgbClr val="D8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4F5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1B222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RobustScaler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76200" marB="76200">
                    <a:lnL w="9525" cap="flat" cmpd="sng" algn="ctr">
                      <a:solidFill>
                        <a:srgbClr val="D8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5A646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Subtract the median, divide by the IQR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76200" marB="76200">
                    <a:lnL w="9525" cap="flat" cmpd="sng" algn="ctr">
                      <a:solidFill>
                        <a:srgbClr val="D8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5A646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Unbounded, outlier-tolerant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76200" marB="76200">
                    <a:lnL w="9525" cap="flat" cmpd="sng" algn="ctr">
                      <a:solidFill>
                        <a:srgbClr val="D8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5A646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Outliers present and being kept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76200" marB="76200">
                    <a:lnL w="9525" cap="flat" cmpd="sng" algn="ctr">
                      <a:solidFill>
                        <a:srgbClr val="D8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1B222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MaxAbsScaler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76200" marB="76200">
                    <a:lnL w="9525" cap="flat" cmpd="sng" algn="ctr">
                      <a:solidFill>
                        <a:srgbClr val="D8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4F5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5A646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Divide by the largest absolute value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76200" marB="76200">
                    <a:lnL w="9525" cap="flat" cmpd="sng" algn="ctr">
                      <a:solidFill>
                        <a:srgbClr val="D8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4F5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5A646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−1 to 1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76200" marB="76200">
                    <a:lnL w="9525" cap="flat" cmpd="sng" algn="ctr">
                      <a:solidFill>
                        <a:srgbClr val="D8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4F5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5A646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Sparse data; preserves zeros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76200" marB="76200">
                    <a:lnL w="9525" cap="flat" cmpd="sng" algn="ctr">
                      <a:solidFill>
                        <a:srgbClr val="D8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4F5"/>
                    </a:solidFill>
                  </a:tcPr>
                </a:tc>
              </a:tr>
            </a:tbl>
          </a:graphicData>
        </a:graphic>
      </p:graphicFrame>
      <p:sp>
        <p:nvSpPr>
          <p:cNvPr id="5" name="Text 2"/>
          <p:cNvSpPr/>
          <p:nvPr/>
        </p:nvSpPr>
        <p:spPr>
          <a:xfrm>
            <a:off x="566928" y="5897880"/>
            <a:ext cx="11027664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rgbClr val="4E375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One extreme value ruins MinMaxScaler: the range stretches and every ordinary value compresses toward zero.</a:t>
            </a:r>
            <a:endParaRPr lang="en-US" sz="1200" dirty="0"/>
          </a:p>
        </p:txBody>
      </p:sp>
      <p:sp>
        <p:nvSpPr>
          <p:cNvPr id="6" name="Text 3"/>
          <p:cNvSpPr/>
          <p:nvPr/>
        </p:nvSpPr>
        <p:spPr>
          <a:xfrm>
            <a:off x="566928" y="6437376"/>
            <a:ext cx="64008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8B91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DATA209 · Module 4 — Feature Engineering &amp; Structure</a:t>
            </a:r>
            <a:endParaRPr lang="en-US" sz="900" dirty="0"/>
          </a:p>
        </p:txBody>
      </p:sp>
      <p:sp>
        <p:nvSpPr>
          <p:cNvPr id="7" name="Text 4"/>
          <p:cNvSpPr/>
          <p:nvPr/>
        </p:nvSpPr>
        <p:spPr>
          <a:xfrm>
            <a:off x="10954512" y="6437376"/>
            <a:ext cx="6400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8B919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8</a:t>
            </a:r>
            <a:endParaRPr lang="en-US" sz="9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66928" y="384048"/>
            <a:ext cx="1102766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spc="160" kern="0" dirty="0">
                <a:solidFill>
                  <a:srgbClr val="6B4C7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L24 · DOES THE MODEL CARE?</a:t>
            </a:r>
            <a:endParaRPr lang="en-US" sz="1050" dirty="0"/>
          </a:p>
        </p:txBody>
      </p:sp>
      <p:sp>
        <p:nvSpPr>
          <p:cNvPr id="3" name="Text 1"/>
          <p:cNvSpPr/>
          <p:nvPr/>
        </p:nvSpPr>
        <p:spPr>
          <a:xfrm>
            <a:off x="566928" y="676656"/>
            <a:ext cx="11027664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000" b="1" dirty="0">
                <a:solidFill>
                  <a:srgbClr val="1B2229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Which methods need scaled input</a:t>
            </a:r>
            <a:endParaRPr lang="en-US" sz="3000" dirty="0"/>
          </a:p>
        </p:txBody>
      </p:sp>
      <p:graphicFrame>
        <p:nvGraphicFramePr>
          <p:cNvPr id="10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66928" y="1783080"/>
          <a:ext cx="11027664" cy="914400"/>
        </p:xfrm>
        <a:graphic>
          <a:graphicData uri="http://schemas.openxmlformats.org/drawingml/2006/table">
            <a:tbl>
              <a:tblPr/>
              <a:tblGrid>
                <a:gridCol w="3291840"/>
                <a:gridCol w="1737360"/>
                <a:gridCol w="5998464"/>
              </a:tblGrid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Method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76200" marB="76200">
                    <a:lnL w="9525" cap="flat" cmpd="sng" algn="ctr">
                      <a:solidFill>
                        <a:srgbClr val="D8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4E375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Needs scaling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76200" marB="76200">
                    <a:lnL w="9525" cap="flat" cmpd="sng" algn="ctr">
                      <a:solidFill>
                        <a:srgbClr val="D8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4E375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Why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76200" marB="76200">
                    <a:lnL w="9525" cap="flat" cmpd="sng" algn="ctr">
                      <a:solidFill>
                        <a:srgbClr val="D8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4E3759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1B222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k-NN, k-means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76200" marB="76200">
                    <a:lnL w="9525" cap="flat" cmpd="sng" algn="ctr">
                      <a:solidFill>
                        <a:srgbClr val="D8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5A646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Yes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76200" marB="76200">
                    <a:lnL w="9525" cap="flat" cmpd="sng" algn="ctr">
                      <a:solidFill>
                        <a:srgbClr val="D8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5A646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Both are distance-based; a large-range variable dominates the metric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76200" marB="76200">
                    <a:lnL w="9525" cap="flat" cmpd="sng" algn="ctr">
                      <a:solidFill>
                        <a:srgbClr val="D8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1B222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PCA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76200" marB="76200">
                    <a:lnL w="9525" cap="flat" cmpd="sng" algn="ctr">
                      <a:solidFill>
                        <a:srgbClr val="D8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4F5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5A646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Yes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76200" marB="76200">
                    <a:lnL w="9525" cap="flat" cmpd="sng" algn="ctr">
                      <a:solidFill>
                        <a:srgbClr val="D8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4F5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5A646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Maximises variance — an unscaled variable captures the first component by itself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76200" marB="76200">
                    <a:lnL w="9525" cap="flat" cmpd="sng" algn="ctr">
                      <a:solidFill>
                        <a:srgbClr val="D8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4F5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1B222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SVM, neural networks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76200" marB="76200">
                    <a:lnL w="9525" cap="flat" cmpd="sng" algn="ctr">
                      <a:solidFill>
                        <a:srgbClr val="D8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5A646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Yes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76200" marB="76200">
                    <a:lnL w="9525" cap="flat" cmpd="sng" algn="ctr">
                      <a:solidFill>
                        <a:srgbClr val="D8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5A646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Convergence and the effect of regularisation both depend on scale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76200" marB="76200">
                    <a:lnL w="9525" cap="flat" cmpd="sng" algn="ctr">
                      <a:solidFill>
                        <a:srgbClr val="D8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1B222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Ridge, Lasso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76200" marB="76200">
                    <a:lnL w="9525" cap="flat" cmpd="sng" algn="ctr">
                      <a:solidFill>
                        <a:srgbClr val="D8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4F5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5A646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Yes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76200" marB="76200">
                    <a:lnL w="9525" cap="flat" cmpd="sng" algn="ctr">
                      <a:solidFill>
                        <a:srgbClr val="D8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4F5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5A646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The penalty applies to coefficients, whose size depends on the feature's scale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76200" marB="76200">
                    <a:lnL w="9525" cap="flat" cmpd="sng" algn="ctr">
                      <a:solidFill>
                        <a:srgbClr val="D8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4F5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1B222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Linear regression (unpenalised)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76200" marB="76200">
                    <a:lnL w="9525" cap="flat" cmpd="sng" algn="ctr">
                      <a:solidFill>
                        <a:srgbClr val="D8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5A646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No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76200" marB="76200">
                    <a:lnL w="9525" cap="flat" cmpd="sng" algn="ctr">
                      <a:solidFill>
                        <a:srgbClr val="D8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5A646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Coefficients absorb scale; only interpretation and conditioning are affected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76200" marB="76200">
                    <a:lnL w="9525" cap="flat" cmpd="sng" algn="ctr">
                      <a:solidFill>
                        <a:srgbClr val="D8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1B222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Decision trees, random forest, boosting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76200" marB="76200">
                    <a:lnL w="9525" cap="flat" cmpd="sng" algn="ctr">
                      <a:solidFill>
                        <a:srgbClr val="D8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4F5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5A646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No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76200" marB="76200">
                    <a:lnL w="9525" cap="flat" cmpd="sng" algn="ctr">
                      <a:solidFill>
                        <a:srgbClr val="D8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4F5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5A646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Splits are threshold-based and invariant to monotone rescaling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76200" marB="76200">
                    <a:lnL w="9525" cap="flat" cmpd="sng" algn="ctr">
                      <a:solidFill>
                        <a:srgbClr val="D8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4F5"/>
                    </a:solidFill>
                  </a:tcPr>
                </a:tc>
              </a:tr>
            </a:tbl>
          </a:graphicData>
        </a:graphic>
      </p:graphicFrame>
      <p:sp>
        <p:nvSpPr>
          <p:cNvPr id="5" name="Text 2"/>
          <p:cNvSpPr/>
          <p:nvPr/>
        </p:nvSpPr>
        <p:spPr>
          <a:xfrm>
            <a:off x="566928" y="5897880"/>
            <a:ext cx="11027664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rgbClr val="4E375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When in doubt, scale. The cost is one pipeline step; the cost of not scaling can be a meaningless result.</a:t>
            </a:r>
            <a:endParaRPr lang="en-US" sz="1200" dirty="0"/>
          </a:p>
        </p:txBody>
      </p:sp>
      <p:sp>
        <p:nvSpPr>
          <p:cNvPr id="6" name="Text 3"/>
          <p:cNvSpPr/>
          <p:nvPr/>
        </p:nvSpPr>
        <p:spPr>
          <a:xfrm>
            <a:off x="566928" y="6437376"/>
            <a:ext cx="64008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8B91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DATA209 · Module 4 — Feature Engineering &amp; Structure</a:t>
            </a:r>
            <a:endParaRPr lang="en-US" sz="900" dirty="0"/>
          </a:p>
        </p:txBody>
      </p:sp>
      <p:sp>
        <p:nvSpPr>
          <p:cNvPr id="7" name="Text 4"/>
          <p:cNvSpPr/>
          <p:nvPr/>
        </p:nvSpPr>
        <p:spPr>
          <a:xfrm>
            <a:off x="10954512" y="6437376"/>
            <a:ext cx="6400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8B919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9</a:t>
            </a:r>
            <a:endParaRPr lang="en-US" sz="9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66928" y="384048"/>
            <a:ext cx="1102766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spc="160" kern="0" dirty="0">
                <a:solidFill>
                  <a:srgbClr val="6B4C7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L24 · IN PRACTICE</a:t>
            </a:r>
            <a:endParaRPr lang="en-US" sz="1050" dirty="0"/>
          </a:p>
        </p:txBody>
      </p:sp>
      <p:sp>
        <p:nvSpPr>
          <p:cNvPr id="3" name="Text 1"/>
          <p:cNvSpPr/>
          <p:nvPr/>
        </p:nvSpPr>
        <p:spPr>
          <a:xfrm>
            <a:off x="566928" y="676656"/>
            <a:ext cx="11027664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000" b="1" dirty="0">
                <a:solidFill>
                  <a:srgbClr val="1B2229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Transform, then scale, inside a pipeline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566928" y="1783080"/>
            <a:ext cx="6947428" cy="3840480"/>
          </a:xfrm>
          <a:prstGeom prst="roundRect">
            <a:avLst>
              <a:gd name="adj" fmla="val 1429"/>
            </a:avLst>
          </a:prstGeom>
          <a:solidFill>
            <a:srgbClr val="1B2229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822960" y="1938528"/>
            <a:ext cx="6435364" cy="35295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dirty="0">
                <a:solidFill>
                  <a:srgbClr val="E4E9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import numpy as np</a:t>
            </a:r>
            <a:endParaRPr lang="en-US" sz="1150" dirty="0"/>
          </a:p>
          <a:p>
            <a:pPr indent="0" marL="0">
              <a:buNone/>
            </a:pPr>
            <a:r>
              <a:rPr lang="en-US" sz="1150" dirty="0">
                <a:solidFill>
                  <a:srgbClr val="E4E9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from sklearn.preprocessing import (StandardScaler, MinMaxScaler,</a:t>
            </a:r>
            <a:endParaRPr lang="en-US" sz="1150" dirty="0"/>
          </a:p>
          <a:p>
            <a:pPr indent="0" marL="0">
              <a:buNone/>
            </a:pPr>
            <a:r>
              <a:rPr lang="en-US" sz="1150" dirty="0">
                <a:solidFill>
                  <a:srgbClr val="E4E9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                           RobustScaler, PowerTransformer)</a:t>
            </a:r>
            <a:endParaRPr lang="en-US" sz="1150" dirty="0"/>
          </a:p>
          <a:p>
            <a:pPr indent="0" marL="0">
              <a:buNone/>
            </a:pPr>
            <a:r>
              <a:rPr lang="en-US" sz="1150" dirty="0">
                <a:solidFill>
                  <a:srgbClr val="E4E9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endParaRPr lang="en-US" sz="1150" dirty="0"/>
          </a:p>
          <a:p>
            <a:pPr indent="0" marL="0">
              <a:buNone/>
            </a:pPr>
            <a:r>
              <a:rPr lang="en-US" sz="1150" dirty="0">
                <a:solidFill>
                  <a:srgbClr val="7FA8A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 1 — measure the problem</a:t>
            </a:r>
            <a:endParaRPr lang="en-US" sz="1150" dirty="0"/>
          </a:p>
          <a:p>
            <a:pPr indent="0" marL="0">
              <a:buNone/>
            </a:pPr>
            <a:r>
              <a:rPr lang="en-US" sz="1150" dirty="0">
                <a:solidFill>
                  <a:srgbClr val="E4E9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df[num].skew().sort_values(ascending=False)</a:t>
            </a:r>
            <a:endParaRPr lang="en-US" sz="1150" dirty="0"/>
          </a:p>
          <a:p>
            <a:pPr indent="0" marL="0">
              <a:buNone/>
            </a:pPr>
            <a:r>
              <a:rPr lang="en-US" sz="1150" dirty="0">
                <a:solidFill>
                  <a:srgbClr val="E4E9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endParaRPr lang="en-US" sz="1150" dirty="0"/>
          </a:p>
          <a:p>
            <a:pPr indent="0" marL="0">
              <a:buNone/>
            </a:pPr>
            <a:r>
              <a:rPr lang="en-US" sz="1150" dirty="0">
                <a:solidFill>
                  <a:srgbClr val="7FA8A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 2 — transform the skewed columns, then re-measure</a:t>
            </a:r>
            <a:endParaRPr lang="en-US" sz="1150" dirty="0"/>
          </a:p>
          <a:p>
            <a:pPr indent="0" marL="0">
              <a:buNone/>
            </a:pPr>
            <a:r>
              <a:rPr lang="en-US" sz="1150" dirty="0">
                <a:solidFill>
                  <a:srgbClr val="E4E9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skewed = df[num].skew()[lambda s: s.abs() &gt; 1].index</a:t>
            </a:r>
            <a:endParaRPr lang="en-US" sz="1150" dirty="0"/>
          </a:p>
          <a:p>
            <a:pPr indent="0" marL="0">
              <a:buNone/>
            </a:pPr>
            <a:r>
              <a:rPr lang="en-US" sz="1150" dirty="0">
                <a:solidFill>
                  <a:srgbClr val="E4E9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df[skewed] = np.log1p(df[skewed])</a:t>
            </a:r>
            <a:endParaRPr lang="en-US" sz="1150" dirty="0"/>
          </a:p>
          <a:p>
            <a:pPr indent="0" marL="0">
              <a:buNone/>
            </a:pPr>
            <a:r>
              <a:rPr lang="en-US" sz="1150" dirty="0">
                <a:solidFill>
                  <a:srgbClr val="E4E9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df[skewed].skew()          # did it actually help?</a:t>
            </a:r>
            <a:endParaRPr lang="en-US" sz="1150" dirty="0"/>
          </a:p>
          <a:p>
            <a:pPr indent="0" marL="0">
              <a:buNone/>
            </a:pPr>
            <a:r>
              <a:rPr lang="en-US" sz="1150" dirty="0">
                <a:solidFill>
                  <a:srgbClr val="E4E9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endParaRPr lang="en-US" sz="1150" dirty="0"/>
          </a:p>
          <a:p>
            <a:pPr indent="0" marL="0">
              <a:buNone/>
            </a:pPr>
            <a:r>
              <a:rPr lang="en-US" sz="1150" dirty="0">
                <a:solidFill>
                  <a:srgbClr val="7FA8A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 3 — compare scalers on the same data</a:t>
            </a:r>
            <a:endParaRPr lang="en-US" sz="1150" dirty="0"/>
          </a:p>
          <a:p>
            <a:pPr indent="0" marL="0">
              <a:buNone/>
            </a:pPr>
            <a:r>
              <a:rPr lang="en-US" sz="1150" dirty="0">
                <a:solidFill>
                  <a:srgbClr val="E4E9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for name, sc in [('standard', StandardScaler()),</a:t>
            </a:r>
            <a:endParaRPr lang="en-US" sz="1150" dirty="0"/>
          </a:p>
          <a:p>
            <a:pPr indent="0" marL="0">
              <a:buNone/>
            </a:pPr>
            <a:r>
              <a:rPr lang="en-US" sz="1150" dirty="0">
                <a:solidFill>
                  <a:srgbClr val="E4E9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         ('minmax',   MinMaxScaler()),</a:t>
            </a:r>
            <a:endParaRPr lang="en-US" sz="1150" dirty="0"/>
          </a:p>
          <a:p>
            <a:pPr indent="0" marL="0">
              <a:buNone/>
            </a:pPr>
            <a:r>
              <a:rPr lang="en-US" sz="1150" dirty="0">
                <a:solidFill>
                  <a:srgbClr val="E4E9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         ('robust',   RobustScaler())]:</a:t>
            </a:r>
            <a:endParaRPr lang="en-US" sz="1150" dirty="0"/>
          </a:p>
          <a:p>
            <a:pPr indent="0" marL="0">
              <a:buNone/>
            </a:pPr>
            <a:r>
              <a:rPr lang="en-US" sz="1150" dirty="0">
                <a:solidFill>
                  <a:srgbClr val="E4E9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out = pd.DataFrame(sc.fit_transform(df[num]), columns=num)</a:t>
            </a:r>
            <a:endParaRPr lang="en-US" sz="1150" dirty="0"/>
          </a:p>
          <a:p>
            <a:pPr indent="0" marL="0">
              <a:buNone/>
            </a:pPr>
            <a:r>
              <a:rPr lang="en-US" sz="1150" dirty="0">
                <a:solidFill>
                  <a:srgbClr val="E4E9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print(name, out.describe().loc[['mean','std','min','max']].round(2))</a:t>
            </a:r>
            <a:endParaRPr lang="en-US" sz="1150" dirty="0"/>
          </a:p>
        </p:txBody>
      </p:sp>
      <p:sp>
        <p:nvSpPr>
          <p:cNvPr id="6" name="Text 4"/>
          <p:cNvSpPr/>
          <p:nvPr/>
        </p:nvSpPr>
        <p:spPr>
          <a:xfrm>
            <a:off x="7955463" y="1828800"/>
            <a:ext cx="3639129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4E375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Two habits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7955463" y="2286000"/>
            <a:ext cx="3639129" cy="3291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228600" indent="-228600">
              <a:spcAft>
                <a:spcPts val="800"/>
              </a:spcAft>
              <a:buSzPct val="100000"/>
              <a:buChar char="•"/>
            </a:pPr>
            <a:r>
              <a:rPr lang="en-US" sz="1250" dirty="0">
                <a:solidFill>
                  <a:srgbClr val="5A64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Re-measure skew after transforming — line 10 is the point of the slide</a:t>
            </a:r>
            <a:endParaRPr lang="en-US" sz="1250" dirty="0"/>
          </a:p>
          <a:p>
            <a:pPr marL="228600" indent="-228600">
              <a:spcAft>
                <a:spcPts val="800"/>
              </a:spcAft>
              <a:buSzPct val="100000"/>
              <a:buChar char="•"/>
            </a:pPr>
            <a:r>
              <a:rPr lang="en-US" sz="1250" dirty="0">
                <a:solidFill>
                  <a:srgbClr val="5A64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PowerTransformer gives Box–Cox and Yeo–Johnson with a fitted λ</a:t>
            </a:r>
            <a:endParaRPr lang="en-US" sz="1250" dirty="0"/>
          </a:p>
          <a:p>
            <a:pPr marL="228600" indent="-228600">
              <a:spcAft>
                <a:spcPts val="800"/>
              </a:spcAft>
              <a:buSzPct val="100000"/>
              <a:buChar char="•"/>
            </a:pPr>
            <a:r>
              <a:rPr lang="en-US" sz="1250" dirty="0">
                <a:solidFill>
                  <a:srgbClr val="5A64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 the final project all of this sits inside a Pipeline fitted on train only</a:t>
            </a:r>
            <a:endParaRPr lang="en-US" sz="1250" dirty="0"/>
          </a:p>
        </p:txBody>
      </p:sp>
      <p:sp>
        <p:nvSpPr>
          <p:cNvPr id="8" name="Text 6"/>
          <p:cNvSpPr/>
          <p:nvPr/>
        </p:nvSpPr>
        <p:spPr>
          <a:xfrm>
            <a:off x="566928" y="6437376"/>
            <a:ext cx="64008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8B91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DATA209 · Module 4 — Feature Engineering &amp; Structure</a:t>
            </a:r>
            <a:endParaRPr lang="en-US" sz="900" dirty="0"/>
          </a:p>
        </p:txBody>
      </p:sp>
      <p:sp>
        <p:nvSpPr>
          <p:cNvPr id="9" name="Text 7"/>
          <p:cNvSpPr/>
          <p:nvPr/>
        </p:nvSpPr>
        <p:spPr>
          <a:xfrm>
            <a:off x="10954512" y="6437376"/>
            <a:ext cx="6400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8B919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10</a:t>
            </a:r>
            <a:endParaRPr lang="en-US" sz="9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2F4F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66928" y="457200"/>
            <a:ext cx="237744" cy="237744"/>
          </a:xfrm>
          <a:prstGeom prst="rect">
            <a:avLst/>
          </a:prstGeom>
          <a:solidFill>
            <a:srgbClr val="6B4C7A"/>
          </a:solidFill>
          <a:ln/>
        </p:spPr>
      </p:sp>
      <p:sp>
        <p:nvSpPr>
          <p:cNvPr id="3" name="Text 1"/>
          <p:cNvSpPr/>
          <p:nvPr/>
        </p:nvSpPr>
        <p:spPr>
          <a:xfrm>
            <a:off x="950976" y="402336"/>
            <a:ext cx="54864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160" kern="0" dirty="0">
                <a:solidFill>
                  <a:srgbClr val="4E375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PRACTICE SESSION P23–24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566928" y="841248"/>
            <a:ext cx="11027664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000" b="1" dirty="0">
                <a:solidFill>
                  <a:srgbClr val="1B2229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Apply transforms</a:t>
            </a:r>
            <a:endParaRPr lang="en-US" sz="3000" dirty="0"/>
          </a:p>
        </p:txBody>
      </p:sp>
      <p:sp>
        <p:nvSpPr>
          <p:cNvPr id="5" name="Shape 3"/>
          <p:cNvSpPr/>
          <p:nvPr/>
        </p:nvSpPr>
        <p:spPr>
          <a:xfrm>
            <a:off x="566928" y="1664208"/>
            <a:ext cx="6175492" cy="3566160"/>
          </a:xfrm>
          <a:prstGeom prst="roundRect">
            <a:avLst>
              <a:gd name="adj" fmla="val 1795"/>
            </a:avLst>
          </a:prstGeom>
          <a:solidFill>
            <a:srgbClr val="FFFFFF"/>
          </a:solidFill>
          <a:ln w="11430">
            <a:solidFill>
              <a:srgbClr val="D8DDE0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859536" y="1865376"/>
            <a:ext cx="559027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4E375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you do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877824" y="2286000"/>
            <a:ext cx="5553700" cy="2834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254000" indent="-254000">
              <a:spcAft>
                <a:spcPts val="900"/>
              </a:spcAft>
              <a:buSzPct val="100000"/>
              <a:buFont typeface="+mj-lt"/>
              <a:buAutoNum type="arabicPeriod" startAt="1"/>
            </a:pPr>
            <a:r>
              <a:rPr lang="en-US" sz="1350" dirty="0">
                <a:solidFill>
                  <a:srgbClr val="5A64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Rank every numeric column by absolute skew and select the columns above 1.0</a:t>
            </a:r>
            <a:endParaRPr lang="en-US" sz="1350" dirty="0"/>
          </a:p>
          <a:p>
            <a:pPr marL="254000" indent="-254000">
              <a:spcAft>
                <a:spcPts val="900"/>
              </a:spcAft>
              <a:buSzPct val="100000"/>
              <a:buFont typeface="+mj-lt"/>
              <a:buAutoNum type="arabicPeriod" startAt="1"/>
            </a:pPr>
            <a:r>
              <a:rPr lang="en-US" sz="1350" dirty="0">
                <a:solidFill>
                  <a:srgbClr val="5A64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Apply log, square root and Box–Cox or Yeo–Johnson to one skewed column and compare</a:t>
            </a:r>
            <a:endParaRPr lang="en-US" sz="1350" dirty="0"/>
          </a:p>
          <a:p>
            <a:pPr marL="254000" indent="-254000">
              <a:spcAft>
                <a:spcPts val="900"/>
              </a:spcAft>
              <a:buSzPct val="100000"/>
              <a:buFont typeface="+mj-lt"/>
              <a:buAutoNum type="arabicPeriod" startAt="1"/>
            </a:pPr>
            <a:r>
              <a:rPr lang="en-US" sz="1350" dirty="0">
                <a:solidFill>
                  <a:srgbClr val="5A64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Re-measure skew after each transform and state which one worked and by how much</a:t>
            </a:r>
            <a:endParaRPr lang="en-US" sz="1350" dirty="0"/>
          </a:p>
          <a:p>
            <a:pPr marL="254000" indent="-254000">
              <a:spcAft>
                <a:spcPts val="900"/>
              </a:spcAft>
              <a:buSzPct val="100000"/>
              <a:buFont typeface="+mj-lt"/>
              <a:buAutoNum type="arabicPeriod" startAt="1"/>
            </a:pPr>
            <a:r>
              <a:rPr lang="en-US" sz="1350" dirty="0">
                <a:solidFill>
                  <a:srgbClr val="5A64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Apply StandardScaler, MinMaxScaler and RobustScaler and compare the resulting ranges</a:t>
            </a:r>
            <a:endParaRPr lang="en-US" sz="1350" dirty="0"/>
          </a:p>
          <a:p>
            <a:pPr marL="254000" indent="-254000">
              <a:spcAft>
                <a:spcPts val="900"/>
              </a:spcAft>
              <a:buSzPct val="100000"/>
              <a:buFont typeface="+mj-lt"/>
              <a:buAutoNum type="arabicPeriod" startAt="1"/>
            </a:pPr>
            <a:r>
              <a:rPr lang="en-US" sz="1350" dirty="0">
                <a:solidFill>
                  <a:srgbClr val="5A64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Introduce one artificial extreme value and show what it does to MinMaxScaler</a:t>
            </a:r>
            <a:endParaRPr lang="en-US" sz="1350" dirty="0"/>
          </a:p>
          <a:p>
            <a:pPr marL="254000" indent="-254000">
              <a:spcAft>
                <a:spcPts val="900"/>
              </a:spcAft>
              <a:buSzPct val="100000"/>
              <a:buFont typeface="+mj-lt"/>
              <a:buAutoNum type="arabicPeriod" startAt="1"/>
            </a:pPr>
            <a:r>
              <a:rPr lang="en-US" sz="1350" dirty="0">
                <a:solidFill>
                  <a:srgbClr val="5A64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Produce before-and-after distribution plots for every column you changed</a:t>
            </a:r>
            <a:endParaRPr lang="en-US" sz="1350" dirty="0"/>
          </a:p>
        </p:txBody>
      </p:sp>
      <p:sp>
        <p:nvSpPr>
          <p:cNvPr id="8" name="Shape 6"/>
          <p:cNvSpPr/>
          <p:nvPr/>
        </p:nvSpPr>
        <p:spPr>
          <a:xfrm>
            <a:off x="7183526" y="1664208"/>
            <a:ext cx="4411066" cy="1051560"/>
          </a:xfrm>
          <a:prstGeom prst="roundRect">
            <a:avLst>
              <a:gd name="adj" fmla="val 5217"/>
            </a:avLst>
          </a:prstGeom>
          <a:solidFill>
            <a:srgbClr val="FFFFFF"/>
          </a:solidFill>
          <a:ln w="11430">
            <a:solidFill>
              <a:srgbClr val="D8DDE0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7421270" y="1810512"/>
            <a:ext cx="3935578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spc="120" kern="0" dirty="0">
                <a:solidFill>
                  <a:srgbClr val="8B919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DATASET</a:t>
            </a:r>
            <a:endParaRPr lang="en-US" sz="950" dirty="0"/>
          </a:p>
        </p:txBody>
      </p:sp>
      <p:sp>
        <p:nvSpPr>
          <p:cNvPr id="10" name="Text 8"/>
          <p:cNvSpPr/>
          <p:nvPr/>
        </p:nvSpPr>
        <p:spPr>
          <a:xfrm>
            <a:off x="7421270" y="2066544"/>
            <a:ext cx="3935578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1B222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pima.csv · Employee_dataset.csv</a:t>
            </a:r>
            <a:endParaRPr lang="en-US" sz="1300" dirty="0"/>
          </a:p>
        </p:txBody>
      </p:sp>
      <p:sp>
        <p:nvSpPr>
          <p:cNvPr id="11" name="Shape 9"/>
          <p:cNvSpPr/>
          <p:nvPr/>
        </p:nvSpPr>
        <p:spPr>
          <a:xfrm>
            <a:off x="7183526" y="2807208"/>
            <a:ext cx="4411066" cy="1298448"/>
          </a:xfrm>
          <a:prstGeom prst="roundRect">
            <a:avLst>
              <a:gd name="adj" fmla="val 4225"/>
            </a:avLst>
          </a:prstGeom>
          <a:solidFill>
            <a:srgbClr val="FFFFFF"/>
          </a:solidFill>
          <a:ln w="11430">
            <a:solidFill>
              <a:srgbClr val="D8DDE0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7421270" y="2953512"/>
            <a:ext cx="3935578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spc="120" kern="0" dirty="0">
                <a:solidFill>
                  <a:srgbClr val="8B919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NOTEBOOK IN THE COURSE DRIVE</a:t>
            </a:r>
            <a:endParaRPr lang="en-US" sz="950" dirty="0"/>
          </a:p>
        </p:txBody>
      </p:sp>
      <p:sp>
        <p:nvSpPr>
          <p:cNvPr id="13" name="Text 11"/>
          <p:cNvSpPr/>
          <p:nvPr/>
        </p:nvSpPr>
        <p:spPr>
          <a:xfrm>
            <a:off x="7421270" y="3209544"/>
            <a:ext cx="3935578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1B222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Data_Transformation_and_Methods.ipynb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1B222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Data_Transformation_and_Scaling.ipynb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1B222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Data_Scaling_Methods.ipynb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1B222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Data_Transformations_Visualization.ipynb</a:t>
            </a:r>
            <a:endParaRPr lang="en-US" sz="1100" dirty="0"/>
          </a:p>
        </p:txBody>
      </p:sp>
      <p:sp>
        <p:nvSpPr>
          <p:cNvPr id="14" name="Shape 12"/>
          <p:cNvSpPr/>
          <p:nvPr/>
        </p:nvSpPr>
        <p:spPr>
          <a:xfrm>
            <a:off x="7183526" y="4215384"/>
            <a:ext cx="4411066" cy="1014984"/>
          </a:xfrm>
          <a:prstGeom prst="roundRect">
            <a:avLst>
              <a:gd name="adj" fmla="val 5405"/>
            </a:avLst>
          </a:prstGeom>
          <a:solidFill>
            <a:srgbClr val="FFFFFF"/>
          </a:solidFill>
          <a:ln w="11430">
            <a:solidFill>
              <a:srgbClr val="D8DDE0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7421270" y="4361688"/>
            <a:ext cx="3935578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spc="120" kern="0" dirty="0">
                <a:solidFill>
                  <a:srgbClr val="8B919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SUBMIT</a:t>
            </a:r>
            <a:endParaRPr lang="en-US" sz="950" dirty="0"/>
          </a:p>
        </p:txBody>
      </p:sp>
      <p:sp>
        <p:nvSpPr>
          <p:cNvPr id="16" name="Text 14"/>
          <p:cNvSpPr/>
          <p:nvPr/>
        </p:nvSpPr>
        <p:spPr>
          <a:xfrm>
            <a:off x="7421270" y="4617720"/>
            <a:ext cx="3935578" cy="4663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1B222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notebook with a skew-before / skew-after table and a justified choice per column.</a:t>
            </a:r>
            <a:endParaRPr lang="en-US" sz="1300" dirty="0"/>
          </a:p>
        </p:txBody>
      </p:sp>
      <p:sp>
        <p:nvSpPr>
          <p:cNvPr id="17" name="Text 15"/>
          <p:cNvSpPr/>
          <p:nvPr/>
        </p:nvSpPr>
        <p:spPr>
          <a:xfrm>
            <a:off x="566928" y="6437376"/>
            <a:ext cx="64008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8B91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DATA209 · Module 4 — Feature Engineering &amp; Structure</a:t>
            </a:r>
            <a:endParaRPr lang="en-US" sz="900" dirty="0"/>
          </a:p>
        </p:txBody>
      </p:sp>
      <p:sp>
        <p:nvSpPr>
          <p:cNvPr id="18" name="Text 16"/>
          <p:cNvSpPr/>
          <p:nvPr/>
        </p:nvSpPr>
        <p:spPr>
          <a:xfrm>
            <a:off x="10954512" y="6437376"/>
            <a:ext cx="6400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8B919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11</a:t>
            </a:r>
            <a:endParaRPr lang="en-US" sz="9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4E375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66928" y="2286000"/>
            <a:ext cx="2926080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600" b="1" dirty="0">
                <a:solidFill>
                  <a:srgbClr val="6B4C7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L25–26</a:t>
            </a:r>
            <a:endParaRPr lang="en-US" sz="7600" dirty="0"/>
          </a:p>
        </p:txBody>
      </p:sp>
      <p:sp>
        <p:nvSpPr>
          <p:cNvPr id="3" name="Shape 1"/>
          <p:cNvSpPr/>
          <p:nvPr/>
        </p:nvSpPr>
        <p:spPr>
          <a:xfrm>
            <a:off x="2944368" y="2395728"/>
            <a:ext cx="18288" cy="1371600"/>
          </a:xfrm>
          <a:prstGeom prst="rect">
            <a:avLst/>
          </a:prstGeom>
          <a:solidFill>
            <a:srgbClr val="6E7C86"/>
          </a:solidFill>
          <a:ln/>
        </p:spPr>
      </p:sp>
      <p:sp>
        <p:nvSpPr>
          <p:cNvPr id="4" name="Text 2"/>
          <p:cNvSpPr/>
          <p:nvPr/>
        </p:nvSpPr>
        <p:spPr>
          <a:xfrm>
            <a:off x="3310128" y="2286000"/>
            <a:ext cx="8193024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Feature engineering and selection</a:t>
            </a:r>
            <a:endParaRPr lang="en-US" sz="3400" dirty="0"/>
          </a:p>
        </p:txBody>
      </p:sp>
      <p:sp>
        <p:nvSpPr>
          <p:cNvPr id="5" name="Text 3"/>
          <p:cNvSpPr/>
          <p:nvPr/>
        </p:nvSpPr>
        <p:spPr>
          <a:xfrm>
            <a:off x="3310128" y="3127248"/>
            <a:ext cx="7918704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C3CCD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Construction · interactions and polynomials · curse of dimensionality · filter, wrapper and embedded selection</a:t>
            </a:r>
            <a:endParaRPr lang="en-US" sz="15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EFE8F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66928" y="1828800"/>
            <a:ext cx="274320" cy="274320"/>
          </a:xfrm>
          <a:prstGeom prst="rect">
            <a:avLst/>
          </a:prstGeom>
          <a:solidFill>
            <a:srgbClr val="6B4C7A"/>
          </a:solidFill>
          <a:ln/>
        </p:spPr>
      </p:sp>
      <p:sp>
        <p:nvSpPr>
          <p:cNvPr id="3" name="Text 1"/>
          <p:cNvSpPr/>
          <p:nvPr/>
        </p:nvSpPr>
        <p:spPr>
          <a:xfrm>
            <a:off x="566928" y="2331720"/>
            <a:ext cx="9564624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8000"/>
              </a:lnSpc>
              <a:buNone/>
            </a:pPr>
            <a:r>
              <a:rPr lang="en-US" sz="3300" b="1" dirty="0">
                <a:solidFill>
                  <a:srgbClr val="1B2229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 feature is a question you have decided to ask of every row.</a:t>
            </a:r>
            <a:endParaRPr lang="en-US" sz="3300" dirty="0"/>
          </a:p>
        </p:txBody>
      </p:sp>
      <p:sp>
        <p:nvSpPr>
          <p:cNvPr id="4" name="Text 2"/>
          <p:cNvSpPr/>
          <p:nvPr/>
        </p:nvSpPr>
        <p:spPr>
          <a:xfrm>
            <a:off x="566928" y="4434840"/>
            <a:ext cx="8650224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50" dirty="0">
                <a:solidFill>
                  <a:srgbClr val="5A64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Feature engineering is where domain knowledge enters the pipeline. It is the step with the highest return on effort and the one most often skipped.</a:t>
            </a:r>
            <a:endParaRPr lang="en-US" sz="1550" dirty="0"/>
          </a:p>
        </p:txBody>
      </p:sp>
      <p:sp>
        <p:nvSpPr>
          <p:cNvPr id="5" name="Text 3"/>
          <p:cNvSpPr/>
          <p:nvPr/>
        </p:nvSpPr>
        <p:spPr>
          <a:xfrm>
            <a:off x="566928" y="6437376"/>
            <a:ext cx="64008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8B91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DATA209 · Module 4 — Feature Engineering &amp; Structure</a:t>
            </a:r>
            <a:endParaRPr lang="en-US" sz="900" dirty="0"/>
          </a:p>
        </p:txBody>
      </p:sp>
      <p:sp>
        <p:nvSpPr>
          <p:cNvPr id="6" name="Text 4"/>
          <p:cNvSpPr/>
          <p:nvPr/>
        </p:nvSpPr>
        <p:spPr>
          <a:xfrm>
            <a:off x="10954512" y="6437376"/>
            <a:ext cx="6400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8B919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13</a:t>
            </a:r>
            <a:endParaRPr lang="en-US" sz="9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66928" y="384048"/>
            <a:ext cx="1102766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spc="160" kern="0" dirty="0">
                <a:solidFill>
                  <a:srgbClr val="6B4C7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L25 · CONSTRUCTION</a:t>
            </a:r>
            <a:endParaRPr lang="en-US" sz="1050" dirty="0"/>
          </a:p>
        </p:txBody>
      </p:sp>
      <p:sp>
        <p:nvSpPr>
          <p:cNvPr id="3" name="Text 1"/>
          <p:cNvSpPr/>
          <p:nvPr/>
        </p:nvSpPr>
        <p:spPr>
          <a:xfrm>
            <a:off x="566928" y="676656"/>
            <a:ext cx="11027664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000" b="1" dirty="0">
                <a:solidFill>
                  <a:srgbClr val="1B2229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Six ways to build a feature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566928" y="1783080"/>
            <a:ext cx="3480816" cy="1842516"/>
          </a:xfrm>
          <a:prstGeom prst="roundRect">
            <a:avLst>
              <a:gd name="adj" fmla="val 3474"/>
            </a:avLst>
          </a:prstGeom>
          <a:solidFill>
            <a:srgbClr val="FFFFFF"/>
          </a:solidFill>
          <a:ln w="11430">
            <a:solidFill>
              <a:srgbClr val="D8DDE0"/>
            </a:solidFill>
            <a:prstDash val="solid"/>
          </a:ln>
          <a:effectLst>
            <a:outerShdw sx="100000" sy="100000" kx="0" ky="0" algn="bl" rotWithShape="0" blurRad="88900" dist="12700" dir="5400000">
              <a:srgbClr val="9AA5AC">
                <a:alpha val="18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804672" y="2002536"/>
            <a:ext cx="402336" cy="402336"/>
          </a:xfrm>
          <a:prstGeom prst="ellipse">
            <a:avLst/>
          </a:prstGeom>
          <a:solidFill>
            <a:srgbClr val="EFE8F2"/>
          </a:solidFill>
          <a:ln/>
        </p:spPr>
      </p:sp>
      <p:sp>
        <p:nvSpPr>
          <p:cNvPr id="6" name="Text 4"/>
          <p:cNvSpPr/>
          <p:nvPr/>
        </p:nvSpPr>
        <p:spPr>
          <a:xfrm>
            <a:off x="804672" y="2002536"/>
            <a:ext cx="40233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4E375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01</a:t>
            </a:r>
            <a:endParaRPr lang="en-US" sz="1300" dirty="0"/>
          </a:p>
        </p:txBody>
      </p:sp>
      <p:sp>
        <p:nvSpPr>
          <p:cNvPr id="7" name="Text 5"/>
          <p:cNvSpPr/>
          <p:nvPr/>
        </p:nvSpPr>
        <p:spPr>
          <a:xfrm>
            <a:off x="1316736" y="2002536"/>
            <a:ext cx="2474976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1B222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Ratios</a:t>
            </a:r>
            <a:endParaRPr lang="en-US" sz="1450" dirty="0"/>
          </a:p>
        </p:txBody>
      </p:sp>
      <p:sp>
        <p:nvSpPr>
          <p:cNvPr id="8" name="Text 6"/>
          <p:cNvSpPr/>
          <p:nvPr/>
        </p:nvSpPr>
        <p:spPr>
          <a:xfrm>
            <a:off x="822960" y="2532888"/>
            <a:ext cx="2968752" cy="9098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dirty="0">
                <a:solidFill>
                  <a:srgbClr val="5A64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BMI from weight and height; glucose per unit BMI; conversion rate from clicks and views.</a:t>
            </a:r>
            <a:endParaRPr lang="en-US" sz="1250" dirty="0"/>
          </a:p>
        </p:txBody>
      </p:sp>
      <p:sp>
        <p:nvSpPr>
          <p:cNvPr id="9" name="Shape 7"/>
          <p:cNvSpPr/>
          <p:nvPr/>
        </p:nvSpPr>
        <p:spPr>
          <a:xfrm>
            <a:off x="4340352" y="1783080"/>
            <a:ext cx="3480816" cy="1842516"/>
          </a:xfrm>
          <a:prstGeom prst="roundRect">
            <a:avLst>
              <a:gd name="adj" fmla="val 3474"/>
            </a:avLst>
          </a:prstGeom>
          <a:solidFill>
            <a:srgbClr val="FFFFFF"/>
          </a:solidFill>
          <a:ln w="11430">
            <a:solidFill>
              <a:srgbClr val="D8DDE0"/>
            </a:solidFill>
            <a:prstDash val="solid"/>
          </a:ln>
          <a:effectLst>
            <a:outerShdw sx="100000" sy="100000" kx="0" ky="0" algn="bl" rotWithShape="0" blurRad="88900" dist="12700" dir="5400000">
              <a:srgbClr val="9AA5AC">
                <a:alpha val="18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4578096" y="2002536"/>
            <a:ext cx="402336" cy="402336"/>
          </a:xfrm>
          <a:prstGeom prst="ellipse">
            <a:avLst/>
          </a:prstGeom>
          <a:solidFill>
            <a:srgbClr val="EFE8F2"/>
          </a:solidFill>
          <a:ln/>
        </p:spPr>
      </p:sp>
      <p:sp>
        <p:nvSpPr>
          <p:cNvPr id="11" name="Text 9"/>
          <p:cNvSpPr/>
          <p:nvPr/>
        </p:nvSpPr>
        <p:spPr>
          <a:xfrm>
            <a:off x="4578096" y="2002536"/>
            <a:ext cx="40233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4E375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02</a:t>
            </a:r>
            <a:endParaRPr lang="en-US" sz="1300" dirty="0"/>
          </a:p>
        </p:txBody>
      </p:sp>
      <p:sp>
        <p:nvSpPr>
          <p:cNvPr id="12" name="Text 10"/>
          <p:cNvSpPr/>
          <p:nvPr/>
        </p:nvSpPr>
        <p:spPr>
          <a:xfrm>
            <a:off x="5090160" y="2002536"/>
            <a:ext cx="2474976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1B222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Differences</a:t>
            </a:r>
            <a:endParaRPr lang="en-US" sz="1450" dirty="0"/>
          </a:p>
        </p:txBody>
      </p:sp>
      <p:sp>
        <p:nvSpPr>
          <p:cNvPr id="13" name="Text 11"/>
          <p:cNvSpPr/>
          <p:nvPr/>
        </p:nvSpPr>
        <p:spPr>
          <a:xfrm>
            <a:off x="4596384" y="2532888"/>
            <a:ext cx="2968752" cy="9098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dirty="0">
                <a:solidFill>
                  <a:srgbClr val="5A64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Days since last visit; change from the previous reading; deviation from a group mean.</a:t>
            </a:r>
            <a:endParaRPr lang="en-US" sz="1250" dirty="0"/>
          </a:p>
        </p:txBody>
      </p:sp>
      <p:sp>
        <p:nvSpPr>
          <p:cNvPr id="14" name="Shape 12"/>
          <p:cNvSpPr/>
          <p:nvPr/>
        </p:nvSpPr>
        <p:spPr>
          <a:xfrm>
            <a:off x="8113776" y="1783080"/>
            <a:ext cx="3480816" cy="1842516"/>
          </a:xfrm>
          <a:prstGeom prst="roundRect">
            <a:avLst>
              <a:gd name="adj" fmla="val 3474"/>
            </a:avLst>
          </a:prstGeom>
          <a:solidFill>
            <a:srgbClr val="FFFFFF"/>
          </a:solidFill>
          <a:ln w="11430">
            <a:solidFill>
              <a:srgbClr val="D8DDE0"/>
            </a:solidFill>
            <a:prstDash val="solid"/>
          </a:ln>
          <a:effectLst>
            <a:outerShdw sx="100000" sy="100000" kx="0" ky="0" algn="bl" rotWithShape="0" blurRad="88900" dist="12700" dir="5400000">
              <a:srgbClr val="9AA5AC">
                <a:alpha val="18000"/>
              </a:srgbClr>
            </a:outerShdw>
          </a:effectLst>
        </p:spPr>
      </p:sp>
      <p:sp>
        <p:nvSpPr>
          <p:cNvPr id="15" name="Shape 13"/>
          <p:cNvSpPr/>
          <p:nvPr/>
        </p:nvSpPr>
        <p:spPr>
          <a:xfrm>
            <a:off x="8351520" y="2002536"/>
            <a:ext cx="402336" cy="402336"/>
          </a:xfrm>
          <a:prstGeom prst="ellipse">
            <a:avLst/>
          </a:prstGeom>
          <a:solidFill>
            <a:srgbClr val="EFE8F2"/>
          </a:solidFill>
          <a:ln/>
        </p:spPr>
      </p:sp>
      <p:sp>
        <p:nvSpPr>
          <p:cNvPr id="16" name="Text 14"/>
          <p:cNvSpPr/>
          <p:nvPr/>
        </p:nvSpPr>
        <p:spPr>
          <a:xfrm>
            <a:off x="8351520" y="2002536"/>
            <a:ext cx="40233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4E375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03</a:t>
            </a:r>
            <a:endParaRPr lang="en-US" sz="1300" dirty="0"/>
          </a:p>
        </p:txBody>
      </p:sp>
      <p:sp>
        <p:nvSpPr>
          <p:cNvPr id="17" name="Text 15"/>
          <p:cNvSpPr/>
          <p:nvPr/>
        </p:nvSpPr>
        <p:spPr>
          <a:xfrm>
            <a:off x="8863584" y="2002536"/>
            <a:ext cx="2474976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1B222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Aggregates</a:t>
            </a:r>
            <a:endParaRPr lang="en-US" sz="1450" dirty="0"/>
          </a:p>
        </p:txBody>
      </p:sp>
      <p:sp>
        <p:nvSpPr>
          <p:cNvPr id="18" name="Text 16"/>
          <p:cNvSpPr/>
          <p:nvPr/>
        </p:nvSpPr>
        <p:spPr>
          <a:xfrm>
            <a:off x="8369808" y="2532888"/>
            <a:ext cx="2968752" cy="9098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dirty="0">
                <a:solidFill>
                  <a:srgbClr val="5A64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Per-entity mean, max or count. Total session duration across all page categories.</a:t>
            </a:r>
            <a:endParaRPr lang="en-US" sz="1250" dirty="0"/>
          </a:p>
        </p:txBody>
      </p:sp>
      <p:sp>
        <p:nvSpPr>
          <p:cNvPr id="19" name="Shape 17"/>
          <p:cNvSpPr/>
          <p:nvPr/>
        </p:nvSpPr>
        <p:spPr>
          <a:xfrm>
            <a:off x="566928" y="3918204"/>
            <a:ext cx="3480816" cy="1842516"/>
          </a:xfrm>
          <a:prstGeom prst="roundRect">
            <a:avLst>
              <a:gd name="adj" fmla="val 3474"/>
            </a:avLst>
          </a:prstGeom>
          <a:solidFill>
            <a:srgbClr val="FFFFFF"/>
          </a:solidFill>
          <a:ln w="11430">
            <a:solidFill>
              <a:srgbClr val="D8DDE0"/>
            </a:solidFill>
            <a:prstDash val="solid"/>
          </a:ln>
          <a:effectLst>
            <a:outerShdw sx="100000" sy="100000" kx="0" ky="0" algn="bl" rotWithShape="0" blurRad="88900" dist="12700" dir="5400000">
              <a:srgbClr val="9AA5AC">
                <a:alpha val="18000"/>
              </a:srgbClr>
            </a:outerShdw>
          </a:effectLst>
        </p:spPr>
      </p:sp>
      <p:sp>
        <p:nvSpPr>
          <p:cNvPr id="20" name="Shape 18"/>
          <p:cNvSpPr/>
          <p:nvPr/>
        </p:nvSpPr>
        <p:spPr>
          <a:xfrm>
            <a:off x="804672" y="4137660"/>
            <a:ext cx="402336" cy="402336"/>
          </a:xfrm>
          <a:prstGeom prst="ellipse">
            <a:avLst/>
          </a:prstGeom>
          <a:solidFill>
            <a:srgbClr val="EFE8F2"/>
          </a:solidFill>
          <a:ln/>
        </p:spPr>
      </p:sp>
      <p:sp>
        <p:nvSpPr>
          <p:cNvPr id="21" name="Text 19"/>
          <p:cNvSpPr/>
          <p:nvPr/>
        </p:nvSpPr>
        <p:spPr>
          <a:xfrm>
            <a:off x="804672" y="4137660"/>
            <a:ext cx="40233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4E375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04</a:t>
            </a:r>
            <a:endParaRPr lang="en-US" sz="1300" dirty="0"/>
          </a:p>
        </p:txBody>
      </p:sp>
      <p:sp>
        <p:nvSpPr>
          <p:cNvPr id="22" name="Text 20"/>
          <p:cNvSpPr/>
          <p:nvPr/>
        </p:nvSpPr>
        <p:spPr>
          <a:xfrm>
            <a:off x="1316736" y="4137660"/>
            <a:ext cx="2474976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1B222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Date parts</a:t>
            </a:r>
            <a:endParaRPr lang="en-US" sz="1450" dirty="0"/>
          </a:p>
        </p:txBody>
      </p:sp>
      <p:sp>
        <p:nvSpPr>
          <p:cNvPr id="23" name="Text 21"/>
          <p:cNvSpPr/>
          <p:nvPr/>
        </p:nvSpPr>
        <p:spPr>
          <a:xfrm>
            <a:off x="822960" y="4668012"/>
            <a:ext cx="2968752" cy="9098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dirty="0">
                <a:solidFill>
                  <a:srgbClr val="5A64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Month, weekday, is-weekend, hour, days-to-holiday. One date becomes several features.</a:t>
            </a:r>
            <a:endParaRPr lang="en-US" sz="1250" dirty="0"/>
          </a:p>
        </p:txBody>
      </p:sp>
      <p:sp>
        <p:nvSpPr>
          <p:cNvPr id="24" name="Shape 22"/>
          <p:cNvSpPr/>
          <p:nvPr/>
        </p:nvSpPr>
        <p:spPr>
          <a:xfrm>
            <a:off x="4340352" y="3918204"/>
            <a:ext cx="3480816" cy="1842516"/>
          </a:xfrm>
          <a:prstGeom prst="roundRect">
            <a:avLst>
              <a:gd name="adj" fmla="val 3474"/>
            </a:avLst>
          </a:prstGeom>
          <a:solidFill>
            <a:srgbClr val="FFFFFF"/>
          </a:solidFill>
          <a:ln w="11430">
            <a:solidFill>
              <a:srgbClr val="D8DDE0"/>
            </a:solidFill>
            <a:prstDash val="solid"/>
          </a:ln>
          <a:effectLst>
            <a:outerShdw sx="100000" sy="100000" kx="0" ky="0" algn="bl" rotWithShape="0" blurRad="88900" dist="12700" dir="5400000">
              <a:srgbClr val="9AA5AC">
                <a:alpha val="18000"/>
              </a:srgbClr>
            </a:outerShdw>
          </a:effectLst>
        </p:spPr>
      </p:sp>
      <p:sp>
        <p:nvSpPr>
          <p:cNvPr id="25" name="Shape 23"/>
          <p:cNvSpPr/>
          <p:nvPr/>
        </p:nvSpPr>
        <p:spPr>
          <a:xfrm>
            <a:off x="4578096" y="4137660"/>
            <a:ext cx="402336" cy="402336"/>
          </a:xfrm>
          <a:prstGeom prst="ellipse">
            <a:avLst/>
          </a:prstGeom>
          <a:solidFill>
            <a:srgbClr val="EFE8F2"/>
          </a:solidFill>
          <a:ln/>
        </p:spPr>
      </p:sp>
      <p:sp>
        <p:nvSpPr>
          <p:cNvPr id="26" name="Text 24"/>
          <p:cNvSpPr/>
          <p:nvPr/>
        </p:nvSpPr>
        <p:spPr>
          <a:xfrm>
            <a:off x="4578096" y="4137660"/>
            <a:ext cx="40233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4E375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05</a:t>
            </a:r>
            <a:endParaRPr lang="en-US" sz="1300" dirty="0"/>
          </a:p>
        </p:txBody>
      </p:sp>
      <p:sp>
        <p:nvSpPr>
          <p:cNvPr id="27" name="Text 25"/>
          <p:cNvSpPr/>
          <p:nvPr/>
        </p:nvSpPr>
        <p:spPr>
          <a:xfrm>
            <a:off x="5090160" y="4137660"/>
            <a:ext cx="2474976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1B222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Binning</a:t>
            </a:r>
            <a:endParaRPr lang="en-US" sz="1450" dirty="0"/>
          </a:p>
        </p:txBody>
      </p:sp>
      <p:sp>
        <p:nvSpPr>
          <p:cNvPr id="28" name="Text 26"/>
          <p:cNvSpPr/>
          <p:nvPr/>
        </p:nvSpPr>
        <p:spPr>
          <a:xfrm>
            <a:off x="4596384" y="4668012"/>
            <a:ext cx="2968752" cy="9098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dirty="0">
                <a:solidFill>
                  <a:srgbClr val="5A64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Age into clinical bands. Loses information, gains robustness and interpretability.</a:t>
            </a:r>
            <a:endParaRPr lang="en-US" sz="1250" dirty="0"/>
          </a:p>
        </p:txBody>
      </p:sp>
      <p:sp>
        <p:nvSpPr>
          <p:cNvPr id="29" name="Shape 27"/>
          <p:cNvSpPr/>
          <p:nvPr/>
        </p:nvSpPr>
        <p:spPr>
          <a:xfrm>
            <a:off x="8113776" y="3918204"/>
            <a:ext cx="3480816" cy="1842516"/>
          </a:xfrm>
          <a:prstGeom prst="roundRect">
            <a:avLst>
              <a:gd name="adj" fmla="val 3474"/>
            </a:avLst>
          </a:prstGeom>
          <a:solidFill>
            <a:srgbClr val="FFFFFF"/>
          </a:solidFill>
          <a:ln w="11430">
            <a:solidFill>
              <a:srgbClr val="D8DDE0"/>
            </a:solidFill>
            <a:prstDash val="solid"/>
          </a:ln>
          <a:effectLst>
            <a:outerShdw sx="100000" sy="100000" kx="0" ky="0" algn="bl" rotWithShape="0" blurRad="88900" dist="12700" dir="5400000">
              <a:srgbClr val="9AA5AC">
                <a:alpha val="18000"/>
              </a:srgbClr>
            </a:outerShdw>
          </a:effectLst>
        </p:spPr>
      </p:sp>
      <p:sp>
        <p:nvSpPr>
          <p:cNvPr id="30" name="Shape 28"/>
          <p:cNvSpPr/>
          <p:nvPr/>
        </p:nvSpPr>
        <p:spPr>
          <a:xfrm>
            <a:off x="8351520" y="4137660"/>
            <a:ext cx="402336" cy="402336"/>
          </a:xfrm>
          <a:prstGeom prst="ellipse">
            <a:avLst/>
          </a:prstGeom>
          <a:solidFill>
            <a:srgbClr val="EFE8F2"/>
          </a:solidFill>
          <a:ln/>
        </p:spPr>
      </p:sp>
      <p:sp>
        <p:nvSpPr>
          <p:cNvPr id="31" name="Text 29"/>
          <p:cNvSpPr/>
          <p:nvPr/>
        </p:nvSpPr>
        <p:spPr>
          <a:xfrm>
            <a:off x="8351520" y="4137660"/>
            <a:ext cx="40233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4E375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06</a:t>
            </a:r>
            <a:endParaRPr lang="en-US" sz="1300" dirty="0"/>
          </a:p>
        </p:txBody>
      </p:sp>
      <p:sp>
        <p:nvSpPr>
          <p:cNvPr id="32" name="Text 30"/>
          <p:cNvSpPr/>
          <p:nvPr/>
        </p:nvSpPr>
        <p:spPr>
          <a:xfrm>
            <a:off x="8863584" y="4137660"/>
            <a:ext cx="2474976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1B222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Indicators</a:t>
            </a:r>
            <a:endParaRPr lang="en-US" sz="1450" dirty="0"/>
          </a:p>
        </p:txBody>
      </p:sp>
      <p:sp>
        <p:nvSpPr>
          <p:cNvPr id="33" name="Text 31"/>
          <p:cNvSpPr/>
          <p:nvPr/>
        </p:nvSpPr>
        <p:spPr>
          <a:xfrm>
            <a:off x="8369808" y="4668012"/>
            <a:ext cx="2968752" cy="9098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dirty="0">
                <a:solidFill>
                  <a:srgbClr val="5A64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was_missing, is-zero, exceeds-threshold. Cheap, interpretable, often surprisingly strong.</a:t>
            </a:r>
            <a:endParaRPr lang="en-US" sz="1250" dirty="0"/>
          </a:p>
        </p:txBody>
      </p:sp>
      <p:sp>
        <p:nvSpPr>
          <p:cNvPr id="34" name="Text 32"/>
          <p:cNvSpPr/>
          <p:nvPr/>
        </p:nvSpPr>
        <p:spPr>
          <a:xfrm>
            <a:off x="566928" y="6437376"/>
            <a:ext cx="64008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8B91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DATA209 · Module 4 — Feature Engineering &amp; Structure</a:t>
            </a:r>
            <a:endParaRPr lang="en-US" sz="900" dirty="0"/>
          </a:p>
        </p:txBody>
      </p:sp>
      <p:sp>
        <p:nvSpPr>
          <p:cNvPr id="35" name="Text 33"/>
          <p:cNvSpPr/>
          <p:nvPr/>
        </p:nvSpPr>
        <p:spPr>
          <a:xfrm>
            <a:off x="10954512" y="6437376"/>
            <a:ext cx="6400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8B919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14</a:t>
            </a:r>
            <a:endParaRPr lang="en-US" sz="90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66928" y="384048"/>
            <a:ext cx="1102766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spc="160" kern="0" dirty="0">
                <a:solidFill>
                  <a:srgbClr val="6B4C7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L25 · INTERACTIONS</a:t>
            </a:r>
            <a:endParaRPr lang="en-US" sz="1050" dirty="0"/>
          </a:p>
        </p:txBody>
      </p:sp>
      <p:sp>
        <p:nvSpPr>
          <p:cNvPr id="3" name="Text 1"/>
          <p:cNvSpPr/>
          <p:nvPr/>
        </p:nvSpPr>
        <p:spPr>
          <a:xfrm>
            <a:off x="566928" y="676656"/>
            <a:ext cx="11027664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000" b="1" dirty="0">
                <a:solidFill>
                  <a:srgbClr val="1B2229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When variables only matter together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566928" y="1783080"/>
            <a:ext cx="5285232" cy="3886200"/>
          </a:xfrm>
          <a:prstGeom prst="roundRect">
            <a:avLst>
              <a:gd name="adj" fmla="val 1412"/>
            </a:avLst>
          </a:prstGeom>
          <a:solidFill>
            <a:srgbClr val="F2F4F5"/>
          </a:solidFill>
          <a:ln w="9525">
            <a:solidFill>
              <a:srgbClr val="D8DDE0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841248" y="2029968"/>
            <a:ext cx="201168" cy="201168"/>
          </a:xfrm>
          <a:prstGeom prst="rect">
            <a:avLst/>
          </a:prstGeom>
          <a:solidFill>
            <a:srgbClr val="6B4C7A"/>
          </a:solidFill>
          <a:ln/>
        </p:spPr>
      </p:sp>
      <p:sp>
        <p:nvSpPr>
          <p:cNvPr id="6" name="Text 4"/>
          <p:cNvSpPr/>
          <p:nvPr/>
        </p:nvSpPr>
        <p:spPr>
          <a:xfrm>
            <a:off x="1133856" y="1947672"/>
            <a:ext cx="4443984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B222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Interaction features</a:t>
            </a:r>
            <a:endParaRPr lang="en-US" sz="1600" dirty="0"/>
          </a:p>
        </p:txBody>
      </p:sp>
      <p:sp>
        <p:nvSpPr>
          <p:cNvPr id="7" name="Text 5"/>
          <p:cNvSpPr/>
          <p:nvPr/>
        </p:nvSpPr>
        <p:spPr>
          <a:xfrm>
            <a:off x="859536" y="2450592"/>
            <a:ext cx="4700016" cy="3063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228600" indent="-228600">
              <a:spcAft>
                <a:spcPts val="800"/>
              </a:spcAft>
              <a:buSzPct val="100000"/>
              <a:buChar char="•"/>
            </a:pPr>
            <a:r>
              <a:rPr lang="en-US" sz="1350" dirty="0">
                <a:solidFill>
                  <a:srgbClr val="5A64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product of two variables: Glucose × BMI</a:t>
            </a:r>
            <a:endParaRPr lang="en-US" sz="1350" dirty="0"/>
          </a:p>
          <a:p>
            <a:pPr marL="228600" indent="-228600">
              <a:spcAft>
                <a:spcPts val="800"/>
              </a:spcAft>
              <a:buSzPct val="100000"/>
              <a:buChar char="•"/>
            </a:pPr>
            <a:r>
              <a:rPr lang="en-US" sz="1350" dirty="0">
                <a:solidFill>
                  <a:srgbClr val="5A64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Captures effects that neither variable shows alone</a:t>
            </a:r>
            <a:endParaRPr lang="en-US" sz="1350" dirty="0"/>
          </a:p>
          <a:p>
            <a:pPr marL="228600" indent="-228600">
              <a:spcAft>
                <a:spcPts val="800"/>
              </a:spcAft>
              <a:buSzPct val="100000"/>
              <a:buChar char="•"/>
            </a:pPr>
            <a:r>
              <a:rPr lang="en-US" sz="1350" dirty="0">
                <a:solidFill>
                  <a:srgbClr val="5A64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Linear models cannot discover these; trees can, partially</a:t>
            </a:r>
            <a:endParaRPr lang="en-US" sz="1350" dirty="0"/>
          </a:p>
          <a:p>
            <a:pPr marL="228600" indent="-228600">
              <a:spcAft>
                <a:spcPts val="800"/>
              </a:spcAft>
              <a:buSzPct val="100000"/>
              <a:buChar char="•"/>
            </a:pPr>
            <a:r>
              <a:rPr lang="en-US" sz="1350" dirty="0">
                <a:solidFill>
                  <a:srgbClr val="5A64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Add specific interactions you have a reason to expect</a:t>
            </a:r>
            <a:endParaRPr lang="en-US" sz="1350" dirty="0"/>
          </a:p>
        </p:txBody>
      </p:sp>
      <p:sp>
        <p:nvSpPr>
          <p:cNvPr id="8" name="Shape 6"/>
          <p:cNvSpPr/>
          <p:nvPr/>
        </p:nvSpPr>
        <p:spPr>
          <a:xfrm>
            <a:off x="6309360" y="1783080"/>
            <a:ext cx="5285232" cy="3886200"/>
          </a:xfrm>
          <a:prstGeom prst="roundRect">
            <a:avLst>
              <a:gd name="adj" fmla="val 1412"/>
            </a:avLst>
          </a:prstGeom>
          <a:solidFill>
            <a:srgbClr val="F2F4F5"/>
          </a:solidFill>
          <a:ln w="9525">
            <a:solidFill>
              <a:srgbClr val="D8DDE0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6583680" y="2029968"/>
            <a:ext cx="201168" cy="201168"/>
          </a:xfrm>
          <a:prstGeom prst="rect">
            <a:avLst/>
          </a:prstGeom>
          <a:solidFill>
            <a:srgbClr val="1B2229"/>
          </a:solidFill>
          <a:ln/>
        </p:spPr>
      </p:sp>
      <p:sp>
        <p:nvSpPr>
          <p:cNvPr id="10" name="Text 8"/>
          <p:cNvSpPr/>
          <p:nvPr/>
        </p:nvSpPr>
        <p:spPr>
          <a:xfrm>
            <a:off x="6876288" y="1947672"/>
            <a:ext cx="4443984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B222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Polynomial features</a:t>
            </a:r>
            <a:endParaRPr lang="en-US" sz="1600" dirty="0"/>
          </a:p>
        </p:txBody>
      </p:sp>
      <p:sp>
        <p:nvSpPr>
          <p:cNvPr id="11" name="Text 9"/>
          <p:cNvSpPr/>
          <p:nvPr/>
        </p:nvSpPr>
        <p:spPr>
          <a:xfrm>
            <a:off x="6601968" y="2450592"/>
            <a:ext cx="4700016" cy="3063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228600" indent="-228600">
              <a:spcAft>
                <a:spcPts val="800"/>
              </a:spcAft>
              <a:buSzPct val="100000"/>
              <a:buChar char="•"/>
            </a:pPr>
            <a:r>
              <a:rPr lang="en-US" sz="1350" dirty="0">
                <a:solidFill>
                  <a:srgbClr val="5A64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Powers of a variable: Age, Age², Age³</a:t>
            </a:r>
            <a:endParaRPr lang="en-US" sz="1350" dirty="0"/>
          </a:p>
          <a:p>
            <a:pPr marL="228600" indent="-228600">
              <a:spcAft>
                <a:spcPts val="800"/>
              </a:spcAft>
              <a:buSzPct val="100000"/>
              <a:buChar char="•"/>
            </a:pPr>
            <a:r>
              <a:rPr lang="en-US" sz="1350" dirty="0">
                <a:solidFill>
                  <a:srgbClr val="5A64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Lets a linear model fit a curved relationship</a:t>
            </a:r>
            <a:endParaRPr lang="en-US" sz="1350" dirty="0"/>
          </a:p>
          <a:p>
            <a:pPr marL="228600" indent="-228600">
              <a:spcAft>
                <a:spcPts val="800"/>
              </a:spcAft>
              <a:buSzPct val="100000"/>
              <a:buChar char="•"/>
            </a:pPr>
            <a:r>
              <a:rPr lang="en-US" sz="1350" dirty="0">
                <a:solidFill>
                  <a:srgbClr val="5A64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PolynomialFeatures(degree=2) on 8 columns yields 44 — count before you generate</a:t>
            </a:r>
            <a:endParaRPr lang="en-US" sz="1350" dirty="0"/>
          </a:p>
          <a:p>
            <a:pPr marL="228600" indent="-228600">
              <a:spcAft>
                <a:spcPts val="800"/>
              </a:spcAft>
              <a:buSzPct val="100000"/>
              <a:buChar char="•"/>
            </a:pPr>
            <a:r>
              <a:rPr lang="en-US" sz="1350" dirty="0">
                <a:solidFill>
                  <a:srgbClr val="5A64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Overfits quickly; pair with regularisation and validation</a:t>
            </a:r>
            <a:endParaRPr lang="en-US" sz="1350" dirty="0"/>
          </a:p>
        </p:txBody>
      </p:sp>
      <p:sp>
        <p:nvSpPr>
          <p:cNvPr id="12" name="Text 10"/>
          <p:cNvSpPr/>
          <p:nvPr/>
        </p:nvSpPr>
        <p:spPr>
          <a:xfrm>
            <a:off x="566928" y="5852160"/>
            <a:ext cx="11027664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rgbClr val="4E375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Generate deliberately, not exhaustively. Automatic expansion is the fastest route into the curse of dimensionality.</a:t>
            </a:r>
            <a:endParaRPr lang="en-US" sz="1200" dirty="0"/>
          </a:p>
        </p:txBody>
      </p:sp>
      <p:sp>
        <p:nvSpPr>
          <p:cNvPr id="13" name="Text 11"/>
          <p:cNvSpPr/>
          <p:nvPr/>
        </p:nvSpPr>
        <p:spPr>
          <a:xfrm>
            <a:off x="566928" y="6437376"/>
            <a:ext cx="64008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8B91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DATA209 · Module 4 — Feature Engineering &amp; Structure</a:t>
            </a:r>
            <a:endParaRPr lang="en-US" sz="900" dirty="0"/>
          </a:p>
        </p:txBody>
      </p:sp>
      <p:sp>
        <p:nvSpPr>
          <p:cNvPr id="14" name="Text 12"/>
          <p:cNvSpPr/>
          <p:nvPr/>
        </p:nvSpPr>
        <p:spPr>
          <a:xfrm>
            <a:off x="10954512" y="6437376"/>
            <a:ext cx="6400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8B919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15</a:t>
            </a:r>
            <a:endParaRPr lang="en-US" sz="90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66928" y="384048"/>
            <a:ext cx="1102766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spc="160" kern="0" dirty="0">
                <a:solidFill>
                  <a:srgbClr val="6B4C7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L26 · THE CURSE</a:t>
            </a:r>
            <a:endParaRPr lang="en-US" sz="1050" dirty="0"/>
          </a:p>
        </p:txBody>
      </p:sp>
      <p:sp>
        <p:nvSpPr>
          <p:cNvPr id="3" name="Text 1"/>
          <p:cNvSpPr/>
          <p:nvPr/>
        </p:nvSpPr>
        <p:spPr>
          <a:xfrm>
            <a:off x="566928" y="676656"/>
            <a:ext cx="11027664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000" b="1" dirty="0">
                <a:solidFill>
                  <a:srgbClr val="1B2229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Why more features stop helping</a:t>
            </a:r>
            <a:endParaRPr lang="en-US" sz="3000" dirty="0"/>
          </a:p>
        </p:txBody>
      </p:sp>
      <p:graphicFrame>
        <p:nvGraphicFramePr>
          <p:cNvPr id="4" name="Chart 0" descr=""/>
          <p:cNvGraphicFramePr/>
          <p:nvPr/>
        </p:nvGraphicFramePr>
        <p:xfrm>
          <a:off x="566928" y="1783080"/>
          <a:ext cx="6837152" cy="384048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5" name="Shape 2"/>
          <p:cNvSpPr/>
          <p:nvPr/>
        </p:nvSpPr>
        <p:spPr>
          <a:xfrm>
            <a:off x="7845186" y="1783080"/>
            <a:ext cx="3749406" cy="3840480"/>
          </a:xfrm>
          <a:prstGeom prst="roundRect">
            <a:avLst>
              <a:gd name="adj" fmla="val 1463"/>
            </a:avLst>
          </a:prstGeom>
          <a:solidFill>
            <a:srgbClr val="EFE8F2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6" name="Text 3"/>
          <p:cNvSpPr/>
          <p:nvPr/>
        </p:nvSpPr>
        <p:spPr>
          <a:xfrm>
            <a:off x="8101218" y="2011680"/>
            <a:ext cx="3237342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4E375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Consequences</a:t>
            </a:r>
            <a:endParaRPr lang="en-US" sz="1400" dirty="0"/>
          </a:p>
        </p:txBody>
      </p:sp>
      <p:sp>
        <p:nvSpPr>
          <p:cNvPr id="7" name="Text 4"/>
          <p:cNvSpPr/>
          <p:nvPr/>
        </p:nvSpPr>
        <p:spPr>
          <a:xfrm>
            <a:off x="8101218" y="2468880"/>
            <a:ext cx="3237342" cy="3017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228600" indent="-228600">
              <a:spcAft>
                <a:spcPts val="800"/>
              </a:spcAft>
              <a:buSzPct val="100000"/>
              <a:buChar char="•"/>
            </a:pPr>
            <a:r>
              <a:rPr lang="en-US" sz="1250" dirty="0">
                <a:solidFill>
                  <a:srgbClr val="5A64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density collapses exponentially with each added dimension</a:t>
            </a:r>
            <a:endParaRPr lang="en-US" sz="1250" dirty="0"/>
          </a:p>
          <a:p>
            <a:pPr marL="228600" indent="-228600">
              <a:spcAft>
                <a:spcPts val="800"/>
              </a:spcAft>
              <a:buSzPct val="100000"/>
              <a:buChar char="•"/>
            </a:pPr>
            <a:r>
              <a:rPr lang="en-US" sz="1250" dirty="0">
                <a:solidFill>
                  <a:srgbClr val="5A64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Distances between points converge, so 'nearest neighbour' loses meaning</a:t>
            </a:r>
            <a:endParaRPr lang="en-US" sz="1250" dirty="0"/>
          </a:p>
          <a:p>
            <a:pPr marL="228600" indent="-228600">
              <a:spcAft>
                <a:spcPts val="800"/>
              </a:spcAft>
              <a:buSzPct val="100000"/>
              <a:buChar char="•"/>
            </a:pPr>
            <a:r>
              <a:rPr lang="en-US" sz="1250" dirty="0">
                <a:solidFill>
                  <a:srgbClr val="5A64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Models fit noise because there is more room to fit it</a:t>
            </a:r>
            <a:endParaRPr lang="en-US" sz="1250" dirty="0"/>
          </a:p>
          <a:p>
            <a:pPr marL="228600" indent="-228600">
              <a:spcAft>
                <a:spcPts val="800"/>
              </a:spcAft>
              <a:buSzPct val="100000"/>
              <a:buChar char="•"/>
            </a:pPr>
            <a:r>
              <a:rPr lang="en-US" sz="1250" dirty="0">
                <a:solidFill>
                  <a:srgbClr val="5A64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 added feature must earn its place — hence selection</a:t>
            </a:r>
            <a:endParaRPr lang="en-US" sz="1250" dirty="0"/>
          </a:p>
        </p:txBody>
      </p:sp>
      <p:sp>
        <p:nvSpPr>
          <p:cNvPr id="8" name="Text 5"/>
          <p:cNvSpPr/>
          <p:nvPr/>
        </p:nvSpPr>
        <p:spPr>
          <a:xfrm>
            <a:off x="566928" y="5779008"/>
            <a:ext cx="11027664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i="1" dirty="0">
                <a:solidFill>
                  <a:srgbClr val="5A64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Illustrative: rows required to keep sample density constant as dimensions grow, on a log scale. The x-axis is the number of features.</a:t>
            </a:r>
            <a:endParaRPr lang="en-US" sz="1150" dirty="0"/>
          </a:p>
        </p:txBody>
      </p:sp>
      <p:sp>
        <p:nvSpPr>
          <p:cNvPr id="9" name="Text 6"/>
          <p:cNvSpPr/>
          <p:nvPr/>
        </p:nvSpPr>
        <p:spPr>
          <a:xfrm>
            <a:off x="566928" y="6437376"/>
            <a:ext cx="64008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8B91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DATA209 · Module 4 — Feature Engineering &amp; Structure</a:t>
            </a:r>
            <a:endParaRPr lang="en-US" sz="900" dirty="0"/>
          </a:p>
        </p:txBody>
      </p:sp>
      <p:sp>
        <p:nvSpPr>
          <p:cNvPr id="10" name="Text 7"/>
          <p:cNvSpPr/>
          <p:nvPr/>
        </p:nvSpPr>
        <p:spPr>
          <a:xfrm>
            <a:off x="10954512" y="6437376"/>
            <a:ext cx="6400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8B919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16</a:t>
            </a:r>
            <a:endParaRPr lang="en-US" sz="900" dirty="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66928" y="384048"/>
            <a:ext cx="1102766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spc="160" kern="0" dirty="0">
                <a:solidFill>
                  <a:srgbClr val="6B4C7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L26 · SELECTION</a:t>
            </a:r>
            <a:endParaRPr lang="en-US" sz="1050" dirty="0"/>
          </a:p>
        </p:txBody>
      </p:sp>
      <p:sp>
        <p:nvSpPr>
          <p:cNvPr id="3" name="Text 1"/>
          <p:cNvSpPr/>
          <p:nvPr/>
        </p:nvSpPr>
        <p:spPr>
          <a:xfrm>
            <a:off x="566928" y="676656"/>
            <a:ext cx="11027664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000" b="1" dirty="0">
                <a:solidFill>
                  <a:srgbClr val="1B2229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Three families of feature selection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566928" y="1783080"/>
            <a:ext cx="3480816" cy="3977640"/>
          </a:xfrm>
          <a:prstGeom prst="roundRect">
            <a:avLst>
              <a:gd name="adj" fmla="val 1839"/>
            </a:avLst>
          </a:prstGeom>
          <a:solidFill>
            <a:srgbClr val="FFFFFF"/>
          </a:solidFill>
          <a:ln w="11430">
            <a:solidFill>
              <a:srgbClr val="D8DDE0"/>
            </a:solidFill>
            <a:prstDash val="solid"/>
          </a:ln>
          <a:effectLst>
            <a:outerShdw sx="100000" sy="100000" kx="0" ky="0" algn="bl" rotWithShape="0" blurRad="88900" dist="12700" dir="5400000">
              <a:srgbClr val="9AA5AC">
                <a:alpha val="18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804672" y="2002536"/>
            <a:ext cx="402336" cy="402336"/>
          </a:xfrm>
          <a:prstGeom prst="ellipse">
            <a:avLst/>
          </a:prstGeom>
          <a:solidFill>
            <a:srgbClr val="EFE8F2"/>
          </a:solidFill>
          <a:ln/>
        </p:spPr>
      </p:sp>
      <p:sp>
        <p:nvSpPr>
          <p:cNvPr id="6" name="Text 4"/>
          <p:cNvSpPr/>
          <p:nvPr/>
        </p:nvSpPr>
        <p:spPr>
          <a:xfrm>
            <a:off x="804672" y="2002536"/>
            <a:ext cx="40233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4E375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</a:t>
            </a:r>
            <a:endParaRPr lang="en-US" sz="1300" dirty="0"/>
          </a:p>
        </p:txBody>
      </p:sp>
      <p:sp>
        <p:nvSpPr>
          <p:cNvPr id="7" name="Text 5"/>
          <p:cNvSpPr/>
          <p:nvPr/>
        </p:nvSpPr>
        <p:spPr>
          <a:xfrm>
            <a:off x="1316736" y="2002536"/>
            <a:ext cx="2474976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1B222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Filter</a:t>
            </a:r>
            <a:endParaRPr lang="en-US" sz="1450" dirty="0"/>
          </a:p>
        </p:txBody>
      </p:sp>
      <p:sp>
        <p:nvSpPr>
          <p:cNvPr id="8" name="Text 6"/>
          <p:cNvSpPr/>
          <p:nvPr/>
        </p:nvSpPr>
        <p:spPr>
          <a:xfrm>
            <a:off x="822960" y="2532888"/>
            <a:ext cx="2968752" cy="304495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dirty="0">
                <a:solidFill>
                  <a:srgbClr val="5A64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Score each feature independently of any model — correlation, chi-square, mutual information, variance. Fast, model-agnostic, blind to interactions.</a:t>
            </a:r>
            <a:endParaRPr lang="en-US" sz="1250" dirty="0"/>
          </a:p>
        </p:txBody>
      </p:sp>
      <p:sp>
        <p:nvSpPr>
          <p:cNvPr id="9" name="Shape 7"/>
          <p:cNvSpPr/>
          <p:nvPr/>
        </p:nvSpPr>
        <p:spPr>
          <a:xfrm>
            <a:off x="4340352" y="1783080"/>
            <a:ext cx="3480816" cy="3977640"/>
          </a:xfrm>
          <a:prstGeom prst="roundRect">
            <a:avLst>
              <a:gd name="adj" fmla="val 1839"/>
            </a:avLst>
          </a:prstGeom>
          <a:solidFill>
            <a:srgbClr val="FFFFFF"/>
          </a:solidFill>
          <a:ln w="11430">
            <a:solidFill>
              <a:srgbClr val="D8DDE0"/>
            </a:solidFill>
            <a:prstDash val="solid"/>
          </a:ln>
          <a:effectLst>
            <a:outerShdw sx="100000" sy="100000" kx="0" ky="0" algn="bl" rotWithShape="0" blurRad="88900" dist="12700" dir="5400000">
              <a:srgbClr val="9AA5AC">
                <a:alpha val="18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4578096" y="2002536"/>
            <a:ext cx="402336" cy="402336"/>
          </a:xfrm>
          <a:prstGeom prst="ellipse">
            <a:avLst/>
          </a:prstGeom>
          <a:solidFill>
            <a:srgbClr val="EFE8F2"/>
          </a:solidFill>
          <a:ln/>
        </p:spPr>
      </p:sp>
      <p:sp>
        <p:nvSpPr>
          <p:cNvPr id="11" name="Text 9"/>
          <p:cNvSpPr/>
          <p:nvPr/>
        </p:nvSpPr>
        <p:spPr>
          <a:xfrm>
            <a:off x="4578096" y="2002536"/>
            <a:ext cx="40233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4E375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W</a:t>
            </a:r>
            <a:endParaRPr lang="en-US" sz="1300" dirty="0"/>
          </a:p>
        </p:txBody>
      </p:sp>
      <p:sp>
        <p:nvSpPr>
          <p:cNvPr id="12" name="Text 10"/>
          <p:cNvSpPr/>
          <p:nvPr/>
        </p:nvSpPr>
        <p:spPr>
          <a:xfrm>
            <a:off x="5090160" y="2002536"/>
            <a:ext cx="2474976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1B222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Wrapper</a:t>
            </a:r>
            <a:endParaRPr lang="en-US" sz="1450" dirty="0"/>
          </a:p>
        </p:txBody>
      </p:sp>
      <p:sp>
        <p:nvSpPr>
          <p:cNvPr id="13" name="Text 11"/>
          <p:cNvSpPr/>
          <p:nvPr/>
        </p:nvSpPr>
        <p:spPr>
          <a:xfrm>
            <a:off x="4596384" y="2532888"/>
            <a:ext cx="2968752" cy="304495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dirty="0">
                <a:solidFill>
                  <a:srgbClr val="5A64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Search subsets by training a model on each — RFE, forward and backward selection. Accurate for that model, computationally expensive, overfits easily.</a:t>
            </a:r>
            <a:endParaRPr lang="en-US" sz="1250" dirty="0"/>
          </a:p>
        </p:txBody>
      </p:sp>
      <p:sp>
        <p:nvSpPr>
          <p:cNvPr id="14" name="Shape 12"/>
          <p:cNvSpPr/>
          <p:nvPr/>
        </p:nvSpPr>
        <p:spPr>
          <a:xfrm>
            <a:off x="8113776" y="1783080"/>
            <a:ext cx="3480816" cy="3977640"/>
          </a:xfrm>
          <a:prstGeom prst="roundRect">
            <a:avLst>
              <a:gd name="adj" fmla="val 1839"/>
            </a:avLst>
          </a:prstGeom>
          <a:solidFill>
            <a:srgbClr val="FFFFFF"/>
          </a:solidFill>
          <a:ln w="11430">
            <a:solidFill>
              <a:srgbClr val="D8DDE0"/>
            </a:solidFill>
            <a:prstDash val="solid"/>
          </a:ln>
          <a:effectLst>
            <a:outerShdw sx="100000" sy="100000" kx="0" ky="0" algn="bl" rotWithShape="0" blurRad="88900" dist="12700" dir="5400000">
              <a:srgbClr val="9AA5AC">
                <a:alpha val="18000"/>
              </a:srgbClr>
            </a:outerShdw>
          </a:effectLst>
        </p:spPr>
      </p:sp>
      <p:sp>
        <p:nvSpPr>
          <p:cNvPr id="15" name="Shape 13"/>
          <p:cNvSpPr/>
          <p:nvPr/>
        </p:nvSpPr>
        <p:spPr>
          <a:xfrm>
            <a:off x="8351520" y="2002536"/>
            <a:ext cx="402336" cy="402336"/>
          </a:xfrm>
          <a:prstGeom prst="ellipse">
            <a:avLst/>
          </a:prstGeom>
          <a:solidFill>
            <a:srgbClr val="EFE8F2"/>
          </a:solidFill>
          <a:ln/>
        </p:spPr>
      </p:sp>
      <p:sp>
        <p:nvSpPr>
          <p:cNvPr id="16" name="Text 14"/>
          <p:cNvSpPr/>
          <p:nvPr/>
        </p:nvSpPr>
        <p:spPr>
          <a:xfrm>
            <a:off x="8351520" y="2002536"/>
            <a:ext cx="40233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4E375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E</a:t>
            </a:r>
            <a:endParaRPr lang="en-US" sz="1300" dirty="0"/>
          </a:p>
        </p:txBody>
      </p:sp>
      <p:sp>
        <p:nvSpPr>
          <p:cNvPr id="17" name="Text 15"/>
          <p:cNvSpPr/>
          <p:nvPr/>
        </p:nvSpPr>
        <p:spPr>
          <a:xfrm>
            <a:off x="8863584" y="2002536"/>
            <a:ext cx="2474976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1B222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Embedded</a:t>
            </a:r>
            <a:endParaRPr lang="en-US" sz="1450" dirty="0"/>
          </a:p>
        </p:txBody>
      </p:sp>
      <p:sp>
        <p:nvSpPr>
          <p:cNvPr id="18" name="Text 16"/>
          <p:cNvSpPr/>
          <p:nvPr/>
        </p:nvSpPr>
        <p:spPr>
          <a:xfrm>
            <a:off x="8369808" y="2532888"/>
            <a:ext cx="2968752" cy="304495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dirty="0">
                <a:solidFill>
                  <a:srgbClr val="5A64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Selection happens during fitting — Lasso shrinks coefficients to zero, trees report importances. A good default balance of cost and quality.</a:t>
            </a:r>
            <a:endParaRPr lang="en-US" sz="1250" dirty="0"/>
          </a:p>
        </p:txBody>
      </p:sp>
      <p:sp>
        <p:nvSpPr>
          <p:cNvPr id="19" name="Text 17"/>
          <p:cNvSpPr/>
          <p:nvPr/>
        </p:nvSpPr>
        <p:spPr>
          <a:xfrm>
            <a:off x="566928" y="6437376"/>
            <a:ext cx="64008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8B91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DATA209 · Module 4 — Feature Engineering &amp; Structure</a:t>
            </a:r>
            <a:endParaRPr lang="en-US" sz="900" dirty="0"/>
          </a:p>
        </p:txBody>
      </p:sp>
      <p:sp>
        <p:nvSpPr>
          <p:cNvPr id="20" name="Text 18"/>
          <p:cNvSpPr/>
          <p:nvPr/>
        </p:nvSpPr>
        <p:spPr>
          <a:xfrm>
            <a:off x="10954512" y="6437376"/>
            <a:ext cx="6400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8B919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17</a:t>
            </a:r>
            <a:endParaRPr lang="en-US" sz="900" dirty="0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66928" y="384048"/>
            <a:ext cx="1102766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spc="160" kern="0" dirty="0">
                <a:solidFill>
                  <a:srgbClr val="6B4C7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L26 · CHOOSING A METHOD</a:t>
            </a:r>
            <a:endParaRPr lang="en-US" sz="1050" dirty="0"/>
          </a:p>
        </p:txBody>
      </p:sp>
      <p:sp>
        <p:nvSpPr>
          <p:cNvPr id="3" name="Text 1"/>
          <p:cNvSpPr/>
          <p:nvPr/>
        </p:nvSpPr>
        <p:spPr>
          <a:xfrm>
            <a:off x="566928" y="676656"/>
            <a:ext cx="11027664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000" b="1" dirty="0">
                <a:solidFill>
                  <a:srgbClr val="1B2229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Comparing the three families</a:t>
            </a:r>
            <a:endParaRPr lang="en-US" sz="3000" dirty="0"/>
          </a:p>
        </p:txBody>
      </p:sp>
      <p:graphicFrame>
        <p:nvGraphicFramePr>
          <p:cNvPr id="19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66928" y="1783080"/>
          <a:ext cx="11027664" cy="914400"/>
        </p:xfrm>
        <a:graphic>
          <a:graphicData uri="http://schemas.openxmlformats.org/drawingml/2006/table">
            <a:tbl>
              <a:tblPr/>
              <a:tblGrid>
                <a:gridCol w="2194560"/>
                <a:gridCol w="2926080"/>
                <a:gridCol w="3108960"/>
                <a:gridCol w="2798064"/>
              </a:tblGrid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76200" marB="76200">
                    <a:lnL w="9525" cap="flat" cmpd="sng" algn="ctr">
                      <a:solidFill>
                        <a:srgbClr val="D8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4E375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Filter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76200" marB="76200">
                    <a:lnL w="9525" cap="flat" cmpd="sng" algn="ctr">
                      <a:solidFill>
                        <a:srgbClr val="D8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4E375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Wrapper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76200" marB="76200">
                    <a:lnL w="9525" cap="flat" cmpd="sng" algn="ctr">
                      <a:solidFill>
                        <a:srgbClr val="D8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4E375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Embedded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76200" marB="76200">
                    <a:lnL w="9525" cap="flat" cmpd="sng" algn="ctr">
                      <a:solidFill>
                        <a:srgbClr val="D8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4E3759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1B222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Cost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76200" marB="76200">
                    <a:lnL w="9525" cap="flat" cmpd="sng" algn="ctr">
                      <a:solidFill>
                        <a:srgbClr val="D8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5A646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Very low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76200" marB="76200">
                    <a:lnL w="9525" cap="flat" cmpd="sng" algn="ctr">
                      <a:solidFill>
                        <a:srgbClr val="D8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5A646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High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76200" marB="76200">
                    <a:lnL w="9525" cap="flat" cmpd="sng" algn="ctr">
                      <a:solidFill>
                        <a:srgbClr val="D8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5A646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Moderate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76200" marB="76200">
                    <a:lnL w="9525" cap="flat" cmpd="sng" algn="ctr">
                      <a:solidFill>
                        <a:srgbClr val="D8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1B222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Model-specific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76200" marB="76200">
                    <a:lnL w="9525" cap="flat" cmpd="sng" algn="ctr">
                      <a:solidFill>
                        <a:srgbClr val="D8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4F5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5A646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No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76200" marB="76200">
                    <a:lnL w="9525" cap="flat" cmpd="sng" algn="ctr">
                      <a:solidFill>
                        <a:srgbClr val="D8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4F5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5A646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Yes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76200" marB="76200">
                    <a:lnL w="9525" cap="flat" cmpd="sng" algn="ctr">
                      <a:solidFill>
                        <a:srgbClr val="D8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4F5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5A646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Yes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76200" marB="76200">
                    <a:lnL w="9525" cap="flat" cmpd="sng" algn="ctr">
                      <a:solidFill>
                        <a:srgbClr val="D8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4F5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1B222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Sees interactions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76200" marB="76200">
                    <a:lnL w="9525" cap="flat" cmpd="sng" algn="ctr">
                      <a:solidFill>
                        <a:srgbClr val="D8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5A646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No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76200" marB="76200">
                    <a:lnL w="9525" cap="flat" cmpd="sng" algn="ctr">
                      <a:solidFill>
                        <a:srgbClr val="D8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5A646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Yes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76200" marB="76200">
                    <a:lnL w="9525" cap="flat" cmpd="sng" algn="ctr">
                      <a:solidFill>
                        <a:srgbClr val="D8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5A646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Partly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76200" marB="76200">
                    <a:lnL w="9525" cap="flat" cmpd="sng" algn="ctr">
                      <a:solidFill>
                        <a:srgbClr val="D8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1B222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Overfitting risk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76200" marB="76200">
                    <a:lnL w="9525" cap="flat" cmpd="sng" algn="ctr">
                      <a:solidFill>
                        <a:srgbClr val="D8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4F5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5A646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Low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76200" marB="76200">
                    <a:lnL w="9525" cap="flat" cmpd="sng" algn="ctr">
                      <a:solidFill>
                        <a:srgbClr val="D8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4F5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5A646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High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76200" marB="76200">
                    <a:lnL w="9525" cap="flat" cmpd="sng" algn="ctr">
                      <a:solidFill>
                        <a:srgbClr val="D8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4F5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5A646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Moderate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76200" marB="76200">
                    <a:lnL w="9525" cap="flat" cmpd="sng" algn="ctr">
                      <a:solidFill>
                        <a:srgbClr val="D8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4F5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1B222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Typical tool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76200" marB="76200">
                    <a:lnL w="9525" cap="flat" cmpd="sng" algn="ctr">
                      <a:solidFill>
                        <a:srgbClr val="D8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5A646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SelectKBest, variance threshold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76200" marB="76200">
                    <a:lnL w="9525" cap="flat" cmpd="sng" algn="ctr">
                      <a:solidFill>
                        <a:srgbClr val="D8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5A646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RFE, sequential selection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76200" marB="76200">
                    <a:lnL w="9525" cap="flat" cmpd="sng" algn="ctr">
                      <a:solidFill>
                        <a:srgbClr val="D8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5A646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Lasso, tree importances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76200" marB="76200">
                    <a:lnL w="9525" cap="flat" cmpd="sng" algn="ctr">
                      <a:solidFill>
                        <a:srgbClr val="D8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5" name="Text 2"/>
          <p:cNvSpPr/>
          <p:nvPr/>
        </p:nvSpPr>
        <p:spPr>
          <a:xfrm>
            <a:off x="566928" y="5897880"/>
            <a:ext cx="11027664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rgbClr val="4E375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Whichever you use, select inside cross-validation. Selecting on the full dataset and then validating is leakage — see L29–30.</a:t>
            </a:r>
            <a:endParaRPr lang="en-US" sz="1200" dirty="0"/>
          </a:p>
        </p:txBody>
      </p:sp>
      <p:sp>
        <p:nvSpPr>
          <p:cNvPr id="6" name="Text 3"/>
          <p:cNvSpPr/>
          <p:nvPr/>
        </p:nvSpPr>
        <p:spPr>
          <a:xfrm>
            <a:off x="566928" y="6437376"/>
            <a:ext cx="64008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8B91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DATA209 · Module 4 — Feature Engineering &amp; Structure</a:t>
            </a:r>
            <a:endParaRPr lang="en-US" sz="900" dirty="0"/>
          </a:p>
        </p:txBody>
      </p:sp>
      <p:sp>
        <p:nvSpPr>
          <p:cNvPr id="7" name="Text 4"/>
          <p:cNvSpPr/>
          <p:nvPr/>
        </p:nvSpPr>
        <p:spPr>
          <a:xfrm>
            <a:off x="10954512" y="6437376"/>
            <a:ext cx="6400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8B919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18</a:t>
            </a:r>
            <a:endParaRPr lang="en-US" sz="900" dirty="0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66928" y="384048"/>
            <a:ext cx="1102766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spc="160" kern="0" dirty="0">
                <a:solidFill>
                  <a:srgbClr val="6B4C7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L26 · IN PRACTICE</a:t>
            </a:r>
            <a:endParaRPr lang="en-US" sz="1050" dirty="0"/>
          </a:p>
        </p:txBody>
      </p:sp>
      <p:sp>
        <p:nvSpPr>
          <p:cNvPr id="3" name="Text 1"/>
          <p:cNvSpPr/>
          <p:nvPr/>
        </p:nvSpPr>
        <p:spPr>
          <a:xfrm>
            <a:off x="566928" y="676656"/>
            <a:ext cx="11027664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000" b="1" dirty="0">
                <a:solidFill>
                  <a:srgbClr val="1B2229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Comparing selection methods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566928" y="1783080"/>
            <a:ext cx="6947428" cy="3840480"/>
          </a:xfrm>
          <a:prstGeom prst="roundRect">
            <a:avLst>
              <a:gd name="adj" fmla="val 1429"/>
            </a:avLst>
          </a:prstGeom>
          <a:solidFill>
            <a:srgbClr val="1B2229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822960" y="1938528"/>
            <a:ext cx="6435364" cy="35295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dirty="0">
                <a:solidFill>
                  <a:srgbClr val="E4E9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from sklearn.feature_selection import (SelectKBest, f_classif,</a:t>
            </a:r>
            <a:endParaRPr lang="en-US" sz="1150" dirty="0"/>
          </a:p>
          <a:p>
            <a:pPr indent="0" marL="0">
              <a:buNone/>
            </a:pPr>
            <a:r>
              <a:rPr lang="en-US" sz="1150" dirty="0">
                <a:solidFill>
                  <a:srgbClr val="E4E9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                               mutual_info_classif, RFE)</a:t>
            </a:r>
            <a:endParaRPr lang="en-US" sz="1150" dirty="0"/>
          </a:p>
          <a:p>
            <a:pPr indent="0" marL="0">
              <a:buNone/>
            </a:pPr>
            <a:r>
              <a:rPr lang="en-US" sz="1150" dirty="0">
                <a:solidFill>
                  <a:srgbClr val="E4E9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from sklearn.linear_model import LogisticRegression</a:t>
            </a:r>
            <a:endParaRPr lang="en-US" sz="1150" dirty="0"/>
          </a:p>
          <a:p>
            <a:pPr indent="0" marL="0">
              <a:buNone/>
            </a:pPr>
            <a:r>
              <a:rPr lang="en-US" sz="1150" dirty="0">
                <a:solidFill>
                  <a:srgbClr val="E4E9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from sklearn.ensemble import RandomForestClassifier</a:t>
            </a:r>
            <a:endParaRPr lang="en-US" sz="1150" dirty="0"/>
          </a:p>
          <a:p>
            <a:pPr indent="0" marL="0">
              <a:buNone/>
            </a:pPr>
            <a:r>
              <a:rPr lang="en-US" sz="1150" dirty="0">
                <a:solidFill>
                  <a:srgbClr val="E4E9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endParaRPr lang="en-US" sz="1150" dirty="0"/>
          </a:p>
          <a:p>
            <a:pPr indent="0" marL="0">
              <a:buNone/>
            </a:pPr>
            <a:r>
              <a:rPr lang="en-US" sz="1150" dirty="0">
                <a:solidFill>
                  <a:srgbClr val="7FA8A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 filter — two different scores, compared</a:t>
            </a:r>
            <a:endParaRPr lang="en-US" sz="1150" dirty="0"/>
          </a:p>
          <a:p>
            <a:pPr indent="0" marL="0">
              <a:buNone/>
            </a:pPr>
            <a:r>
              <a:rPr lang="en-US" sz="1150" dirty="0">
                <a:solidFill>
                  <a:srgbClr val="E4E9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anova = SelectKBest(f_classif, k=5).fit(X_train, y_train)</a:t>
            </a:r>
            <a:endParaRPr lang="en-US" sz="1150" dirty="0"/>
          </a:p>
          <a:p>
            <a:pPr indent="0" marL="0">
              <a:buNone/>
            </a:pPr>
            <a:r>
              <a:rPr lang="en-US" sz="1150" dirty="0">
                <a:solidFill>
                  <a:srgbClr val="E4E9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mi    = SelectKBest(mutual_info_classif, k=5).fit(X_train, y_train)</a:t>
            </a:r>
            <a:endParaRPr lang="en-US" sz="1150" dirty="0"/>
          </a:p>
          <a:p>
            <a:pPr indent="0" marL="0">
              <a:buNone/>
            </a:pPr>
            <a:r>
              <a:rPr lang="en-US" sz="1150" dirty="0">
                <a:solidFill>
                  <a:srgbClr val="E4E9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endParaRPr lang="en-US" sz="1150" dirty="0"/>
          </a:p>
          <a:p>
            <a:pPr indent="0" marL="0">
              <a:buNone/>
            </a:pPr>
            <a:r>
              <a:rPr lang="en-US" sz="1150" dirty="0">
                <a:solidFill>
                  <a:srgbClr val="7FA8A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 wrapper</a:t>
            </a:r>
            <a:endParaRPr lang="en-US" sz="1150" dirty="0"/>
          </a:p>
          <a:p>
            <a:pPr indent="0" marL="0">
              <a:buNone/>
            </a:pPr>
            <a:r>
              <a:rPr lang="en-US" sz="1150" dirty="0">
                <a:solidFill>
                  <a:srgbClr val="E4E9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rfe = RFE(LogisticRegression(max_iter=1000),</a:t>
            </a:r>
            <a:endParaRPr lang="en-US" sz="1150" dirty="0"/>
          </a:p>
          <a:p>
            <a:pPr indent="0" marL="0">
              <a:buNone/>
            </a:pPr>
            <a:r>
              <a:rPr lang="en-US" sz="1150" dirty="0">
                <a:solidFill>
                  <a:srgbClr val="E4E9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  n_features_to_select=5).fit(X_train, y_train)</a:t>
            </a:r>
            <a:endParaRPr lang="en-US" sz="1150" dirty="0"/>
          </a:p>
          <a:p>
            <a:pPr indent="0" marL="0">
              <a:buNone/>
            </a:pPr>
            <a:r>
              <a:rPr lang="en-US" sz="1150" dirty="0">
                <a:solidFill>
                  <a:srgbClr val="E4E9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endParaRPr lang="en-US" sz="1150" dirty="0"/>
          </a:p>
          <a:p>
            <a:pPr indent="0" marL="0">
              <a:buNone/>
            </a:pPr>
            <a:r>
              <a:rPr lang="en-US" sz="1150" dirty="0">
                <a:solidFill>
                  <a:srgbClr val="7FA8A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 embedded</a:t>
            </a:r>
            <a:endParaRPr lang="en-US" sz="1150" dirty="0"/>
          </a:p>
          <a:p>
            <a:pPr indent="0" marL="0">
              <a:buNone/>
            </a:pPr>
            <a:r>
              <a:rPr lang="en-US" sz="1150" dirty="0">
                <a:solidFill>
                  <a:srgbClr val="E4E9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rf = RandomForestClassifier(random_state=0).fit(X_train, y_train)</a:t>
            </a:r>
            <a:endParaRPr lang="en-US" sz="1150" dirty="0"/>
          </a:p>
          <a:p>
            <a:pPr indent="0" marL="0">
              <a:buNone/>
            </a:pPr>
            <a:r>
              <a:rPr lang="en-US" sz="1150" dirty="0">
                <a:solidFill>
                  <a:srgbClr val="E4E9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endParaRPr lang="en-US" sz="1150" dirty="0"/>
          </a:p>
          <a:p>
            <a:pPr indent="0" marL="0">
              <a:buNone/>
            </a:pPr>
            <a:r>
              <a:rPr lang="en-US" sz="1150" dirty="0">
                <a:solidFill>
                  <a:srgbClr val="E4E9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pd.DataFrame({'anova': anova.get_support(), 'mi': mi.get_support(),</a:t>
            </a:r>
            <a:endParaRPr lang="en-US" sz="1150" dirty="0"/>
          </a:p>
          <a:p>
            <a:pPr indent="0" marL="0">
              <a:buNone/>
            </a:pPr>
            <a:r>
              <a:rPr lang="en-US" sz="1150" dirty="0">
                <a:solidFill>
                  <a:srgbClr val="E4E9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      'rfe': rfe.support_, 'rf_imp': rf.feature_importances_</a:t>
            </a:r>
            <a:endParaRPr lang="en-US" sz="1150" dirty="0"/>
          </a:p>
          <a:p>
            <a:pPr indent="0" marL="0">
              <a:buNone/>
            </a:pPr>
            <a:r>
              <a:rPr lang="en-US" sz="1150" dirty="0">
                <a:solidFill>
                  <a:srgbClr val="E4E9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      }, index=X_train.columns).sort_values('rf_imp')</a:t>
            </a:r>
            <a:endParaRPr lang="en-US" sz="1150" dirty="0"/>
          </a:p>
        </p:txBody>
      </p:sp>
      <p:sp>
        <p:nvSpPr>
          <p:cNvPr id="6" name="Text 4"/>
          <p:cNvSpPr/>
          <p:nvPr/>
        </p:nvSpPr>
        <p:spPr>
          <a:xfrm>
            <a:off x="7955463" y="1828800"/>
            <a:ext cx="3639129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4E375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final table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7955463" y="2286000"/>
            <a:ext cx="3639129" cy="3291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228600" indent="-228600">
              <a:spcAft>
                <a:spcPts val="800"/>
              </a:spcAft>
              <a:buSzPct val="100000"/>
              <a:buChar char="•"/>
            </a:pPr>
            <a:r>
              <a:rPr lang="en-US" sz="1250" dirty="0">
                <a:solidFill>
                  <a:srgbClr val="5A64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Agreement across methods is the signal worth trusting</a:t>
            </a:r>
            <a:endParaRPr lang="en-US" sz="1250" dirty="0"/>
          </a:p>
          <a:p>
            <a:pPr marL="228600" indent="-228600">
              <a:spcAft>
                <a:spcPts val="800"/>
              </a:spcAft>
              <a:buSzPct val="100000"/>
              <a:buChar char="•"/>
            </a:pPr>
            <a:r>
              <a:rPr lang="en-US" sz="1250" dirty="0">
                <a:solidFill>
                  <a:srgbClr val="5A64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feature chosen by one method alone deserves scrutiny</a:t>
            </a:r>
            <a:endParaRPr lang="en-US" sz="1250" dirty="0"/>
          </a:p>
          <a:p>
            <a:pPr marL="228600" indent="-228600">
              <a:spcAft>
                <a:spcPts val="800"/>
              </a:spcAft>
              <a:buSzPct val="100000"/>
              <a:buChar char="•"/>
            </a:pPr>
            <a:r>
              <a:rPr lang="en-US" sz="1250" dirty="0">
                <a:solidFill>
                  <a:srgbClr val="5A64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Note X_train — never fit a selector on the full dataset</a:t>
            </a:r>
            <a:endParaRPr lang="en-US" sz="1250" dirty="0"/>
          </a:p>
        </p:txBody>
      </p:sp>
      <p:sp>
        <p:nvSpPr>
          <p:cNvPr id="8" name="Text 6"/>
          <p:cNvSpPr/>
          <p:nvPr/>
        </p:nvSpPr>
        <p:spPr>
          <a:xfrm>
            <a:off x="566928" y="6437376"/>
            <a:ext cx="64008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8B91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DATA209 · Module 4 — Feature Engineering &amp; Structure</a:t>
            </a:r>
            <a:endParaRPr lang="en-US" sz="900" dirty="0"/>
          </a:p>
        </p:txBody>
      </p:sp>
      <p:sp>
        <p:nvSpPr>
          <p:cNvPr id="9" name="Text 7"/>
          <p:cNvSpPr/>
          <p:nvPr/>
        </p:nvSpPr>
        <p:spPr>
          <a:xfrm>
            <a:off x="10954512" y="6437376"/>
            <a:ext cx="6400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8B919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19</a:t>
            </a:r>
            <a:endParaRPr lang="en-US" sz="900" dirty="0"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0">
    <p:bg>
      <p:bgPr>
        <a:solidFill>
          <a:srgbClr val="F2F4F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66928" y="457200"/>
            <a:ext cx="237744" cy="237744"/>
          </a:xfrm>
          <a:prstGeom prst="rect">
            <a:avLst/>
          </a:prstGeom>
          <a:solidFill>
            <a:srgbClr val="6B4C7A"/>
          </a:solidFill>
          <a:ln/>
        </p:spPr>
      </p:sp>
      <p:sp>
        <p:nvSpPr>
          <p:cNvPr id="3" name="Text 1"/>
          <p:cNvSpPr/>
          <p:nvPr/>
        </p:nvSpPr>
        <p:spPr>
          <a:xfrm>
            <a:off x="950976" y="402336"/>
            <a:ext cx="54864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160" kern="0" dirty="0">
                <a:solidFill>
                  <a:srgbClr val="4E375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PRACTICE SESSION P25–26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566928" y="841248"/>
            <a:ext cx="11027664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000" b="1" dirty="0">
                <a:solidFill>
                  <a:srgbClr val="1B2229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Selection exercises</a:t>
            </a:r>
            <a:endParaRPr lang="en-US" sz="3000" dirty="0"/>
          </a:p>
        </p:txBody>
      </p:sp>
      <p:sp>
        <p:nvSpPr>
          <p:cNvPr id="5" name="Shape 3"/>
          <p:cNvSpPr/>
          <p:nvPr/>
        </p:nvSpPr>
        <p:spPr>
          <a:xfrm>
            <a:off x="566928" y="1664208"/>
            <a:ext cx="6175492" cy="3566160"/>
          </a:xfrm>
          <a:prstGeom prst="roundRect">
            <a:avLst>
              <a:gd name="adj" fmla="val 1795"/>
            </a:avLst>
          </a:prstGeom>
          <a:solidFill>
            <a:srgbClr val="FFFFFF"/>
          </a:solidFill>
          <a:ln w="11430">
            <a:solidFill>
              <a:srgbClr val="D8DDE0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859536" y="1865376"/>
            <a:ext cx="559027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4E375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you do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877824" y="2286000"/>
            <a:ext cx="5553700" cy="2834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254000" indent="-254000">
              <a:spcAft>
                <a:spcPts val="900"/>
              </a:spcAft>
              <a:buSzPct val="100000"/>
              <a:buFont typeface="+mj-lt"/>
              <a:buAutoNum type="arabicPeriod" startAt="1"/>
            </a:pPr>
            <a:r>
              <a:rPr lang="en-US" sz="1350" dirty="0">
                <a:solidFill>
                  <a:srgbClr val="5A64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Construct at least four new features and give each a one-line rationale</a:t>
            </a:r>
            <a:endParaRPr lang="en-US" sz="1350" dirty="0"/>
          </a:p>
          <a:p>
            <a:pPr marL="254000" indent="-254000">
              <a:spcAft>
                <a:spcPts val="900"/>
              </a:spcAft>
              <a:buSzPct val="100000"/>
              <a:buFont typeface="+mj-lt"/>
              <a:buAutoNum type="arabicPeriod" startAt="1"/>
            </a:pPr>
            <a:r>
              <a:rPr lang="en-US" sz="1350" dirty="0">
                <a:solidFill>
                  <a:srgbClr val="5A64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Generate interaction terms for two pairs you have a reason to expect, and test them</a:t>
            </a:r>
            <a:endParaRPr lang="en-US" sz="1350" dirty="0"/>
          </a:p>
          <a:p>
            <a:pPr marL="254000" indent="-254000">
              <a:spcAft>
                <a:spcPts val="900"/>
              </a:spcAft>
              <a:buSzPct val="100000"/>
              <a:buFont typeface="+mj-lt"/>
              <a:buAutoNum type="arabicPeriod" startAt="1"/>
            </a:pPr>
            <a:r>
              <a:rPr lang="en-US" sz="1350" dirty="0">
                <a:solidFill>
                  <a:srgbClr val="5A64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Apply a filter, a wrapper and an embedded selection method to the same feature set</a:t>
            </a:r>
            <a:endParaRPr lang="en-US" sz="1350" dirty="0"/>
          </a:p>
          <a:p>
            <a:pPr marL="254000" indent="-254000">
              <a:spcAft>
                <a:spcPts val="900"/>
              </a:spcAft>
              <a:buSzPct val="100000"/>
              <a:buFont typeface="+mj-lt"/>
              <a:buAutoNum type="arabicPeriod" startAt="1"/>
            </a:pPr>
            <a:r>
              <a:rPr lang="en-US" sz="1350" dirty="0">
                <a:solidFill>
                  <a:srgbClr val="5A64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Build a comparison table of which features each method selected</a:t>
            </a:r>
            <a:endParaRPr lang="en-US" sz="1350" dirty="0"/>
          </a:p>
          <a:p>
            <a:pPr marL="254000" indent="-254000">
              <a:spcAft>
                <a:spcPts val="900"/>
              </a:spcAft>
              <a:buSzPct val="100000"/>
              <a:buFont typeface="+mj-lt"/>
              <a:buAutoNum type="arabicPeriod" startAt="1"/>
            </a:pPr>
            <a:r>
              <a:rPr lang="en-US" sz="1350" dirty="0">
                <a:solidFill>
                  <a:srgbClr val="5A64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Report the features chosen by all three and explain why agreement matters</a:t>
            </a:r>
            <a:endParaRPr lang="en-US" sz="1350" dirty="0"/>
          </a:p>
          <a:p>
            <a:pPr marL="254000" indent="-254000">
              <a:spcAft>
                <a:spcPts val="900"/>
              </a:spcAft>
              <a:buSzPct val="100000"/>
              <a:buFont typeface="+mj-lt"/>
              <a:buAutoNum type="arabicPeriod" startAt="1"/>
            </a:pPr>
            <a:r>
              <a:rPr lang="en-US" sz="1350" dirty="0">
                <a:solidFill>
                  <a:srgbClr val="5A64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Evaluate whether your constructed features survived selection</a:t>
            </a:r>
            <a:endParaRPr lang="en-US" sz="1350" dirty="0"/>
          </a:p>
        </p:txBody>
      </p:sp>
      <p:sp>
        <p:nvSpPr>
          <p:cNvPr id="8" name="Shape 6"/>
          <p:cNvSpPr/>
          <p:nvPr/>
        </p:nvSpPr>
        <p:spPr>
          <a:xfrm>
            <a:off x="7183526" y="1664208"/>
            <a:ext cx="4411066" cy="1051560"/>
          </a:xfrm>
          <a:prstGeom prst="roundRect">
            <a:avLst>
              <a:gd name="adj" fmla="val 5217"/>
            </a:avLst>
          </a:prstGeom>
          <a:solidFill>
            <a:srgbClr val="FFFFFF"/>
          </a:solidFill>
          <a:ln w="11430">
            <a:solidFill>
              <a:srgbClr val="D8DDE0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7421270" y="1810512"/>
            <a:ext cx="3935578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spc="120" kern="0" dirty="0">
                <a:solidFill>
                  <a:srgbClr val="8B919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DATASET</a:t>
            </a:r>
            <a:endParaRPr lang="en-US" sz="950" dirty="0"/>
          </a:p>
        </p:txBody>
      </p:sp>
      <p:sp>
        <p:nvSpPr>
          <p:cNvPr id="10" name="Text 8"/>
          <p:cNvSpPr/>
          <p:nvPr/>
        </p:nvSpPr>
        <p:spPr>
          <a:xfrm>
            <a:off x="7421270" y="2066544"/>
            <a:ext cx="3935578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1B222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pima.csv · California Housing</a:t>
            </a:r>
            <a:endParaRPr lang="en-US" sz="1300" dirty="0"/>
          </a:p>
        </p:txBody>
      </p:sp>
      <p:sp>
        <p:nvSpPr>
          <p:cNvPr id="11" name="Shape 9"/>
          <p:cNvSpPr/>
          <p:nvPr/>
        </p:nvSpPr>
        <p:spPr>
          <a:xfrm>
            <a:off x="7183526" y="2807208"/>
            <a:ext cx="4411066" cy="1298448"/>
          </a:xfrm>
          <a:prstGeom prst="roundRect">
            <a:avLst>
              <a:gd name="adj" fmla="val 4225"/>
            </a:avLst>
          </a:prstGeom>
          <a:solidFill>
            <a:srgbClr val="FFFFFF"/>
          </a:solidFill>
          <a:ln w="11430">
            <a:solidFill>
              <a:srgbClr val="D8DDE0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7421270" y="2953512"/>
            <a:ext cx="3935578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spc="120" kern="0" dirty="0">
                <a:solidFill>
                  <a:srgbClr val="8B919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NOTEBOOK IN THE COURSE DRIVE</a:t>
            </a:r>
            <a:endParaRPr lang="en-US" sz="950" dirty="0"/>
          </a:p>
        </p:txBody>
      </p:sp>
      <p:sp>
        <p:nvSpPr>
          <p:cNvPr id="13" name="Text 11"/>
          <p:cNvSpPr/>
          <p:nvPr/>
        </p:nvSpPr>
        <p:spPr>
          <a:xfrm>
            <a:off x="7421270" y="3209544"/>
            <a:ext cx="3935578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1B222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pima_feature_engineering.ipynb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1B222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feature_engineering_california_housing.ipynb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1B222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feature_selection_pima.ipynb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1B222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Feature_Selection_California_Housing (4).ipynb</a:t>
            </a:r>
            <a:endParaRPr lang="en-US" sz="1100" dirty="0"/>
          </a:p>
        </p:txBody>
      </p:sp>
      <p:sp>
        <p:nvSpPr>
          <p:cNvPr id="14" name="Shape 12"/>
          <p:cNvSpPr/>
          <p:nvPr/>
        </p:nvSpPr>
        <p:spPr>
          <a:xfrm>
            <a:off x="7183526" y="4215384"/>
            <a:ext cx="4411066" cy="1014984"/>
          </a:xfrm>
          <a:prstGeom prst="roundRect">
            <a:avLst>
              <a:gd name="adj" fmla="val 5405"/>
            </a:avLst>
          </a:prstGeom>
          <a:solidFill>
            <a:srgbClr val="FFFFFF"/>
          </a:solidFill>
          <a:ln w="11430">
            <a:solidFill>
              <a:srgbClr val="D8DDE0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7421270" y="4361688"/>
            <a:ext cx="3935578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spc="120" kern="0" dirty="0">
                <a:solidFill>
                  <a:srgbClr val="8B919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SUBMIT</a:t>
            </a:r>
            <a:endParaRPr lang="en-US" sz="950" dirty="0"/>
          </a:p>
        </p:txBody>
      </p:sp>
      <p:sp>
        <p:nvSpPr>
          <p:cNvPr id="16" name="Text 14"/>
          <p:cNvSpPr/>
          <p:nvPr/>
        </p:nvSpPr>
        <p:spPr>
          <a:xfrm>
            <a:off x="7421270" y="4617720"/>
            <a:ext cx="3935578" cy="4663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1B222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notebook with the comparison table and a shortlist justified by method agreement.</a:t>
            </a:r>
            <a:endParaRPr lang="en-US" sz="1300" dirty="0"/>
          </a:p>
        </p:txBody>
      </p:sp>
      <p:sp>
        <p:nvSpPr>
          <p:cNvPr id="17" name="Text 15"/>
          <p:cNvSpPr/>
          <p:nvPr/>
        </p:nvSpPr>
        <p:spPr>
          <a:xfrm>
            <a:off x="566928" y="6437376"/>
            <a:ext cx="64008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8B91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DATA209 · Module 4 — Feature Engineering &amp; Structure</a:t>
            </a:r>
            <a:endParaRPr lang="en-US" sz="900" dirty="0"/>
          </a:p>
        </p:txBody>
      </p:sp>
      <p:sp>
        <p:nvSpPr>
          <p:cNvPr id="18" name="Text 16"/>
          <p:cNvSpPr/>
          <p:nvPr/>
        </p:nvSpPr>
        <p:spPr>
          <a:xfrm>
            <a:off x="10954512" y="6437376"/>
            <a:ext cx="6400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8B919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20</a:t>
            </a:r>
            <a:endParaRPr lang="en-US" sz="900" dirty="0"/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1">
    <p:bg>
      <p:bgPr>
        <a:solidFill>
          <a:srgbClr val="4E375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66928" y="2286000"/>
            <a:ext cx="2926080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600" b="1" dirty="0">
                <a:solidFill>
                  <a:srgbClr val="6B4C7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L27–28</a:t>
            </a:r>
            <a:endParaRPr lang="en-US" sz="7600" dirty="0"/>
          </a:p>
        </p:txBody>
      </p:sp>
      <p:sp>
        <p:nvSpPr>
          <p:cNvPr id="3" name="Shape 1"/>
          <p:cNvSpPr/>
          <p:nvPr/>
        </p:nvSpPr>
        <p:spPr>
          <a:xfrm>
            <a:off x="2944368" y="2395728"/>
            <a:ext cx="18288" cy="1371600"/>
          </a:xfrm>
          <a:prstGeom prst="rect">
            <a:avLst/>
          </a:prstGeom>
          <a:solidFill>
            <a:srgbClr val="6E7C86"/>
          </a:solidFill>
          <a:ln/>
        </p:spPr>
      </p:sp>
      <p:sp>
        <p:nvSpPr>
          <p:cNvPr id="4" name="Text 2"/>
          <p:cNvSpPr/>
          <p:nvPr/>
        </p:nvSpPr>
        <p:spPr>
          <a:xfrm>
            <a:off x="3310128" y="2286000"/>
            <a:ext cx="8193024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Dimensionality reduction</a:t>
            </a:r>
            <a:endParaRPr lang="en-US" sz="3400" dirty="0"/>
          </a:p>
        </p:txBody>
      </p:sp>
      <p:sp>
        <p:nvSpPr>
          <p:cNvPr id="5" name="Text 3"/>
          <p:cNvSpPr/>
          <p:nvPr/>
        </p:nvSpPr>
        <p:spPr>
          <a:xfrm>
            <a:off x="3310128" y="3127248"/>
            <a:ext cx="7918704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C3CCD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PCA for interpretation · LDA · t-SNE and UMAP for visualisation only · reading components</a:t>
            </a:r>
            <a:endParaRPr lang="en-US" sz="1500" dirty="0"/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66928" y="384048"/>
            <a:ext cx="1102766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spc="160" kern="0" dirty="0">
                <a:solidFill>
                  <a:srgbClr val="6B4C7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L27 · A DISTINCTION THAT MATTERS</a:t>
            </a:r>
            <a:endParaRPr lang="en-US" sz="1050" dirty="0"/>
          </a:p>
        </p:txBody>
      </p:sp>
      <p:sp>
        <p:nvSpPr>
          <p:cNvPr id="3" name="Text 1"/>
          <p:cNvSpPr/>
          <p:nvPr/>
        </p:nvSpPr>
        <p:spPr>
          <a:xfrm>
            <a:off x="566928" y="676656"/>
            <a:ext cx="11027664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000" b="1" dirty="0">
                <a:solidFill>
                  <a:srgbClr val="1B2229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Selection versus reduction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566928" y="1783080"/>
            <a:ext cx="5285232" cy="3886200"/>
          </a:xfrm>
          <a:prstGeom prst="roundRect">
            <a:avLst>
              <a:gd name="adj" fmla="val 1412"/>
            </a:avLst>
          </a:prstGeom>
          <a:solidFill>
            <a:srgbClr val="F2F4F5"/>
          </a:solidFill>
          <a:ln w="9525">
            <a:solidFill>
              <a:srgbClr val="D8DDE0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841248" y="2029968"/>
            <a:ext cx="201168" cy="201168"/>
          </a:xfrm>
          <a:prstGeom prst="rect">
            <a:avLst/>
          </a:prstGeom>
          <a:solidFill>
            <a:srgbClr val="6B4C7A"/>
          </a:solidFill>
          <a:ln/>
        </p:spPr>
      </p:sp>
      <p:sp>
        <p:nvSpPr>
          <p:cNvPr id="6" name="Text 4"/>
          <p:cNvSpPr/>
          <p:nvPr/>
        </p:nvSpPr>
        <p:spPr>
          <a:xfrm>
            <a:off x="1133856" y="1947672"/>
            <a:ext cx="4443984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B222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Feature selection</a:t>
            </a:r>
            <a:endParaRPr lang="en-US" sz="1600" dirty="0"/>
          </a:p>
        </p:txBody>
      </p:sp>
      <p:sp>
        <p:nvSpPr>
          <p:cNvPr id="7" name="Text 5"/>
          <p:cNvSpPr/>
          <p:nvPr/>
        </p:nvSpPr>
        <p:spPr>
          <a:xfrm>
            <a:off x="859536" y="2450592"/>
            <a:ext cx="4700016" cy="3063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228600" indent="-228600">
              <a:spcAft>
                <a:spcPts val="800"/>
              </a:spcAft>
              <a:buSzPct val="100000"/>
              <a:buChar char="•"/>
            </a:pPr>
            <a:r>
              <a:rPr lang="en-US" sz="1350" dirty="0">
                <a:solidFill>
                  <a:srgbClr val="5A64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Keeps a subset of the original columns</a:t>
            </a:r>
            <a:endParaRPr lang="en-US" sz="1350" dirty="0"/>
          </a:p>
          <a:p>
            <a:pPr marL="228600" indent="-228600">
              <a:spcAft>
                <a:spcPts val="800"/>
              </a:spcAft>
              <a:buSzPct val="100000"/>
              <a:buChar char="•"/>
            </a:pPr>
            <a:r>
              <a:rPr lang="en-US" sz="1350" dirty="0">
                <a:solidFill>
                  <a:srgbClr val="5A64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Output remains interpretable — Glucose is still Glucose</a:t>
            </a:r>
            <a:endParaRPr lang="en-US" sz="1350" dirty="0"/>
          </a:p>
          <a:p>
            <a:pPr marL="228600" indent="-228600">
              <a:spcAft>
                <a:spcPts val="800"/>
              </a:spcAft>
              <a:buSzPct val="100000"/>
              <a:buChar char="•"/>
            </a:pPr>
            <a:r>
              <a:rPr lang="en-US" sz="1350" dirty="0">
                <a:solidFill>
                  <a:srgbClr val="5A64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Discards the information in the dropped columns entirely</a:t>
            </a:r>
            <a:endParaRPr lang="en-US" sz="1350" dirty="0"/>
          </a:p>
          <a:p>
            <a:pPr marL="228600" indent="-228600">
              <a:spcAft>
                <a:spcPts val="800"/>
              </a:spcAft>
              <a:buSzPct val="100000"/>
              <a:buChar char="•"/>
            </a:pPr>
            <a:r>
              <a:rPr lang="en-US" sz="1350" dirty="0">
                <a:solidFill>
                  <a:srgbClr val="5A64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Preferred whenever interpretability is the deliverable</a:t>
            </a:r>
            <a:endParaRPr lang="en-US" sz="1350" dirty="0"/>
          </a:p>
        </p:txBody>
      </p:sp>
      <p:sp>
        <p:nvSpPr>
          <p:cNvPr id="8" name="Shape 6"/>
          <p:cNvSpPr/>
          <p:nvPr/>
        </p:nvSpPr>
        <p:spPr>
          <a:xfrm>
            <a:off x="6309360" y="1783080"/>
            <a:ext cx="5285232" cy="3886200"/>
          </a:xfrm>
          <a:prstGeom prst="roundRect">
            <a:avLst>
              <a:gd name="adj" fmla="val 1412"/>
            </a:avLst>
          </a:prstGeom>
          <a:solidFill>
            <a:srgbClr val="F2F4F5"/>
          </a:solidFill>
          <a:ln w="9525">
            <a:solidFill>
              <a:srgbClr val="D8DDE0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6583680" y="2029968"/>
            <a:ext cx="201168" cy="201168"/>
          </a:xfrm>
          <a:prstGeom prst="rect">
            <a:avLst/>
          </a:prstGeom>
          <a:solidFill>
            <a:srgbClr val="1B2229"/>
          </a:solidFill>
          <a:ln/>
        </p:spPr>
      </p:sp>
      <p:sp>
        <p:nvSpPr>
          <p:cNvPr id="10" name="Text 8"/>
          <p:cNvSpPr/>
          <p:nvPr/>
        </p:nvSpPr>
        <p:spPr>
          <a:xfrm>
            <a:off x="6876288" y="1947672"/>
            <a:ext cx="4443984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B222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Dimensionality reduction</a:t>
            </a:r>
            <a:endParaRPr lang="en-US" sz="1600" dirty="0"/>
          </a:p>
        </p:txBody>
      </p:sp>
      <p:sp>
        <p:nvSpPr>
          <p:cNvPr id="11" name="Text 9"/>
          <p:cNvSpPr/>
          <p:nvPr/>
        </p:nvSpPr>
        <p:spPr>
          <a:xfrm>
            <a:off x="6601968" y="2450592"/>
            <a:ext cx="4700016" cy="3063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228600" indent="-228600">
              <a:spcAft>
                <a:spcPts val="800"/>
              </a:spcAft>
              <a:buSzPct val="100000"/>
              <a:buChar char="•"/>
            </a:pPr>
            <a:r>
              <a:rPr lang="en-US" sz="1350" dirty="0">
                <a:solidFill>
                  <a:srgbClr val="5A64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Builds new columns as combinations of the originals</a:t>
            </a:r>
            <a:endParaRPr lang="en-US" sz="1350" dirty="0"/>
          </a:p>
          <a:p>
            <a:pPr marL="228600" indent="-228600">
              <a:spcAft>
                <a:spcPts val="800"/>
              </a:spcAft>
              <a:buSzPct val="100000"/>
              <a:buChar char="•"/>
            </a:pPr>
            <a:r>
              <a:rPr lang="en-US" sz="1350" dirty="0">
                <a:solidFill>
                  <a:srgbClr val="5A64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Output is harder to interpret — PC1 is a weighted blend</a:t>
            </a:r>
            <a:endParaRPr lang="en-US" sz="1350" dirty="0"/>
          </a:p>
          <a:p>
            <a:pPr marL="228600" indent="-228600">
              <a:spcAft>
                <a:spcPts val="800"/>
              </a:spcAft>
              <a:buSzPct val="100000"/>
              <a:buChar char="•"/>
            </a:pPr>
            <a:r>
              <a:rPr lang="en-US" sz="1350" dirty="0">
                <a:solidFill>
                  <a:srgbClr val="5A64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Retains information from every original column</a:t>
            </a:r>
            <a:endParaRPr lang="en-US" sz="1350" dirty="0"/>
          </a:p>
          <a:p>
            <a:pPr marL="228600" indent="-228600">
              <a:spcAft>
                <a:spcPts val="800"/>
              </a:spcAft>
              <a:buSzPct val="100000"/>
              <a:buChar char="•"/>
            </a:pPr>
            <a:r>
              <a:rPr lang="en-US" sz="1350" dirty="0">
                <a:solidFill>
                  <a:srgbClr val="5A64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Preferred when variables are collinear and you need compactness</a:t>
            </a:r>
            <a:endParaRPr lang="en-US" sz="1350" dirty="0"/>
          </a:p>
        </p:txBody>
      </p:sp>
      <p:sp>
        <p:nvSpPr>
          <p:cNvPr id="12" name="Text 10"/>
          <p:cNvSpPr/>
          <p:nvPr/>
        </p:nvSpPr>
        <p:spPr>
          <a:xfrm>
            <a:off x="566928" y="5852160"/>
            <a:ext cx="11027664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rgbClr val="4E375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 an EDA course, prefer selection for reporting and reduction for visualisation. Say which you did and why.</a:t>
            </a:r>
            <a:endParaRPr lang="en-US" sz="1200" dirty="0"/>
          </a:p>
        </p:txBody>
      </p:sp>
      <p:sp>
        <p:nvSpPr>
          <p:cNvPr id="13" name="Text 11"/>
          <p:cNvSpPr/>
          <p:nvPr/>
        </p:nvSpPr>
        <p:spPr>
          <a:xfrm>
            <a:off x="566928" y="6437376"/>
            <a:ext cx="64008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8B91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DATA209 · Module 4 — Feature Engineering &amp; Structure</a:t>
            </a:r>
            <a:endParaRPr lang="en-US" sz="900" dirty="0"/>
          </a:p>
        </p:txBody>
      </p:sp>
      <p:sp>
        <p:nvSpPr>
          <p:cNvPr id="14" name="Text 12"/>
          <p:cNvSpPr/>
          <p:nvPr/>
        </p:nvSpPr>
        <p:spPr>
          <a:xfrm>
            <a:off x="10954512" y="6437376"/>
            <a:ext cx="6400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8B919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22</a:t>
            </a:r>
            <a:endParaRPr lang="en-US" sz="900" dirty="0"/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66928" y="384048"/>
            <a:ext cx="1102766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spc="160" kern="0" dirty="0">
                <a:solidFill>
                  <a:srgbClr val="6B4C7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L27 · PCA</a:t>
            </a:r>
            <a:endParaRPr lang="en-US" sz="1050" dirty="0"/>
          </a:p>
        </p:txBody>
      </p:sp>
      <p:sp>
        <p:nvSpPr>
          <p:cNvPr id="3" name="Text 1"/>
          <p:cNvSpPr/>
          <p:nvPr/>
        </p:nvSpPr>
        <p:spPr>
          <a:xfrm>
            <a:off x="566928" y="676656"/>
            <a:ext cx="11027664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000" b="1" dirty="0">
                <a:solidFill>
                  <a:srgbClr val="1B2229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Principal component analysis in five steps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566928" y="1783080"/>
            <a:ext cx="3480816" cy="1842516"/>
          </a:xfrm>
          <a:prstGeom prst="roundRect">
            <a:avLst>
              <a:gd name="adj" fmla="val 3474"/>
            </a:avLst>
          </a:prstGeom>
          <a:solidFill>
            <a:srgbClr val="FFFFFF"/>
          </a:solidFill>
          <a:ln w="11430">
            <a:solidFill>
              <a:srgbClr val="D8DDE0"/>
            </a:solidFill>
            <a:prstDash val="solid"/>
          </a:ln>
          <a:effectLst>
            <a:outerShdw sx="100000" sy="100000" kx="0" ky="0" algn="bl" rotWithShape="0" blurRad="88900" dist="12700" dir="5400000">
              <a:srgbClr val="9AA5AC">
                <a:alpha val="18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804672" y="2002536"/>
            <a:ext cx="402336" cy="402336"/>
          </a:xfrm>
          <a:prstGeom prst="ellipse">
            <a:avLst/>
          </a:prstGeom>
          <a:solidFill>
            <a:srgbClr val="EFE8F2"/>
          </a:solidFill>
          <a:ln/>
        </p:spPr>
      </p:sp>
      <p:sp>
        <p:nvSpPr>
          <p:cNvPr id="6" name="Text 4"/>
          <p:cNvSpPr/>
          <p:nvPr/>
        </p:nvSpPr>
        <p:spPr>
          <a:xfrm>
            <a:off x="804672" y="2002536"/>
            <a:ext cx="40233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4E375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</a:t>
            </a:r>
            <a:endParaRPr lang="en-US" sz="1300" dirty="0"/>
          </a:p>
        </p:txBody>
      </p:sp>
      <p:sp>
        <p:nvSpPr>
          <p:cNvPr id="7" name="Text 5"/>
          <p:cNvSpPr/>
          <p:nvPr/>
        </p:nvSpPr>
        <p:spPr>
          <a:xfrm>
            <a:off x="1316736" y="2002536"/>
            <a:ext cx="2474976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1B222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Standardise</a:t>
            </a:r>
            <a:endParaRPr lang="en-US" sz="1450" dirty="0"/>
          </a:p>
        </p:txBody>
      </p:sp>
      <p:sp>
        <p:nvSpPr>
          <p:cNvPr id="8" name="Text 6"/>
          <p:cNvSpPr/>
          <p:nvPr/>
        </p:nvSpPr>
        <p:spPr>
          <a:xfrm>
            <a:off x="822960" y="2532888"/>
            <a:ext cx="2968752" cy="9098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dirty="0">
                <a:solidFill>
                  <a:srgbClr val="5A64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Centre and scale every column. Skipping this makes PCA measure units, not structure.</a:t>
            </a:r>
            <a:endParaRPr lang="en-US" sz="1250" dirty="0"/>
          </a:p>
        </p:txBody>
      </p:sp>
      <p:sp>
        <p:nvSpPr>
          <p:cNvPr id="9" name="Shape 7"/>
          <p:cNvSpPr/>
          <p:nvPr/>
        </p:nvSpPr>
        <p:spPr>
          <a:xfrm>
            <a:off x="4340352" y="1783080"/>
            <a:ext cx="3480816" cy="1842516"/>
          </a:xfrm>
          <a:prstGeom prst="roundRect">
            <a:avLst>
              <a:gd name="adj" fmla="val 3474"/>
            </a:avLst>
          </a:prstGeom>
          <a:solidFill>
            <a:srgbClr val="FFFFFF"/>
          </a:solidFill>
          <a:ln w="11430">
            <a:solidFill>
              <a:srgbClr val="D8DDE0"/>
            </a:solidFill>
            <a:prstDash val="solid"/>
          </a:ln>
          <a:effectLst>
            <a:outerShdw sx="100000" sy="100000" kx="0" ky="0" algn="bl" rotWithShape="0" blurRad="88900" dist="12700" dir="5400000">
              <a:srgbClr val="9AA5AC">
                <a:alpha val="18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4578096" y="2002536"/>
            <a:ext cx="402336" cy="402336"/>
          </a:xfrm>
          <a:prstGeom prst="ellipse">
            <a:avLst/>
          </a:prstGeom>
          <a:solidFill>
            <a:srgbClr val="EFE8F2"/>
          </a:solidFill>
          <a:ln/>
        </p:spPr>
      </p:sp>
      <p:sp>
        <p:nvSpPr>
          <p:cNvPr id="11" name="Text 9"/>
          <p:cNvSpPr/>
          <p:nvPr/>
        </p:nvSpPr>
        <p:spPr>
          <a:xfrm>
            <a:off x="4578096" y="2002536"/>
            <a:ext cx="40233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4E375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2</a:t>
            </a:r>
            <a:endParaRPr lang="en-US" sz="1300" dirty="0"/>
          </a:p>
        </p:txBody>
      </p:sp>
      <p:sp>
        <p:nvSpPr>
          <p:cNvPr id="12" name="Text 10"/>
          <p:cNvSpPr/>
          <p:nvPr/>
        </p:nvSpPr>
        <p:spPr>
          <a:xfrm>
            <a:off x="5090160" y="2002536"/>
            <a:ext cx="2474976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1B222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Covariance</a:t>
            </a:r>
            <a:endParaRPr lang="en-US" sz="1450" dirty="0"/>
          </a:p>
        </p:txBody>
      </p:sp>
      <p:sp>
        <p:nvSpPr>
          <p:cNvPr id="13" name="Text 11"/>
          <p:cNvSpPr/>
          <p:nvPr/>
        </p:nvSpPr>
        <p:spPr>
          <a:xfrm>
            <a:off x="4596384" y="2532888"/>
            <a:ext cx="2968752" cy="9098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dirty="0">
                <a:solidFill>
                  <a:srgbClr val="5A64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Compute the covariance matrix of the standardised features.</a:t>
            </a:r>
            <a:endParaRPr lang="en-US" sz="1250" dirty="0"/>
          </a:p>
        </p:txBody>
      </p:sp>
      <p:sp>
        <p:nvSpPr>
          <p:cNvPr id="14" name="Shape 12"/>
          <p:cNvSpPr/>
          <p:nvPr/>
        </p:nvSpPr>
        <p:spPr>
          <a:xfrm>
            <a:off x="8113776" y="1783080"/>
            <a:ext cx="3480816" cy="1842516"/>
          </a:xfrm>
          <a:prstGeom prst="roundRect">
            <a:avLst>
              <a:gd name="adj" fmla="val 3474"/>
            </a:avLst>
          </a:prstGeom>
          <a:solidFill>
            <a:srgbClr val="FFFFFF"/>
          </a:solidFill>
          <a:ln w="11430">
            <a:solidFill>
              <a:srgbClr val="D8DDE0"/>
            </a:solidFill>
            <a:prstDash val="solid"/>
          </a:ln>
          <a:effectLst>
            <a:outerShdw sx="100000" sy="100000" kx="0" ky="0" algn="bl" rotWithShape="0" blurRad="88900" dist="12700" dir="5400000">
              <a:srgbClr val="9AA5AC">
                <a:alpha val="18000"/>
              </a:srgbClr>
            </a:outerShdw>
          </a:effectLst>
        </p:spPr>
      </p:sp>
      <p:sp>
        <p:nvSpPr>
          <p:cNvPr id="15" name="Shape 13"/>
          <p:cNvSpPr/>
          <p:nvPr/>
        </p:nvSpPr>
        <p:spPr>
          <a:xfrm>
            <a:off x="8351520" y="2002536"/>
            <a:ext cx="402336" cy="402336"/>
          </a:xfrm>
          <a:prstGeom prst="ellipse">
            <a:avLst/>
          </a:prstGeom>
          <a:solidFill>
            <a:srgbClr val="EFE8F2"/>
          </a:solidFill>
          <a:ln/>
        </p:spPr>
      </p:sp>
      <p:sp>
        <p:nvSpPr>
          <p:cNvPr id="16" name="Text 14"/>
          <p:cNvSpPr/>
          <p:nvPr/>
        </p:nvSpPr>
        <p:spPr>
          <a:xfrm>
            <a:off x="8351520" y="2002536"/>
            <a:ext cx="40233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4E375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3</a:t>
            </a:r>
            <a:endParaRPr lang="en-US" sz="1300" dirty="0"/>
          </a:p>
        </p:txBody>
      </p:sp>
      <p:sp>
        <p:nvSpPr>
          <p:cNvPr id="17" name="Text 15"/>
          <p:cNvSpPr/>
          <p:nvPr/>
        </p:nvSpPr>
        <p:spPr>
          <a:xfrm>
            <a:off x="8863584" y="2002536"/>
            <a:ext cx="2474976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1B222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Decompose</a:t>
            </a:r>
            <a:endParaRPr lang="en-US" sz="1450" dirty="0"/>
          </a:p>
        </p:txBody>
      </p:sp>
      <p:sp>
        <p:nvSpPr>
          <p:cNvPr id="18" name="Text 16"/>
          <p:cNvSpPr/>
          <p:nvPr/>
        </p:nvSpPr>
        <p:spPr>
          <a:xfrm>
            <a:off x="8369808" y="2532888"/>
            <a:ext cx="2968752" cy="9098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dirty="0">
                <a:solidFill>
                  <a:srgbClr val="5A64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Find eigenvectors and eigenvalues — the directions of variance and how much lies along each.</a:t>
            </a:r>
            <a:endParaRPr lang="en-US" sz="1250" dirty="0"/>
          </a:p>
        </p:txBody>
      </p:sp>
      <p:sp>
        <p:nvSpPr>
          <p:cNvPr id="19" name="Shape 17"/>
          <p:cNvSpPr/>
          <p:nvPr/>
        </p:nvSpPr>
        <p:spPr>
          <a:xfrm>
            <a:off x="566928" y="3918204"/>
            <a:ext cx="3480816" cy="1842516"/>
          </a:xfrm>
          <a:prstGeom prst="roundRect">
            <a:avLst>
              <a:gd name="adj" fmla="val 3474"/>
            </a:avLst>
          </a:prstGeom>
          <a:solidFill>
            <a:srgbClr val="FFFFFF"/>
          </a:solidFill>
          <a:ln w="11430">
            <a:solidFill>
              <a:srgbClr val="D8DDE0"/>
            </a:solidFill>
            <a:prstDash val="solid"/>
          </a:ln>
          <a:effectLst>
            <a:outerShdw sx="100000" sy="100000" kx="0" ky="0" algn="bl" rotWithShape="0" blurRad="88900" dist="12700" dir="5400000">
              <a:srgbClr val="9AA5AC">
                <a:alpha val="18000"/>
              </a:srgbClr>
            </a:outerShdw>
          </a:effectLst>
        </p:spPr>
      </p:sp>
      <p:sp>
        <p:nvSpPr>
          <p:cNvPr id="20" name="Shape 18"/>
          <p:cNvSpPr/>
          <p:nvPr/>
        </p:nvSpPr>
        <p:spPr>
          <a:xfrm>
            <a:off x="804672" y="4137660"/>
            <a:ext cx="402336" cy="402336"/>
          </a:xfrm>
          <a:prstGeom prst="ellipse">
            <a:avLst/>
          </a:prstGeom>
          <a:solidFill>
            <a:srgbClr val="EFE8F2"/>
          </a:solidFill>
          <a:ln/>
        </p:spPr>
      </p:sp>
      <p:sp>
        <p:nvSpPr>
          <p:cNvPr id="21" name="Text 19"/>
          <p:cNvSpPr/>
          <p:nvPr/>
        </p:nvSpPr>
        <p:spPr>
          <a:xfrm>
            <a:off x="804672" y="4137660"/>
            <a:ext cx="40233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4E375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4</a:t>
            </a:r>
            <a:endParaRPr lang="en-US" sz="1300" dirty="0"/>
          </a:p>
        </p:txBody>
      </p:sp>
      <p:sp>
        <p:nvSpPr>
          <p:cNvPr id="22" name="Text 20"/>
          <p:cNvSpPr/>
          <p:nvPr/>
        </p:nvSpPr>
        <p:spPr>
          <a:xfrm>
            <a:off x="1316736" y="4137660"/>
            <a:ext cx="2474976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1B222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Order and cut</a:t>
            </a:r>
            <a:endParaRPr lang="en-US" sz="1450" dirty="0"/>
          </a:p>
        </p:txBody>
      </p:sp>
      <p:sp>
        <p:nvSpPr>
          <p:cNvPr id="23" name="Text 21"/>
          <p:cNvSpPr/>
          <p:nvPr/>
        </p:nvSpPr>
        <p:spPr>
          <a:xfrm>
            <a:off x="822960" y="4668012"/>
            <a:ext cx="2968752" cy="9098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dirty="0">
                <a:solidFill>
                  <a:srgbClr val="5A64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Sort components by eigenvalue; keep as many as your variance target requires.</a:t>
            </a:r>
            <a:endParaRPr lang="en-US" sz="1250" dirty="0"/>
          </a:p>
        </p:txBody>
      </p:sp>
      <p:sp>
        <p:nvSpPr>
          <p:cNvPr id="24" name="Shape 22"/>
          <p:cNvSpPr/>
          <p:nvPr/>
        </p:nvSpPr>
        <p:spPr>
          <a:xfrm>
            <a:off x="4340352" y="3918204"/>
            <a:ext cx="3480816" cy="1842516"/>
          </a:xfrm>
          <a:prstGeom prst="roundRect">
            <a:avLst>
              <a:gd name="adj" fmla="val 3474"/>
            </a:avLst>
          </a:prstGeom>
          <a:solidFill>
            <a:srgbClr val="FFFFFF"/>
          </a:solidFill>
          <a:ln w="11430">
            <a:solidFill>
              <a:srgbClr val="D8DDE0"/>
            </a:solidFill>
            <a:prstDash val="solid"/>
          </a:ln>
          <a:effectLst>
            <a:outerShdw sx="100000" sy="100000" kx="0" ky="0" algn="bl" rotWithShape="0" blurRad="88900" dist="12700" dir="5400000">
              <a:srgbClr val="9AA5AC">
                <a:alpha val="18000"/>
              </a:srgbClr>
            </a:outerShdw>
          </a:effectLst>
        </p:spPr>
      </p:sp>
      <p:sp>
        <p:nvSpPr>
          <p:cNvPr id="25" name="Shape 23"/>
          <p:cNvSpPr/>
          <p:nvPr/>
        </p:nvSpPr>
        <p:spPr>
          <a:xfrm>
            <a:off x="4578096" y="4137660"/>
            <a:ext cx="402336" cy="402336"/>
          </a:xfrm>
          <a:prstGeom prst="ellipse">
            <a:avLst/>
          </a:prstGeom>
          <a:solidFill>
            <a:srgbClr val="EFE8F2"/>
          </a:solidFill>
          <a:ln/>
        </p:spPr>
      </p:sp>
      <p:sp>
        <p:nvSpPr>
          <p:cNvPr id="26" name="Text 24"/>
          <p:cNvSpPr/>
          <p:nvPr/>
        </p:nvSpPr>
        <p:spPr>
          <a:xfrm>
            <a:off x="4578096" y="4137660"/>
            <a:ext cx="40233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4E375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5</a:t>
            </a:r>
            <a:endParaRPr lang="en-US" sz="1300" dirty="0"/>
          </a:p>
        </p:txBody>
      </p:sp>
      <p:sp>
        <p:nvSpPr>
          <p:cNvPr id="27" name="Text 25"/>
          <p:cNvSpPr/>
          <p:nvPr/>
        </p:nvSpPr>
        <p:spPr>
          <a:xfrm>
            <a:off x="5090160" y="4137660"/>
            <a:ext cx="2474976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1B222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Project</a:t>
            </a:r>
            <a:endParaRPr lang="en-US" sz="1450" dirty="0"/>
          </a:p>
        </p:txBody>
      </p:sp>
      <p:sp>
        <p:nvSpPr>
          <p:cNvPr id="28" name="Text 26"/>
          <p:cNvSpPr/>
          <p:nvPr/>
        </p:nvSpPr>
        <p:spPr>
          <a:xfrm>
            <a:off x="4596384" y="4668012"/>
            <a:ext cx="2968752" cy="9098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dirty="0">
                <a:solidFill>
                  <a:srgbClr val="5A64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Transform the data onto the retained components. Each is orthogonal to all the others.</a:t>
            </a:r>
            <a:endParaRPr lang="en-US" sz="1250" dirty="0"/>
          </a:p>
        </p:txBody>
      </p:sp>
      <p:sp>
        <p:nvSpPr>
          <p:cNvPr id="29" name="Text 27"/>
          <p:cNvSpPr/>
          <p:nvPr/>
        </p:nvSpPr>
        <p:spPr>
          <a:xfrm>
            <a:off x="566928" y="6437376"/>
            <a:ext cx="64008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8B91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DATA209 · Module 4 — Feature Engineering &amp; Structure</a:t>
            </a:r>
            <a:endParaRPr lang="en-US" sz="900" dirty="0"/>
          </a:p>
        </p:txBody>
      </p:sp>
      <p:sp>
        <p:nvSpPr>
          <p:cNvPr id="30" name="Text 28"/>
          <p:cNvSpPr/>
          <p:nvPr/>
        </p:nvSpPr>
        <p:spPr>
          <a:xfrm>
            <a:off x="10954512" y="6437376"/>
            <a:ext cx="6400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8B919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23</a:t>
            </a:r>
            <a:endParaRPr lang="en-US" sz="900" dirty="0"/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66928" y="384048"/>
            <a:ext cx="1102766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spc="160" kern="0" dirty="0">
                <a:solidFill>
                  <a:srgbClr val="6B4C7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L27 · READING THE OUTPUT</a:t>
            </a:r>
            <a:endParaRPr lang="en-US" sz="1050" dirty="0"/>
          </a:p>
        </p:txBody>
      </p:sp>
      <p:sp>
        <p:nvSpPr>
          <p:cNvPr id="3" name="Text 1"/>
          <p:cNvSpPr/>
          <p:nvPr/>
        </p:nvSpPr>
        <p:spPr>
          <a:xfrm>
            <a:off x="566928" y="676656"/>
            <a:ext cx="11027664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000" b="1" dirty="0">
                <a:solidFill>
                  <a:srgbClr val="1B2229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Variance explained — PCA on the Pima features</a:t>
            </a:r>
            <a:endParaRPr lang="en-US" sz="3000" dirty="0"/>
          </a:p>
        </p:txBody>
      </p:sp>
      <p:graphicFrame>
        <p:nvGraphicFramePr>
          <p:cNvPr id="4" name="Chart 0" descr=""/>
          <p:cNvGraphicFramePr/>
          <p:nvPr/>
        </p:nvGraphicFramePr>
        <p:xfrm>
          <a:off x="566928" y="1783080"/>
          <a:ext cx="6837152" cy="384048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5" name="Shape 2"/>
          <p:cNvSpPr/>
          <p:nvPr/>
        </p:nvSpPr>
        <p:spPr>
          <a:xfrm>
            <a:off x="7845186" y="1783080"/>
            <a:ext cx="3749406" cy="3840480"/>
          </a:xfrm>
          <a:prstGeom prst="roundRect">
            <a:avLst>
              <a:gd name="adj" fmla="val 1463"/>
            </a:avLst>
          </a:prstGeom>
          <a:solidFill>
            <a:srgbClr val="EFE8F2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6" name="Text 3"/>
          <p:cNvSpPr/>
          <p:nvPr/>
        </p:nvSpPr>
        <p:spPr>
          <a:xfrm>
            <a:off x="8101218" y="2011680"/>
            <a:ext cx="3237342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4E375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Cumulative</a:t>
            </a:r>
            <a:endParaRPr lang="en-US" sz="1400" dirty="0"/>
          </a:p>
        </p:txBody>
      </p:sp>
      <p:sp>
        <p:nvSpPr>
          <p:cNvPr id="7" name="Text 4"/>
          <p:cNvSpPr/>
          <p:nvPr/>
        </p:nvSpPr>
        <p:spPr>
          <a:xfrm>
            <a:off x="8101218" y="2468880"/>
            <a:ext cx="3237342" cy="3017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228600" indent="-228600">
              <a:spcAft>
                <a:spcPts val="800"/>
              </a:spcAft>
              <a:buSzPct val="100000"/>
              <a:buChar char="•"/>
            </a:pPr>
            <a:r>
              <a:rPr lang="en-US" sz="1250" dirty="0">
                <a:solidFill>
                  <a:srgbClr val="5A64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PC1–PC2: 47.2%</a:t>
            </a:r>
            <a:endParaRPr lang="en-US" sz="1250" dirty="0"/>
          </a:p>
          <a:p>
            <a:pPr marL="228600" indent="-228600">
              <a:spcAft>
                <a:spcPts val="800"/>
              </a:spcAft>
              <a:buSzPct val="100000"/>
              <a:buChar char="•"/>
            </a:pPr>
            <a:r>
              <a:rPr lang="en-US" sz="1250" dirty="0">
                <a:solidFill>
                  <a:srgbClr val="5A64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PC1–PC4: 73.0%</a:t>
            </a:r>
            <a:endParaRPr lang="en-US" sz="1250" dirty="0"/>
          </a:p>
          <a:p>
            <a:pPr marL="228600" indent="-228600">
              <a:spcAft>
                <a:spcPts val="800"/>
              </a:spcAft>
              <a:buSzPct val="100000"/>
              <a:buChar char="•"/>
            </a:pPr>
            <a:r>
              <a:rPr lang="en-US" sz="1250" dirty="0">
                <a:solidFill>
                  <a:srgbClr val="5A64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PC1–PC5: 82.6%</a:t>
            </a:r>
            <a:endParaRPr lang="en-US" sz="1250" dirty="0"/>
          </a:p>
          <a:p>
            <a:pPr marL="228600" indent="-228600">
              <a:spcAft>
                <a:spcPts val="800"/>
              </a:spcAft>
              <a:buSzPct val="100000"/>
              <a:buChar char="•"/>
            </a:pPr>
            <a:r>
              <a:rPr lang="en-US" sz="1250" dirty="0">
                <a:solidFill>
                  <a:srgbClr val="5A64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dominant component — this data does not compress well</a:t>
            </a:r>
            <a:endParaRPr lang="en-US" sz="1250" dirty="0"/>
          </a:p>
          <a:p>
            <a:pPr marL="228600" indent="-228600">
              <a:spcAft>
                <a:spcPts val="800"/>
              </a:spcAft>
              <a:buSzPct val="100000"/>
              <a:buChar char="•"/>
            </a:pPr>
            <a:r>
              <a:rPr lang="en-US" sz="1250" dirty="0">
                <a:solidFill>
                  <a:srgbClr val="5A64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Reporting that honestly is the correct answer</a:t>
            </a:r>
            <a:endParaRPr lang="en-US" sz="1250" dirty="0"/>
          </a:p>
        </p:txBody>
      </p:sp>
      <p:sp>
        <p:nvSpPr>
          <p:cNvPr id="8" name="Text 5"/>
          <p:cNvSpPr/>
          <p:nvPr/>
        </p:nvSpPr>
        <p:spPr>
          <a:xfrm>
            <a:off x="566928" y="5779008"/>
            <a:ext cx="11027664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i="1" dirty="0">
                <a:solidFill>
                  <a:srgbClr val="5A64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Computed on standardised pima.csv features, eight components. A flat scree plot is itself a finding.</a:t>
            </a:r>
            <a:endParaRPr lang="en-US" sz="1150" dirty="0"/>
          </a:p>
        </p:txBody>
      </p:sp>
      <p:sp>
        <p:nvSpPr>
          <p:cNvPr id="9" name="Text 6"/>
          <p:cNvSpPr/>
          <p:nvPr/>
        </p:nvSpPr>
        <p:spPr>
          <a:xfrm>
            <a:off x="566928" y="6437376"/>
            <a:ext cx="64008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8B91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DATA209 · Module 4 — Feature Engineering &amp; Structure</a:t>
            </a:r>
            <a:endParaRPr lang="en-US" sz="900" dirty="0"/>
          </a:p>
        </p:txBody>
      </p:sp>
      <p:sp>
        <p:nvSpPr>
          <p:cNvPr id="10" name="Text 7"/>
          <p:cNvSpPr/>
          <p:nvPr/>
        </p:nvSpPr>
        <p:spPr>
          <a:xfrm>
            <a:off x="10954512" y="6437376"/>
            <a:ext cx="6400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8B919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24</a:t>
            </a:r>
            <a:endParaRPr lang="en-US" sz="900" dirty="0"/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66928" y="384048"/>
            <a:ext cx="1102766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spc="160" kern="0" dirty="0">
                <a:solidFill>
                  <a:srgbClr val="6B4C7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L28 · INTERPRETATION</a:t>
            </a:r>
            <a:endParaRPr lang="en-US" sz="1050" dirty="0"/>
          </a:p>
        </p:txBody>
      </p:sp>
      <p:sp>
        <p:nvSpPr>
          <p:cNvPr id="3" name="Text 1"/>
          <p:cNvSpPr/>
          <p:nvPr/>
        </p:nvSpPr>
        <p:spPr>
          <a:xfrm>
            <a:off x="566928" y="676656"/>
            <a:ext cx="11027664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000" b="1" dirty="0">
                <a:solidFill>
                  <a:srgbClr val="1B2229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What a component actually means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566928" y="1783080"/>
            <a:ext cx="6616598" cy="3931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228600" indent="-228600">
              <a:spcAft>
                <a:spcPts val="900"/>
              </a:spcAft>
              <a:buSzPct val="100000"/>
              <a:buChar char="•"/>
            </a:pPr>
            <a:r>
              <a:rPr lang="en-US" sz="1500" b="1" dirty="0">
                <a:solidFill>
                  <a:srgbClr val="1B222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Read the loadings: the weight of each original variable in the component.</a:t>
            </a:r>
            <a:endParaRPr lang="en-US" sz="1500" dirty="0"/>
          </a:p>
          <a:p>
            <a:pPr marL="228600" indent="-228600">
              <a:spcAft>
                <a:spcPts val="900"/>
              </a:spcAft>
              <a:buSzPct val="100000"/>
              <a:buChar char="•"/>
            </a:pPr>
            <a:r>
              <a:rPr lang="en-US" sz="1500" dirty="0">
                <a:solidFill>
                  <a:srgbClr val="5A64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component with large weights on Glucose, Insulin and BMI is a 'metabolic load' axis — name it</a:t>
            </a:r>
            <a:endParaRPr lang="en-US" sz="1500" dirty="0"/>
          </a:p>
          <a:p>
            <a:pPr marL="228600" indent="-228600">
              <a:spcAft>
                <a:spcPts val="900"/>
              </a:spcAft>
              <a:buSzPct val="100000"/>
              <a:buChar char="•"/>
            </a:pPr>
            <a:r>
              <a:rPr lang="en-US" sz="1500" dirty="0">
                <a:solidFill>
                  <a:srgbClr val="5A64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Signs matter: opposite signs mean the component contrasts two groups of variables</a:t>
            </a:r>
            <a:endParaRPr lang="en-US" sz="1500" dirty="0"/>
          </a:p>
          <a:p>
            <a:pPr marL="228600" indent="-228600">
              <a:spcAft>
                <a:spcPts val="900"/>
              </a:spcAft>
              <a:buSzPct val="100000"/>
              <a:buChar char="•"/>
            </a:pPr>
            <a:r>
              <a:rPr lang="en-US" sz="1500" dirty="0">
                <a:solidFill>
                  <a:srgbClr val="5A64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component you cannot name is a component you should not present to a domain audience</a:t>
            </a:r>
            <a:endParaRPr lang="en-US" sz="1500" dirty="0"/>
          </a:p>
          <a:p>
            <a:pPr marL="228600" indent="-228600">
              <a:spcAft>
                <a:spcPts val="900"/>
              </a:spcAft>
              <a:buSzPct val="100000"/>
              <a:buChar char="•"/>
            </a:pPr>
            <a:r>
              <a:rPr lang="en-US" sz="1500" dirty="0">
                <a:solidFill>
                  <a:srgbClr val="5A64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Retention rules: cumulative variance target (often 80–95%), the scree elbow, or eigenvalue above 1</a:t>
            </a:r>
            <a:endParaRPr lang="en-US" sz="1500" dirty="0"/>
          </a:p>
          <a:p>
            <a:pPr marL="228600" indent="-228600">
              <a:spcAft>
                <a:spcPts val="900"/>
              </a:spcAft>
              <a:buSzPct val="100000"/>
              <a:buChar char="•"/>
            </a:pPr>
            <a:r>
              <a:rPr lang="en-US" sz="1500" dirty="0">
                <a:solidFill>
                  <a:srgbClr val="5A64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Never use components you cannot justify keeping — 'the elbow was here' is a justification</a:t>
            </a:r>
            <a:endParaRPr lang="en-US" sz="1500" dirty="0"/>
          </a:p>
        </p:txBody>
      </p:sp>
      <p:sp>
        <p:nvSpPr>
          <p:cNvPr id="5" name="Shape 3"/>
          <p:cNvSpPr/>
          <p:nvPr/>
        </p:nvSpPr>
        <p:spPr>
          <a:xfrm>
            <a:off x="7624633" y="1783080"/>
            <a:ext cx="3969959" cy="3154680"/>
          </a:xfrm>
          <a:prstGeom prst="roundRect">
            <a:avLst>
              <a:gd name="adj" fmla="val 1739"/>
            </a:avLst>
          </a:prstGeom>
          <a:solidFill>
            <a:srgbClr val="EFE8F2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7880665" y="1993392"/>
            <a:ext cx="3457895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4E375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PCA cautions</a:t>
            </a:r>
            <a:endParaRPr lang="en-US" sz="1300" dirty="0"/>
          </a:p>
        </p:txBody>
      </p:sp>
      <p:sp>
        <p:nvSpPr>
          <p:cNvPr id="7" name="Text 5"/>
          <p:cNvSpPr/>
          <p:nvPr/>
        </p:nvSpPr>
        <p:spPr>
          <a:xfrm>
            <a:off x="7880665" y="2395728"/>
            <a:ext cx="3457895" cy="2377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228600" indent="-228600">
              <a:spcAft>
                <a:spcPts val="600"/>
              </a:spcAft>
              <a:buSzPct val="100000"/>
              <a:buChar char="•"/>
            </a:pPr>
            <a:r>
              <a:rPr lang="en-US" sz="1250" dirty="0">
                <a:solidFill>
                  <a:srgbClr val="5A64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Scale first, always</a:t>
            </a:r>
            <a:endParaRPr lang="en-US" sz="1250" dirty="0"/>
          </a:p>
          <a:p>
            <a:pPr marL="228600" indent="-228600">
              <a:spcAft>
                <a:spcPts val="600"/>
              </a:spcAft>
              <a:buSzPct val="100000"/>
              <a:buChar char="•"/>
            </a:pPr>
            <a:r>
              <a:rPr lang="en-US" sz="1250" dirty="0">
                <a:solidFill>
                  <a:srgbClr val="5A64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Linear method only</a:t>
            </a:r>
            <a:endParaRPr lang="en-US" sz="1250" dirty="0"/>
          </a:p>
          <a:p>
            <a:pPr marL="228600" indent="-228600">
              <a:spcAft>
                <a:spcPts val="600"/>
              </a:spcAft>
              <a:buSzPct val="100000"/>
              <a:buChar char="•"/>
            </a:pPr>
            <a:r>
              <a:rPr lang="en-US" sz="1250" dirty="0">
                <a:solidFill>
                  <a:srgbClr val="5A64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Not for categorical data</a:t>
            </a:r>
            <a:endParaRPr lang="en-US" sz="1250" dirty="0"/>
          </a:p>
          <a:p>
            <a:pPr marL="228600" indent="-228600">
              <a:spcAft>
                <a:spcPts val="600"/>
              </a:spcAft>
              <a:buSzPct val="100000"/>
              <a:buChar char="•"/>
            </a:pPr>
            <a:r>
              <a:rPr lang="en-US" sz="1250" dirty="0">
                <a:solidFill>
                  <a:srgbClr val="5A64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Outliers distort components</a:t>
            </a:r>
            <a:endParaRPr lang="en-US" sz="1250" dirty="0"/>
          </a:p>
          <a:p>
            <a:pPr marL="228600" indent="-228600">
              <a:spcAft>
                <a:spcPts val="600"/>
              </a:spcAft>
              <a:buSzPct val="100000"/>
              <a:buChar char="•"/>
            </a:pPr>
            <a:r>
              <a:rPr lang="en-US" sz="1250" dirty="0">
                <a:solidFill>
                  <a:srgbClr val="5A64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Unsupervised — ignores the target</a:t>
            </a:r>
            <a:endParaRPr lang="en-US" sz="1250" dirty="0"/>
          </a:p>
        </p:txBody>
      </p:sp>
      <p:sp>
        <p:nvSpPr>
          <p:cNvPr id="8" name="Text 6"/>
          <p:cNvSpPr/>
          <p:nvPr/>
        </p:nvSpPr>
        <p:spPr>
          <a:xfrm>
            <a:off x="566928" y="5833872"/>
            <a:ext cx="10661904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rgbClr val="4E375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PCA on one-hot encoded categories is a common misuse; the geometry it assumes does not apply to binary indicator columns.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566928" y="6437376"/>
            <a:ext cx="64008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8B91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DATA209 · Module 4 — Feature Engineering &amp; Structure</a:t>
            </a:r>
            <a:endParaRPr lang="en-US" sz="900" dirty="0"/>
          </a:p>
        </p:txBody>
      </p:sp>
      <p:sp>
        <p:nvSpPr>
          <p:cNvPr id="10" name="Text 8"/>
          <p:cNvSpPr/>
          <p:nvPr/>
        </p:nvSpPr>
        <p:spPr>
          <a:xfrm>
            <a:off x="10954512" y="6437376"/>
            <a:ext cx="6400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8B919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25</a:t>
            </a:r>
            <a:endParaRPr lang="en-US" sz="900" dirty="0"/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66928" y="384048"/>
            <a:ext cx="1102766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spc="160" kern="0" dirty="0">
                <a:solidFill>
                  <a:srgbClr val="6B4C7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L28 · ALTERNATIVES</a:t>
            </a:r>
            <a:endParaRPr lang="en-US" sz="1050" dirty="0"/>
          </a:p>
        </p:txBody>
      </p:sp>
      <p:sp>
        <p:nvSpPr>
          <p:cNvPr id="3" name="Text 1"/>
          <p:cNvSpPr/>
          <p:nvPr/>
        </p:nvSpPr>
        <p:spPr>
          <a:xfrm>
            <a:off x="566928" y="676656"/>
            <a:ext cx="11027664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000" b="1" dirty="0">
                <a:solidFill>
                  <a:srgbClr val="1B2229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PCA, LDA, t-SNE and UMAP compared</a:t>
            </a:r>
            <a:endParaRPr lang="en-US" sz="3000" dirty="0"/>
          </a:p>
        </p:txBody>
      </p:sp>
      <p:graphicFrame>
        <p:nvGraphicFramePr>
          <p:cNvPr id="27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66928" y="1783080"/>
          <a:ext cx="11027664" cy="914400"/>
        </p:xfrm>
        <a:graphic>
          <a:graphicData uri="http://schemas.openxmlformats.org/drawingml/2006/table">
            <a:tbl>
              <a:tblPr/>
              <a:tblGrid>
                <a:gridCol w="1737360"/>
                <a:gridCol w="1737360"/>
                <a:gridCol w="3291840"/>
                <a:gridCol w="4261104"/>
              </a:tblGrid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Method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76200" marB="76200">
                    <a:lnL w="9525" cap="flat" cmpd="sng" algn="ctr">
                      <a:solidFill>
                        <a:srgbClr val="D8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4E375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Supervised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76200" marB="76200">
                    <a:lnL w="9525" cap="flat" cmpd="sng" algn="ctr">
                      <a:solidFill>
                        <a:srgbClr val="D8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4E375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Optimises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76200" marB="76200">
                    <a:lnL w="9525" cap="flat" cmpd="sng" algn="ctr">
                      <a:solidFill>
                        <a:srgbClr val="D8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4E375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Use for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76200" marB="76200">
                    <a:lnL w="9525" cap="flat" cmpd="sng" algn="ctr">
                      <a:solidFill>
                        <a:srgbClr val="D8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4E3759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1B222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PCA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76200" marB="76200">
                    <a:lnL w="9525" cap="flat" cmpd="sng" algn="ctr">
                      <a:solidFill>
                        <a:srgbClr val="D8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5A646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No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76200" marB="76200">
                    <a:lnL w="9525" cap="flat" cmpd="sng" algn="ctr">
                      <a:solidFill>
                        <a:srgbClr val="D8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5A646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Maximum retained variance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76200" marB="76200">
                    <a:lnL w="9525" cap="flat" cmpd="sng" algn="ctr">
                      <a:solidFill>
                        <a:srgbClr val="D8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5A646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Compression, decorrelation, interpretation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76200" marB="76200">
                    <a:lnL w="9525" cap="flat" cmpd="sng" algn="ctr">
                      <a:solidFill>
                        <a:srgbClr val="D8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1B222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LDA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76200" marB="76200">
                    <a:lnL w="9525" cap="flat" cmpd="sng" algn="ctr">
                      <a:solidFill>
                        <a:srgbClr val="D8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4F5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5A646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Yes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76200" marB="76200">
                    <a:lnL w="9525" cap="flat" cmpd="sng" algn="ctr">
                      <a:solidFill>
                        <a:srgbClr val="D8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4F5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5A646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Maximum class separation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76200" marB="76200">
                    <a:lnL w="9525" cap="flat" cmpd="sng" algn="ctr">
                      <a:solidFill>
                        <a:srgbClr val="D8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4F5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5A646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Reduction when a class label exists; at most k−1 components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76200" marB="76200">
                    <a:lnL w="9525" cap="flat" cmpd="sng" algn="ctr">
                      <a:solidFill>
                        <a:srgbClr val="D8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4F5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1B222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t-SNE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76200" marB="76200">
                    <a:lnL w="9525" cap="flat" cmpd="sng" algn="ctr">
                      <a:solidFill>
                        <a:srgbClr val="D8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5A646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No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76200" marB="76200">
                    <a:lnL w="9525" cap="flat" cmpd="sng" algn="ctr">
                      <a:solidFill>
                        <a:srgbClr val="D8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5A646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Local neighbourhood preservation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76200" marB="76200">
                    <a:lnL w="9525" cap="flat" cmpd="sng" algn="ctr">
                      <a:solidFill>
                        <a:srgbClr val="D8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5A646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2-D visualisation only — never as model input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76200" marB="76200">
                    <a:lnL w="9525" cap="flat" cmpd="sng" algn="ctr">
                      <a:solidFill>
                        <a:srgbClr val="D8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1B222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UMAP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76200" marB="76200">
                    <a:lnL w="9525" cap="flat" cmpd="sng" algn="ctr">
                      <a:solidFill>
                        <a:srgbClr val="D8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4F5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5A646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No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76200" marB="76200">
                    <a:lnL w="9525" cap="flat" cmpd="sng" algn="ctr">
                      <a:solidFill>
                        <a:srgbClr val="D8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4F5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5A646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Local and some global structure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76200" marB="76200">
                    <a:lnL w="9525" cap="flat" cmpd="sng" algn="ctr">
                      <a:solidFill>
                        <a:srgbClr val="D8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4F5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5A646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2-D visualisation; faster than t-SNE, more stable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76200" marB="76200">
                    <a:lnL w="9525" cap="flat" cmpd="sng" algn="ctr">
                      <a:solidFill>
                        <a:srgbClr val="D8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4F5"/>
                    </a:solidFill>
                  </a:tcPr>
                </a:tc>
              </a:tr>
            </a:tbl>
          </a:graphicData>
        </a:graphic>
      </p:graphicFrame>
      <p:sp>
        <p:nvSpPr>
          <p:cNvPr id="5" name="Text 2"/>
          <p:cNvSpPr/>
          <p:nvPr/>
        </p:nvSpPr>
        <p:spPr>
          <a:xfrm>
            <a:off x="566928" y="5897880"/>
            <a:ext cx="11027664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rgbClr val="4E375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t-SNE and UMAP traps: cluster sizes and between-cluster distances are not meaningful, and results change with the seed and perplexity.</a:t>
            </a:r>
            <a:endParaRPr lang="en-US" sz="1200" dirty="0"/>
          </a:p>
        </p:txBody>
      </p:sp>
      <p:sp>
        <p:nvSpPr>
          <p:cNvPr id="6" name="Text 3"/>
          <p:cNvSpPr/>
          <p:nvPr/>
        </p:nvSpPr>
        <p:spPr>
          <a:xfrm>
            <a:off x="566928" y="6437376"/>
            <a:ext cx="64008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8B91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DATA209 · Module 4 — Feature Engineering &amp; Structure</a:t>
            </a:r>
            <a:endParaRPr lang="en-US" sz="900" dirty="0"/>
          </a:p>
        </p:txBody>
      </p:sp>
      <p:sp>
        <p:nvSpPr>
          <p:cNvPr id="7" name="Text 4"/>
          <p:cNvSpPr/>
          <p:nvPr/>
        </p:nvSpPr>
        <p:spPr>
          <a:xfrm>
            <a:off x="10954512" y="6437376"/>
            <a:ext cx="6400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8B919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26</a:t>
            </a:r>
            <a:endParaRPr lang="en-US" sz="900" dirty="0"/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66928" y="384048"/>
            <a:ext cx="1102766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spc="160" kern="0" dirty="0">
                <a:solidFill>
                  <a:srgbClr val="6B4C7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L28 · IN PRACTICE</a:t>
            </a:r>
            <a:endParaRPr lang="en-US" sz="1050" dirty="0"/>
          </a:p>
        </p:txBody>
      </p:sp>
      <p:sp>
        <p:nvSpPr>
          <p:cNvPr id="3" name="Text 1"/>
          <p:cNvSpPr/>
          <p:nvPr/>
        </p:nvSpPr>
        <p:spPr>
          <a:xfrm>
            <a:off x="566928" y="676656"/>
            <a:ext cx="11027664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000" b="1" dirty="0">
                <a:solidFill>
                  <a:srgbClr val="1B2229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PCA with interpretation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566928" y="1783080"/>
            <a:ext cx="6947428" cy="3607308"/>
          </a:xfrm>
          <a:prstGeom prst="roundRect">
            <a:avLst>
              <a:gd name="adj" fmla="val 1521"/>
            </a:avLst>
          </a:prstGeom>
          <a:solidFill>
            <a:srgbClr val="1B2229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822960" y="1938528"/>
            <a:ext cx="6435364" cy="329641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dirty="0">
                <a:solidFill>
                  <a:srgbClr val="E4E9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from sklearn.preprocessing import StandardScaler</a:t>
            </a:r>
            <a:endParaRPr lang="en-US" sz="1150" dirty="0"/>
          </a:p>
          <a:p>
            <a:pPr indent="0" marL="0">
              <a:buNone/>
            </a:pPr>
            <a:r>
              <a:rPr lang="en-US" sz="1150" dirty="0">
                <a:solidFill>
                  <a:srgbClr val="E4E9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from sklearn.decomposition import PCA</a:t>
            </a:r>
            <a:endParaRPr lang="en-US" sz="1150" dirty="0"/>
          </a:p>
          <a:p>
            <a:pPr indent="0" marL="0">
              <a:buNone/>
            </a:pPr>
            <a:r>
              <a:rPr lang="en-US" sz="1150" dirty="0">
                <a:solidFill>
                  <a:srgbClr val="E4E9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endParaRPr lang="en-US" sz="1150" dirty="0"/>
          </a:p>
          <a:p>
            <a:pPr indent="0" marL="0">
              <a:buNone/>
            </a:pPr>
            <a:r>
              <a:rPr lang="en-US" sz="1150" dirty="0">
                <a:solidFill>
                  <a:srgbClr val="E4E9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Xs  = StandardScaler().fit_transform(X)     # never skip this</a:t>
            </a:r>
            <a:endParaRPr lang="en-US" sz="1150" dirty="0"/>
          </a:p>
          <a:p>
            <a:pPr indent="0" marL="0">
              <a:buNone/>
            </a:pPr>
            <a:r>
              <a:rPr lang="en-US" sz="1150" dirty="0">
                <a:solidFill>
                  <a:srgbClr val="E4E9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pca = PCA().fit(Xs)</a:t>
            </a:r>
            <a:endParaRPr lang="en-US" sz="1150" dirty="0"/>
          </a:p>
          <a:p>
            <a:pPr indent="0" marL="0">
              <a:buNone/>
            </a:pPr>
            <a:r>
              <a:rPr lang="en-US" sz="1150" dirty="0">
                <a:solidFill>
                  <a:srgbClr val="E4E9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endParaRPr lang="en-US" sz="1150" dirty="0"/>
          </a:p>
          <a:p>
            <a:pPr indent="0" marL="0">
              <a:buNone/>
            </a:pPr>
            <a:r>
              <a:rPr lang="en-US" sz="1150" dirty="0">
                <a:solidFill>
                  <a:srgbClr val="E4E9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ev  = (pca.explained_variance_ratio_ * 100).round(1)</a:t>
            </a:r>
            <a:endParaRPr lang="en-US" sz="1150" dirty="0"/>
          </a:p>
          <a:p>
            <a:pPr indent="0" marL="0">
              <a:buNone/>
            </a:pPr>
            <a:r>
              <a:rPr lang="en-US" sz="1150" dirty="0">
                <a:solidFill>
                  <a:srgbClr val="E4E9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print(ev)                 # [28.5 18.7 14.3 11.5 9.6 6.8 5.9 4.8]</a:t>
            </a:r>
            <a:endParaRPr lang="en-US" sz="1150" dirty="0"/>
          </a:p>
          <a:p>
            <a:pPr indent="0" marL="0">
              <a:buNone/>
            </a:pPr>
            <a:r>
              <a:rPr lang="en-US" sz="1150" dirty="0">
                <a:solidFill>
                  <a:srgbClr val="E4E9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print(ev.cumsum())        # where does it reach 80%?</a:t>
            </a:r>
            <a:endParaRPr lang="en-US" sz="1150" dirty="0"/>
          </a:p>
          <a:p>
            <a:pPr indent="0" marL="0">
              <a:buNone/>
            </a:pPr>
            <a:r>
              <a:rPr lang="en-US" sz="1150" dirty="0">
                <a:solidFill>
                  <a:srgbClr val="E4E9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endParaRPr lang="en-US" sz="1150" dirty="0"/>
          </a:p>
          <a:p>
            <a:pPr indent="0" marL="0">
              <a:buNone/>
            </a:pPr>
            <a:r>
              <a:rPr lang="en-US" sz="1150" dirty="0">
                <a:solidFill>
                  <a:srgbClr val="7FA8A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 what is PC1 actually made of?</a:t>
            </a:r>
            <a:endParaRPr lang="en-US" sz="1150" dirty="0"/>
          </a:p>
          <a:p>
            <a:pPr indent="0" marL="0">
              <a:buNone/>
            </a:pPr>
            <a:r>
              <a:rPr lang="en-US" sz="1150" dirty="0">
                <a:solidFill>
                  <a:srgbClr val="E4E9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loadings = pd.DataFrame(pca.components_[:3].T,</a:t>
            </a:r>
            <a:endParaRPr lang="en-US" sz="1150" dirty="0"/>
          </a:p>
          <a:p>
            <a:pPr indent="0" marL="0">
              <a:buNone/>
            </a:pPr>
            <a:r>
              <a:rPr lang="en-US" sz="1150" dirty="0">
                <a:solidFill>
                  <a:srgbClr val="E4E9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                columns=['PC1','PC2','PC3'],</a:t>
            </a:r>
            <a:endParaRPr lang="en-US" sz="1150" dirty="0"/>
          </a:p>
          <a:p>
            <a:pPr indent="0" marL="0">
              <a:buNone/>
            </a:pPr>
            <a:r>
              <a:rPr lang="en-US" sz="1150" dirty="0">
                <a:solidFill>
                  <a:srgbClr val="E4E9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                index=X.columns)</a:t>
            </a:r>
            <a:endParaRPr lang="en-US" sz="1150" dirty="0"/>
          </a:p>
          <a:p>
            <a:pPr indent="0" marL="0">
              <a:buNone/>
            </a:pPr>
            <a:r>
              <a:rPr lang="en-US" sz="1150" dirty="0">
                <a:solidFill>
                  <a:srgbClr val="E4E9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loadings.round(2).sort_values('PC1', key=abs, ascending=False)</a:t>
            </a:r>
            <a:endParaRPr lang="en-US" sz="1150" dirty="0"/>
          </a:p>
        </p:txBody>
      </p:sp>
      <p:sp>
        <p:nvSpPr>
          <p:cNvPr id="6" name="Text 4"/>
          <p:cNvSpPr/>
          <p:nvPr/>
        </p:nvSpPr>
        <p:spPr>
          <a:xfrm>
            <a:off x="7955463" y="1828800"/>
            <a:ext cx="3639129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4E375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last block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7955463" y="2286000"/>
            <a:ext cx="3639129" cy="3291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228600" indent="-228600">
              <a:spcAft>
                <a:spcPts val="800"/>
              </a:spcAft>
              <a:buSzPct val="100000"/>
              <a:buChar char="•"/>
            </a:pPr>
            <a:r>
              <a:rPr lang="en-US" sz="1250" dirty="0">
                <a:solidFill>
                  <a:srgbClr val="5A64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Loadings are what turn PCA from a black box into an interpretation</a:t>
            </a:r>
            <a:endParaRPr lang="en-US" sz="1250" dirty="0"/>
          </a:p>
          <a:p>
            <a:pPr marL="228600" indent="-228600">
              <a:spcAft>
                <a:spcPts val="800"/>
              </a:spcAft>
              <a:buSzPct val="100000"/>
              <a:buChar char="•"/>
            </a:pPr>
            <a:r>
              <a:rPr lang="en-US" sz="1250" dirty="0">
                <a:solidFill>
                  <a:srgbClr val="5A64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Sort by absolute loading to find the variables that define the axis</a:t>
            </a:r>
            <a:endParaRPr lang="en-US" sz="1250" dirty="0"/>
          </a:p>
          <a:p>
            <a:pPr marL="228600" indent="-228600">
              <a:spcAft>
                <a:spcPts val="800"/>
              </a:spcAft>
              <a:buSzPct val="100000"/>
              <a:buChar char="•"/>
            </a:pPr>
            <a:r>
              <a:rPr lang="en-US" sz="1250" dirty="0">
                <a:solidFill>
                  <a:srgbClr val="5A64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Then give the component a name and use that name in the report</a:t>
            </a:r>
            <a:endParaRPr lang="en-US" sz="1250" dirty="0"/>
          </a:p>
        </p:txBody>
      </p:sp>
      <p:sp>
        <p:nvSpPr>
          <p:cNvPr id="8" name="Text 6"/>
          <p:cNvSpPr/>
          <p:nvPr/>
        </p:nvSpPr>
        <p:spPr>
          <a:xfrm>
            <a:off x="566928" y="6437376"/>
            <a:ext cx="64008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8B91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DATA209 · Module 4 — Feature Engineering &amp; Structure</a:t>
            </a:r>
            <a:endParaRPr lang="en-US" sz="900" dirty="0"/>
          </a:p>
        </p:txBody>
      </p:sp>
      <p:sp>
        <p:nvSpPr>
          <p:cNvPr id="9" name="Text 7"/>
          <p:cNvSpPr/>
          <p:nvPr/>
        </p:nvSpPr>
        <p:spPr>
          <a:xfrm>
            <a:off x="10954512" y="6437376"/>
            <a:ext cx="6400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8B919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27</a:t>
            </a:r>
            <a:endParaRPr lang="en-US" sz="900" dirty="0"/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8">
    <p:bg>
      <p:bgPr>
        <a:solidFill>
          <a:srgbClr val="F2F4F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66928" y="457200"/>
            <a:ext cx="237744" cy="237744"/>
          </a:xfrm>
          <a:prstGeom prst="rect">
            <a:avLst/>
          </a:prstGeom>
          <a:solidFill>
            <a:srgbClr val="6B4C7A"/>
          </a:solidFill>
          <a:ln/>
        </p:spPr>
      </p:sp>
      <p:sp>
        <p:nvSpPr>
          <p:cNvPr id="3" name="Text 1"/>
          <p:cNvSpPr/>
          <p:nvPr/>
        </p:nvSpPr>
        <p:spPr>
          <a:xfrm>
            <a:off x="950976" y="402336"/>
            <a:ext cx="54864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160" kern="0" dirty="0">
                <a:solidFill>
                  <a:srgbClr val="4E375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PRACTICE SESSION P27–28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566928" y="841248"/>
            <a:ext cx="11027664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000" b="1" dirty="0">
                <a:solidFill>
                  <a:srgbClr val="1B2229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PCA in practice</a:t>
            </a:r>
            <a:endParaRPr lang="en-US" sz="3000" dirty="0"/>
          </a:p>
        </p:txBody>
      </p:sp>
      <p:sp>
        <p:nvSpPr>
          <p:cNvPr id="5" name="Shape 3"/>
          <p:cNvSpPr/>
          <p:nvPr/>
        </p:nvSpPr>
        <p:spPr>
          <a:xfrm>
            <a:off x="566928" y="1664208"/>
            <a:ext cx="6175492" cy="3566160"/>
          </a:xfrm>
          <a:prstGeom prst="roundRect">
            <a:avLst>
              <a:gd name="adj" fmla="val 1795"/>
            </a:avLst>
          </a:prstGeom>
          <a:solidFill>
            <a:srgbClr val="FFFFFF"/>
          </a:solidFill>
          <a:ln w="11430">
            <a:solidFill>
              <a:srgbClr val="D8DDE0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859536" y="1865376"/>
            <a:ext cx="559027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4E375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you do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877824" y="2286000"/>
            <a:ext cx="5553700" cy="2834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254000" indent="-254000">
              <a:spcAft>
                <a:spcPts val="900"/>
              </a:spcAft>
              <a:buSzPct val="100000"/>
              <a:buFont typeface="+mj-lt"/>
              <a:buAutoNum type="arabicPeriod" startAt="1"/>
            </a:pPr>
            <a:r>
              <a:rPr lang="en-US" sz="1350" dirty="0">
                <a:solidFill>
                  <a:srgbClr val="5A64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Standardise the features and fit PCA, retaining all components</a:t>
            </a:r>
            <a:endParaRPr lang="en-US" sz="1350" dirty="0"/>
          </a:p>
          <a:p>
            <a:pPr marL="254000" indent="-254000">
              <a:spcAft>
                <a:spcPts val="900"/>
              </a:spcAft>
              <a:buSzPct val="100000"/>
              <a:buFont typeface="+mj-lt"/>
              <a:buAutoNum type="arabicPeriod" startAt="1"/>
            </a:pPr>
            <a:r>
              <a:rPr lang="en-US" sz="1350" dirty="0">
                <a:solidFill>
                  <a:srgbClr val="5A64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Plot the scree and the cumulative variance curve, and choose a retention threshold</a:t>
            </a:r>
            <a:endParaRPr lang="en-US" sz="1350" dirty="0"/>
          </a:p>
          <a:p>
            <a:pPr marL="254000" indent="-254000">
              <a:spcAft>
                <a:spcPts val="900"/>
              </a:spcAft>
              <a:buSzPct val="100000"/>
              <a:buFont typeface="+mj-lt"/>
              <a:buAutoNum type="arabicPeriod" startAt="1"/>
            </a:pPr>
            <a:r>
              <a:rPr lang="en-US" sz="1350" dirty="0">
                <a:solidFill>
                  <a:srgbClr val="5A64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State how many components you keep and justify the cut</a:t>
            </a:r>
            <a:endParaRPr lang="en-US" sz="1350" dirty="0"/>
          </a:p>
          <a:p>
            <a:pPr marL="254000" indent="-254000">
              <a:spcAft>
                <a:spcPts val="900"/>
              </a:spcAft>
              <a:buSzPct val="100000"/>
              <a:buFont typeface="+mj-lt"/>
              <a:buAutoNum type="arabicPeriod" startAt="1"/>
            </a:pPr>
            <a:r>
              <a:rPr lang="en-US" sz="1350" dirty="0">
                <a:solidFill>
                  <a:srgbClr val="5A64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Extract the loadings for the first three components and name each one</a:t>
            </a:r>
            <a:endParaRPr lang="en-US" sz="1350" dirty="0"/>
          </a:p>
          <a:p>
            <a:pPr marL="254000" indent="-254000">
              <a:spcAft>
                <a:spcPts val="900"/>
              </a:spcAft>
              <a:buSzPct val="100000"/>
              <a:buFont typeface="+mj-lt"/>
              <a:buAutoNum type="arabicPeriod" startAt="1"/>
            </a:pPr>
            <a:r>
              <a:rPr lang="en-US" sz="1350" dirty="0">
                <a:solidFill>
                  <a:srgbClr val="5A64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Project onto the first two components and plot, coloured by the outcome</a:t>
            </a:r>
            <a:endParaRPr lang="en-US" sz="1350" dirty="0"/>
          </a:p>
          <a:p>
            <a:pPr marL="254000" indent="-254000">
              <a:spcAft>
                <a:spcPts val="900"/>
              </a:spcAft>
              <a:buSzPct val="100000"/>
              <a:buFont typeface="+mj-lt"/>
              <a:buAutoNum type="arabicPeriod" startAt="1"/>
            </a:pPr>
            <a:r>
              <a:rPr lang="en-US" sz="1350" dirty="0">
                <a:solidFill>
                  <a:srgbClr val="5A64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Compare the PCA projection with a t-SNE projection and state what each is good for</a:t>
            </a:r>
            <a:endParaRPr lang="en-US" sz="1350" dirty="0"/>
          </a:p>
        </p:txBody>
      </p:sp>
      <p:sp>
        <p:nvSpPr>
          <p:cNvPr id="8" name="Shape 6"/>
          <p:cNvSpPr/>
          <p:nvPr/>
        </p:nvSpPr>
        <p:spPr>
          <a:xfrm>
            <a:off x="7183526" y="1664208"/>
            <a:ext cx="4411066" cy="1051560"/>
          </a:xfrm>
          <a:prstGeom prst="roundRect">
            <a:avLst>
              <a:gd name="adj" fmla="val 5217"/>
            </a:avLst>
          </a:prstGeom>
          <a:solidFill>
            <a:srgbClr val="FFFFFF"/>
          </a:solidFill>
          <a:ln w="11430">
            <a:solidFill>
              <a:srgbClr val="D8DDE0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7421270" y="1810512"/>
            <a:ext cx="3935578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spc="120" kern="0" dirty="0">
                <a:solidFill>
                  <a:srgbClr val="8B919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DATASET</a:t>
            </a:r>
            <a:endParaRPr lang="en-US" sz="950" dirty="0"/>
          </a:p>
        </p:txBody>
      </p:sp>
      <p:sp>
        <p:nvSpPr>
          <p:cNvPr id="10" name="Text 8"/>
          <p:cNvSpPr/>
          <p:nvPr/>
        </p:nvSpPr>
        <p:spPr>
          <a:xfrm>
            <a:off x="7421270" y="2066544"/>
            <a:ext cx="3935578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1B222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pima.csv · California Housing</a:t>
            </a:r>
            <a:endParaRPr lang="en-US" sz="1300" dirty="0"/>
          </a:p>
        </p:txBody>
      </p:sp>
      <p:sp>
        <p:nvSpPr>
          <p:cNvPr id="11" name="Shape 9"/>
          <p:cNvSpPr/>
          <p:nvPr/>
        </p:nvSpPr>
        <p:spPr>
          <a:xfrm>
            <a:off x="7183526" y="2807208"/>
            <a:ext cx="4411066" cy="1298448"/>
          </a:xfrm>
          <a:prstGeom prst="roundRect">
            <a:avLst>
              <a:gd name="adj" fmla="val 4225"/>
            </a:avLst>
          </a:prstGeom>
          <a:solidFill>
            <a:srgbClr val="FFFFFF"/>
          </a:solidFill>
          <a:ln w="11430">
            <a:solidFill>
              <a:srgbClr val="D8DDE0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7421270" y="2953512"/>
            <a:ext cx="3935578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spc="120" kern="0" dirty="0">
                <a:solidFill>
                  <a:srgbClr val="8B919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NOTEBOOK IN THE COURSE DRIVE</a:t>
            </a:r>
            <a:endParaRPr lang="en-US" sz="950" dirty="0"/>
          </a:p>
        </p:txBody>
      </p:sp>
      <p:sp>
        <p:nvSpPr>
          <p:cNvPr id="13" name="Text 11"/>
          <p:cNvSpPr/>
          <p:nvPr/>
        </p:nvSpPr>
        <p:spPr>
          <a:xfrm>
            <a:off x="7421270" y="3209544"/>
            <a:ext cx="3935578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1B222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curse_dimensionality_and_reduction.ipynb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1B222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curse_of_dimensionality_explained.ipynb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1B222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curse_of_dimensionality_demo.ipynb</a:t>
            </a:r>
            <a:endParaRPr lang="en-US" sz="1100" dirty="0"/>
          </a:p>
        </p:txBody>
      </p:sp>
      <p:sp>
        <p:nvSpPr>
          <p:cNvPr id="14" name="Shape 12"/>
          <p:cNvSpPr/>
          <p:nvPr/>
        </p:nvSpPr>
        <p:spPr>
          <a:xfrm>
            <a:off x="7183526" y="4215384"/>
            <a:ext cx="4411066" cy="1014984"/>
          </a:xfrm>
          <a:prstGeom prst="roundRect">
            <a:avLst>
              <a:gd name="adj" fmla="val 5405"/>
            </a:avLst>
          </a:prstGeom>
          <a:solidFill>
            <a:srgbClr val="FFFFFF"/>
          </a:solidFill>
          <a:ln w="11430">
            <a:solidFill>
              <a:srgbClr val="D8DDE0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7421270" y="4361688"/>
            <a:ext cx="3935578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spc="120" kern="0" dirty="0">
                <a:solidFill>
                  <a:srgbClr val="8B919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SUBMIT</a:t>
            </a:r>
            <a:endParaRPr lang="en-US" sz="950" dirty="0"/>
          </a:p>
        </p:txBody>
      </p:sp>
      <p:sp>
        <p:nvSpPr>
          <p:cNvPr id="16" name="Text 14"/>
          <p:cNvSpPr/>
          <p:nvPr/>
        </p:nvSpPr>
        <p:spPr>
          <a:xfrm>
            <a:off x="7421270" y="4617720"/>
            <a:ext cx="3935578" cy="4663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1B222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notebook with a named interpretation for each retained component.</a:t>
            </a:r>
            <a:endParaRPr lang="en-US" sz="1300" dirty="0"/>
          </a:p>
        </p:txBody>
      </p:sp>
      <p:sp>
        <p:nvSpPr>
          <p:cNvPr id="17" name="Text 15"/>
          <p:cNvSpPr/>
          <p:nvPr/>
        </p:nvSpPr>
        <p:spPr>
          <a:xfrm>
            <a:off x="566928" y="6437376"/>
            <a:ext cx="64008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8B91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DATA209 · Module 4 — Feature Engineering &amp; Structure</a:t>
            </a:r>
            <a:endParaRPr lang="en-US" sz="900" dirty="0"/>
          </a:p>
        </p:txBody>
      </p:sp>
      <p:sp>
        <p:nvSpPr>
          <p:cNvPr id="18" name="Text 16"/>
          <p:cNvSpPr/>
          <p:nvPr/>
        </p:nvSpPr>
        <p:spPr>
          <a:xfrm>
            <a:off x="10954512" y="6437376"/>
            <a:ext cx="6400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8B919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28</a:t>
            </a:r>
            <a:endParaRPr lang="en-US" sz="900" dirty="0"/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9">
    <p:bg>
      <p:bgPr>
        <a:solidFill>
          <a:srgbClr val="4E375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66928" y="2286000"/>
            <a:ext cx="2926080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600" b="1" dirty="0">
                <a:solidFill>
                  <a:srgbClr val="6B4C7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L29–30</a:t>
            </a:r>
            <a:endParaRPr lang="en-US" sz="7600" dirty="0"/>
          </a:p>
        </p:txBody>
      </p:sp>
      <p:sp>
        <p:nvSpPr>
          <p:cNvPr id="3" name="Shape 1"/>
          <p:cNvSpPr/>
          <p:nvPr/>
        </p:nvSpPr>
        <p:spPr>
          <a:xfrm>
            <a:off x="2944368" y="2395728"/>
            <a:ext cx="18288" cy="1371600"/>
          </a:xfrm>
          <a:prstGeom prst="rect">
            <a:avLst/>
          </a:prstGeom>
          <a:solidFill>
            <a:srgbClr val="6E7C86"/>
          </a:solidFill>
          <a:ln/>
        </p:spPr>
      </p:sp>
      <p:sp>
        <p:nvSpPr>
          <p:cNvPr id="4" name="Text 2"/>
          <p:cNvSpPr/>
          <p:nvPr/>
        </p:nvSpPr>
        <p:spPr>
          <a:xfrm>
            <a:off x="3310128" y="2286000"/>
            <a:ext cx="8193024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Closing the loop</a:t>
            </a:r>
            <a:endParaRPr lang="en-US" sz="3400" dirty="0"/>
          </a:p>
        </p:txBody>
      </p:sp>
      <p:sp>
        <p:nvSpPr>
          <p:cNvPr id="5" name="Text 3"/>
          <p:cNvSpPr/>
          <p:nvPr/>
        </p:nvSpPr>
        <p:spPr>
          <a:xfrm>
            <a:off x="3310128" y="3127248"/>
            <a:ext cx="7918704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C3CCD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Hypothesis refinement · splitting and cross-validation · data leakage · turning EDA into insight</a:t>
            </a:r>
            <a:endParaRPr lang="en-US" sz="1500" dirty="0"/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66928" y="384048"/>
            <a:ext cx="1102766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spc="160" kern="0" dirty="0">
                <a:solidFill>
                  <a:srgbClr val="6B4C7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L29 · SPLITTING</a:t>
            </a:r>
            <a:endParaRPr lang="en-US" sz="1050" dirty="0"/>
          </a:p>
        </p:txBody>
      </p:sp>
      <p:sp>
        <p:nvSpPr>
          <p:cNvPr id="3" name="Text 1"/>
          <p:cNvSpPr/>
          <p:nvPr/>
        </p:nvSpPr>
        <p:spPr>
          <a:xfrm>
            <a:off x="566928" y="676656"/>
            <a:ext cx="11027664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000" b="1" dirty="0">
                <a:solidFill>
                  <a:srgbClr val="1B2229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Train, test, and the rules that govern them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566928" y="1783080"/>
            <a:ext cx="6616598" cy="3931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228600" indent="-228600">
              <a:spcAft>
                <a:spcPts val="900"/>
              </a:spcAft>
              <a:buSzPct val="100000"/>
              <a:buChar char="•"/>
            </a:pPr>
            <a:r>
              <a:rPr lang="en-US" sz="1500" b="1" dirty="0">
                <a:solidFill>
                  <a:srgbClr val="1B222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test set exists to estimate performance on data the process has never seen. Touch it once.</a:t>
            </a:r>
            <a:endParaRPr lang="en-US" sz="1500" dirty="0"/>
          </a:p>
          <a:p>
            <a:pPr marL="228600" indent="-228600">
              <a:spcAft>
                <a:spcPts val="900"/>
              </a:spcAft>
              <a:buSzPct val="100000"/>
              <a:buChar char="•"/>
            </a:pPr>
            <a:r>
              <a:rPr lang="en-US" sz="1500" dirty="0">
                <a:solidFill>
                  <a:srgbClr val="5A64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Split before imputing, scaling, encoding, selecting or transforming — before everything</a:t>
            </a:r>
            <a:endParaRPr lang="en-US" sz="1500" dirty="0"/>
          </a:p>
          <a:p>
            <a:pPr marL="228600" indent="-228600">
              <a:spcAft>
                <a:spcPts val="900"/>
              </a:spcAft>
              <a:buSzPct val="100000"/>
              <a:buChar char="•"/>
            </a:pPr>
            <a:r>
              <a:rPr lang="en-US" sz="1500" dirty="0">
                <a:solidFill>
                  <a:srgbClr val="5A64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Stratify on the target when classes are imbalanced: Pima is 65 / 35, shoppers roughly 85 / 15</a:t>
            </a:r>
            <a:endParaRPr lang="en-US" sz="1500" dirty="0"/>
          </a:p>
          <a:p>
            <a:pPr marL="228600" indent="-228600">
              <a:spcAft>
                <a:spcPts val="900"/>
              </a:spcAft>
              <a:buSzPct val="100000"/>
              <a:buChar char="•"/>
            </a:pPr>
            <a:r>
              <a:rPr lang="en-US" sz="1500" dirty="0">
                <a:solidFill>
                  <a:srgbClr val="5A64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Time-ordered data requires a time-based split — train on the past, test on the future, never shuffle</a:t>
            </a:r>
            <a:endParaRPr lang="en-US" sz="1500" dirty="0"/>
          </a:p>
          <a:p>
            <a:pPr marL="228600" indent="-228600">
              <a:spcAft>
                <a:spcPts val="900"/>
              </a:spcAft>
              <a:buSzPct val="100000"/>
              <a:buChar char="•"/>
            </a:pPr>
            <a:r>
              <a:rPr lang="en-US" sz="1500" dirty="0">
                <a:solidFill>
                  <a:srgbClr val="5A64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Grouped data must be split by group: all records for one patient belong to one side of the split</a:t>
            </a:r>
            <a:endParaRPr lang="en-US" sz="1500" dirty="0"/>
          </a:p>
          <a:p>
            <a:pPr marL="228600" indent="-228600">
              <a:spcAft>
                <a:spcPts val="900"/>
              </a:spcAft>
              <a:buSzPct val="100000"/>
              <a:buChar char="•"/>
            </a:pPr>
            <a:r>
              <a:rPr lang="en-US" sz="1500" dirty="0">
                <a:solidFill>
                  <a:srgbClr val="5A64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Set and record a random seed so the marker reproduces exactly what you saw</a:t>
            </a:r>
            <a:endParaRPr lang="en-US" sz="1500" dirty="0"/>
          </a:p>
        </p:txBody>
      </p:sp>
      <p:sp>
        <p:nvSpPr>
          <p:cNvPr id="5" name="Shape 3"/>
          <p:cNvSpPr/>
          <p:nvPr/>
        </p:nvSpPr>
        <p:spPr>
          <a:xfrm>
            <a:off x="7624633" y="1783080"/>
            <a:ext cx="3969959" cy="3154680"/>
          </a:xfrm>
          <a:prstGeom prst="roundRect">
            <a:avLst>
              <a:gd name="adj" fmla="val 1739"/>
            </a:avLst>
          </a:prstGeom>
          <a:solidFill>
            <a:srgbClr val="EFE8F2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7880665" y="1993392"/>
            <a:ext cx="3457895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4E375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Split types</a:t>
            </a:r>
            <a:endParaRPr lang="en-US" sz="1300" dirty="0"/>
          </a:p>
        </p:txBody>
      </p:sp>
      <p:sp>
        <p:nvSpPr>
          <p:cNvPr id="7" name="Text 5"/>
          <p:cNvSpPr/>
          <p:nvPr/>
        </p:nvSpPr>
        <p:spPr>
          <a:xfrm>
            <a:off x="7880665" y="2395728"/>
            <a:ext cx="3457895" cy="2377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228600" indent="-228600">
              <a:spcAft>
                <a:spcPts val="600"/>
              </a:spcAft>
              <a:buSzPct val="100000"/>
              <a:buChar char="•"/>
            </a:pPr>
            <a:r>
              <a:rPr lang="en-US" sz="1250" dirty="0">
                <a:solidFill>
                  <a:srgbClr val="5A64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Random</a:t>
            </a:r>
            <a:endParaRPr lang="en-US" sz="1250" dirty="0"/>
          </a:p>
          <a:p>
            <a:pPr marL="228600" indent="-228600">
              <a:spcAft>
                <a:spcPts val="600"/>
              </a:spcAft>
              <a:buSzPct val="100000"/>
              <a:buChar char="•"/>
            </a:pPr>
            <a:r>
              <a:rPr lang="en-US" sz="1250" dirty="0">
                <a:solidFill>
                  <a:srgbClr val="5A64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Stratified</a:t>
            </a:r>
            <a:endParaRPr lang="en-US" sz="1250" dirty="0"/>
          </a:p>
          <a:p>
            <a:pPr marL="228600" indent="-228600">
              <a:spcAft>
                <a:spcPts val="600"/>
              </a:spcAft>
              <a:buSzPct val="100000"/>
              <a:buChar char="•"/>
            </a:pPr>
            <a:r>
              <a:rPr lang="en-US" sz="1250" dirty="0">
                <a:solidFill>
                  <a:srgbClr val="5A64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Time-based</a:t>
            </a:r>
            <a:endParaRPr lang="en-US" sz="1250" dirty="0"/>
          </a:p>
          <a:p>
            <a:pPr marL="228600" indent="-228600">
              <a:spcAft>
                <a:spcPts val="600"/>
              </a:spcAft>
              <a:buSzPct val="100000"/>
              <a:buChar char="•"/>
            </a:pPr>
            <a:r>
              <a:rPr lang="en-US" sz="1250" dirty="0">
                <a:solidFill>
                  <a:srgbClr val="5A64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Grouped</a:t>
            </a:r>
            <a:endParaRPr lang="en-US" sz="1250" dirty="0"/>
          </a:p>
          <a:p>
            <a:pPr marL="228600" indent="-228600">
              <a:spcAft>
                <a:spcPts val="600"/>
              </a:spcAft>
              <a:buSzPct val="100000"/>
              <a:buChar char="•"/>
            </a:pPr>
            <a:r>
              <a:rPr lang="en-US" sz="1250" dirty="0">
                <a:solidFill>
                  <a:srgbClr val="5A64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Nested (with tuning)</a:t>
            </a:r>
            <a:endParaRPr lang="en-US" sz="1250" dirty="0"/>
          </a:p>
        </p:txBody>
      </p:sp>
      <p:sp>
        <p:nvSpPr>
          <p:cNvPr id="8" name="Text 6"/>
          <p:cNvSpPr/>
          <p:nvPr/>
        </p:nvSpPr>
        <p:spPr>
          <a:xfrm>
            <a:off x="566928" y="5833872"/>
            <a:ext cx="10661904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rgbClr val="4E375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random split on time-series data is the second most common leakage path in submitted projects.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566928" y="6437376"/>
            <a:ext cx="64008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8B91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DATA209 · Module 4 — Feature Engineering &amp; Structure</a:t>
            </a:r>
            <a:endParaRPr lang="en-US" sz="900" dirty="0"/>
          </a:p>
        </p:txBody>
      </p:sp>
      <p:sp>
        <p:nvSpPr>
          <p:cNvPr id="10" name="Text 8"/>
          <p:cNvSpPr/>
          <p:nvPr/>
        </p:nvSpPr>
        <p:spPr>
          <a:xfrm>
            <a:off x="10954512" y="6437376"/>
            <a:ext cx="6400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8B919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30</a:t>
            </a:r>
            <a:endParaRPr lang="en-US" sz="900" dirty="0"/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66928" y="384048"/>
            <a:ext cx="1102766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spc="160" kern="0" dirty="0">
                <a:solidFill>
                  <a:srgbClr val="6B4C7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L29 · CROSS-VALIDATION</a:t>
            </a:r>
            <a:endParaRPr lang="en-US" sz="1050" dirty="0"/>
          </a:p>
        </p:txBody>
      </p:sp>
      <p:sp>
        <p:nvSpPr>
          <p:cNvPr id="3" name="Text 1"/>
          <p:cNvSpPr/>
          <p:nvPr/>
        </p:nvSpPr>
        <p:spPr>
          <a:xfrm>
            <a:off x="566928" y="676656"/>
            <a:ext cx="11027664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000" b="1" dirty="0">
                <a:solidFill>
                  <a:srgbClr val="1B2229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Why one split is not enough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566928" y="1783080"/>
            <a:ext cx="5367528" cy="1842516"/>
          </a:xfrm>
          <a:prstGeom prst="roundRect">
            <a:avLst>
              <a:gd name="adj" fmla="val 3474"/>
            </a:avLst>
          </a:prstGeom>
          <a:solidFill>
            <a:srgbClr val="FFFFFF"/>
          </a:solidFill>
          <a:ln w="11430">
            <a:solidFill>
              <a:srgbClr val="D8DDE0"/>
            </a:solidFill>
            <a:prstDash val="solid"/>
          </a:ln>
          <a:effectLst>
            <a:outerShdw sx="100000" sy="100000" kx="0" ky="0" algn="bl" rotWithShape="0" blurRad="88900" dist="12700" dir="5400000">
              <a:srgbClr val="9AA5AC">
                <a:alpha val="18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804672" y="2002536"/>
            <a:ext cx="402336" cy="402336"/>
          </a:xfrm>
          <a:prstGeom prst="ellipse">
            <a:avLst/>
          </a:prstGeom>
          <a:solidFill>
            <a:srgbClr val="EFE8F2"/>
          </a:solidFill>
          <a:ln/>
        </p:spPr>
      </p:sp>
      <p:sp>
        <p:nvSpPr>
          <p:cNvPr id="6" name="Text 4"/>
          <p:cNvSpPr/>
          <p:nvPr/>
        </p:nvSpPr>
        <p:spPr>
          <a:xfrm>
            <a:off x="804672" y="2002536"/>
            <a:ext cx="40233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4E375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</a:t>
            </a:r>
            <a:endParaRPr lang="en-US" sz="1300" dirty="0"/>
          </a:p>
        </p:txBody>
      </p:sp>
      <p:sp>
        <p:nvSpPr>
          <p:cNvPr id="7" name="Text 5"/>
          <p:cNvSpPr/>
          <p:nvPr/>
        </p:nvSpPr>
        <p:spPr>
          <a:xfrm>
            <a:off x="1316736" y="2002536"/>
            <a:ext cx="4361688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1B222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k-fold</a:t>
            </a:r>
            <a:endParaRPr lang="en-US" sz="1450" dirty="0"/>
          </a:p>
        </p:txBody>
      </p:sp>
      <p:sp>
        <p:nvSpPr>
          <p:cNvPr id="8" name="Text 6"/>
          <p:cNvSpPr/>
          <p:nvPr/>
        </p:nvSpPr>
        <p:spPr>
          <a:xfrm>
            <a:off x="822960" y="2532888"/>
            <a:ext cx="4855464" cy="9098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dirty="0">
                <a:solidFill>
                  <a:srgbClr val="5A64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Split into k parts; train on k−1 and test on the remainder, k times. Average the scores. k = 5 or 10 is standard.</a:t>
            </a:r>
            <a:endParaRPr lang="en-US" sz="1250" dirty="0"/>
          </a:p>
        </p:txBody>
      </p:sp>
      <p:sp>
        <p:nvSpPr>
          <p:cNvPr id="9" name="Shape 7"/>
          <p:cNvSpPr/>
          <p:nvPr/>
        </p:nvSpPr>
        <p:spPr>
          <a:xfrm>
            <a:off x="6227064" y="1783080"/>
            <a:ext cx="5367528" cy="1842516"/>
          </a:xfrm>
          <a:prstGeom prst="roundRect">
            <a:avLst>
              <a:gd name="adj" fmla="val 3474"/>
            </a:avLst>
          </a:prstGeom>
          <a:solidFill>
            <a:srgbClr val="FFFFFF"/>
          </a:solidFill>
          <a:ln w="11430">
            <a:solidFill>
              <a:srgbClr val="D8DDE0"/>
            </a:solidFill>
            <a:prstDash val="solid"/>
          </a:ln>
          <a:effectLst>
            <a:outerShdw sx="100000" sy="100000" kx="0" ky="0" algn="bl" rotWithShape="0" blurRad="88900" dist="12700" dir="5400000">
              <a:srgbClr val="9AA5AC">
                <a:alpha val="18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6464808" y="2002536"/>
            <a:ext cx="402336" cy="402336"/>
          </a:xfrm>
          <a:prstGeom prst="ellipse">
            <a:avLst/>
          </a:prstGeom>
          <a:solidFill>
            <a:srgbClr val="EFE8F2"/>
          </a:solidFill>
          <a:ln/>
        </p:spPr>
      </p:sp>
      <p:sp>
        <p:nvSpPr>
          <p:cNvPr id="11" name="Text 9"/>
          <p:cNvSpPr/>
          <p:nvPr/>
        </p:nvSpPr>
        <p:spPr>
          <a:xfrm>
            <a:off x="6464808" y="2002536"/>
            <a:ext cx="40233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4E375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2</a:t>
            </a:r>
            <a:endParaRPr lang="en-US" sz="1300" dirty="0"/>
          </a:p>
        </p:txBody>
      </p:sp>
      <p:sp>
        <p:nvSpPr>
          <p:cNvPr id="12" name="Text 10"/>
          <p:cNvSpPr/>
          <p:nvPr/>
        </p:nvSpPr>
        <p:spPr>
          <a:xfrm>
            <a:off x="6976872" y="2002536"/>
            <a:ext cx="4361688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1B222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Stratified k-fold</a:t>
            </a:r>
            <a:endParaRPr lang="en-US" sz="1450" dirty="0"/>
          </a:p>
        </p:txBody>
      </p:sp>
      <p:sp>
        <p:nvSpPr>
          <p:cNvPr id="13" name="Text 11"/>
          <p:cNvSpPr/>
          <p:nvPr/>
        </p:nvSpPr>
        <p:spPr>
          <a:xfrm>
            <a:off x="6483096" y="2532888"/>
            <a:ext cx="4855464" cy="9098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dirty="0">
                <a:solidFill>
                  <a:srgbClr val="5A64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k-fold preserving class proportions in every fold. The default for imbalanced classification.</a:t>
            </a:r>
            <a:endParaRPr lang="en-US" sz="1250" dirty="0"/>
          </a:p>
        </p:txBody>
      </p:sp>
      <p:sp>
        <p:nvSpPr>
          <p:cNvPr id="14" name="Shape 12"/>
          <p:cNvSpPr/>
          <p:nvPr/>
        </p:nvSpPr>
        <p:spPr>
          <a:xfrm>
            <a:off x="566928" y="3918204"/>
            <a:ext cx="5367528" cy="1842516"/>
          </a:xfrm>
          <a:prstGeom prst="roundRect">
            <a:avLst>
              <a:gd name="adj" fmla="val 3474"/>
            </a:avLst>
          </a:prstGeom>
          <a:solidFill>
            <a:srgbClr val="FFFFFF"/>
          </a:solidFill>
          <a:ln w="11430">
            <a:solidFill>
              <a:srgbClr val="D8DDE0"/>
            </a:solidFill>
            <a:prstDash val="solid"/>
          </a:ln>
          <a:effectLst>
            <a:outerShdw sx="100000" sy="100000" kx="0" ky="0" algn="bl" rotWithShape="0" blurRad="88900" dist="12700" dir="5400000">
              <a:srgbClr val="9AA5AC">
                <a:alpha val="18000"/>
              </a:srgbClr>
            </a:outerShdw>
          </a:effectLst>
        </p:spPr>
      </p:sp>
      <p:sp>
        <p:nvSpPr>
          <p:cNvPr id="15" name="Shape 13"/>
          <p:cNvSpPr/>
          <p:nvPr/>
        </p:nvSpPr>
        <p:spPr>
          <a:xfrm>
            <a:off x="804672" y="4137660"/>
            <a:ext cx="402336" cy="402336"/>
          </a:xfrm>
          <a:prstGeom prst="ellipse">
            <a:avLst/>
          </a:prstGeom>
          <a:solidFill>
            <a:srgbClr val="EFE8F2"/>
          </a:solidFill>
          <a:ln/>
        </p:spPr>
      </p:sp>
      <p:sp>
        <p:nvSpPr>
          <p:cNvPr id="16" name="Text 14"/>
          <p:cNvSpPr/>
          <p:nvPr/>
        </p:nvSpPr>
        <p:spPr>
          <a:xfrm>
            <a:off x="804672" y="4137660"/>
            <a:ext cx="40233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4E375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3</a:t>
            </a:r>
            <a:endParaRPr lang="en-US" sz="1300" dirty="0"/>
          </a:p>
        </p:txBody>
      </p:sp>
      <p:sp>
        <p:nvSpPr>
          <p:cNvPr id="17" name="Text 15"/>
          <p:cNvSpPr/>
          <p:nvPr/>
        </p:nvSpPr>
        <p:spPr>
          <a:xfrm>
            <a:off x="1316736" y="4137660"/>
            <a:ext cx="4361688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1B222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Time-series split</a:t>
            </a:r>
            <a:endParaRPr lang="en-US" sz="1450" dirty="0"/>
          </a:p>
        </p:txBody>
      </p:sp>
      <p:sp>
        <p:nvSpPr>
          <p:cNvPr id="18" name="Text 16"/>
          <p:cNvSpPr/>
          <p:nvPr/>
        </p:nvSpPr>
        <p:spPr>
          <a:xfrm>
            <a:off x="822960" y="4668012"/>
            <a:ext cx="4855464" cy="9098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dirty="0">
                <a:solidFill>
                  <a:srgbClr val="5A64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Expanding or rolling windows that always train on earlier data than they test on.</a:t>
            </a:r>
            <a:endParaRPr lang="en-US" sz="1250" dirty="0"/>
          </a:p>
        </p:txBody>
      </p:sp>
      <p:sp>
        <p:nvSpPr>
          <p:cNvPr id="19" name="Shape 17"/>
          <p:cNvSpPr/>
          <p:nvPr/>
        </p:nvSpPr>
        <p:spPr>
          <a:xfrm>
            <a:off x="6227064" y="3918204"/>
            <a:ext cx="5367528" cy="1842516"/>
          </a:xfrm>
          <a:prstGeom prst="roundRect">
            <a:avLst>
              <a:gd name="adj" fmla="val 3474"/>
            </a:avLst>
          </a:prstGeom>
          <a:solidFill>
            <a:srgbClr val="FFFFFF"/>
          </a:solidFill>
          <a:ln w="11430">
            <a:solidFill>
              <a:srgbClr val="D8DDE0"/>
            </a:solidFill>
            <a:prstDash val="solid"/>
          </a:ln>
          <a:effectLst>
            <a:outerShdw sx="100000" sy="100000" kx="0" ky="0" algn="bl" rotWithShape="0" blurRad="88900" dist="12700" dir="5400000">
              <a:srgbClr val="9AA5AC">
                <a:alpha val="18000"/>
              </a:srgbClr>
            </a:outerShdw>
          </a:effectLst>
        </p:spPr>
      </p:sp>
      <p:sp>
        <p:nvSpPr>
          <p:cNvPr id="20" name="Shape 18"/>
          <p:cNvSpPr/>
          <p:nvPr/>
        </p:nvSpPr>
        <p:spPr>
          <a:xfrm>
            <a:off x="6464808" y="4137660"/>
            <a:ext cx="402336" cy="402336"/>
          </a:xfrm>
          <a:prstGeom prst="ellipse">
            <a:avLst/>
          </a:prstGeom>
          <a:solidFill>
            <a:srgbClr val="EFE8F2"/>
          </a:solidFill>
          <a:ln/>
        </p:spPr>
      </p:sp>
      <p:sp>
        <p:nvSpPr>
          <p:cNvPr id="21" name="Text 19"/>
          <p:cNvSpPr/>
          <p:nvPr/>
        </p:nvSpPr>
        <p:spPr>
          <a:xfrm>
            <a:off x="6464808" y="4137660"/>
            <a:ext cx="40233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4E375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4</a:t>
            </a:r>
            <a:endParaRPr lang="en-US" sz="1300" dirty="0"/>
          </a:p>
        </p:txBody>
      </p:sp>
      <p:sp>
        <p:nvSpPr>
          <p:cNvPr id="22" name="Text 20"/>
          <p:cNvSpPr/>
          <p:nvPr/>
        </p:nvSpPr>
        <p:spPr>
          <a:xfrm>
            <a:off x="6976872" y="4137660"/>
            <a:ext cx="4361688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1B222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Group k-fold</a:t>
            </a:r>
            <a:endParaRPr lang="en-US" sz="1450" dirty="0"/>
          </a:p>
        </p:txBody>
      </p:sp>
      <p:sp>
        <p:nvSpPr>
          <p:cNvPr id="23" name="Text 21"/>
          <p:cNvSpPr/>
          <p:nvPr/>
        </p:nvSpPr>
        <p:spPr>
          <a:xfrm>
            <a:off x="6483096" y="4668012"/>
            <a:ext cx="4855464" cy="9098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dirty="0">
                <a:solidFill>
                  <a:srgbClr val="5A64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Keeps all records from one group together, so no entity appears in both train and test.</a:t>
            </a:r>
            <a:endParaRPr lang="en-US" sz="1250" dirty="0"/>
          </a:p>
        </p:txBody>
      </p:sp>
      <p:sp>
        <p:nvSpPr>
          <p:cNvPr id="24" name="Text 22"/>
          <p:cNvSpPr/>
          <p:nvPr/>
        </p:nvSpPr>
        <p:spPr>
          <a:xfrm>
            <a:off x="566928" y="6437376"/>
            <a:ext cx="64008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8B91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DATA209 · Module 4 — Feature Engineering &amp; Structure</a:t>
            </a:r>
            <a:endParaRPr lang="en-US" sz="900" dirty="0"/>
          </a:p>
        </p:txBody>
      </p:sp>
      <p:sp>
        <p:nvSpPr>
          <p:cNvPr id="25" name="Text 23"/>
          <p:cNvSpPr/>
          <p:nvPr/>
        </p:nvSpPr>
        <p:spPr>
          <a:xfrm>
            <a:off x="10954512" y="6437376"/>
            <a:ext cx="6400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8B919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31</a:t>
            </a:r>
            <a:endParaRPr lang="en-US" sz="900" dirty="0"/>
          </a:p>
        </p:txBody>
      </p:sp>
    </p:spTree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2">
    <p:bg>
      <p:bgPr>
        <a:solidFill>
          <a:srgbClr val="EFE8F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66928" y="1828800"/>
            <a:ext cx="274320" cy="274320"/>
          </a:xfrm>
          <a:prstGeom prst="rect">
            <a:avLst/>
          </a:prstGeom>
          <a:solidFill>
            <a:srgbClr val="6B4C7A"/>
          </a:solidFill>
          <a:ln/>
        </p:spPr>
      </p:sp>
      <p:sp>
        <p:nvSpPr>
          <p:cNvPr id="3" name="Text 1"/>
          <p:cNvSpPr/>
          <p:nvPr/>
        </p:nvSpPr>
        <p:spPr>
          <a:xfrm>
            <a:off x="566928" y="2331720"/>
            <a:ext cx="9564624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8000"/>
              </a:lnSpc>
              <a:buNone/>
            </a:pPr>
            <a:r>
              <a:rPr lang="en-US" sz="3300" b="1" dirty="0">
                <a:solidFill>
                  <a:srgbClr val="1B2229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Data leakage is any path by which information from the test set — or from the future — reaches the training process.</a:t>
            </a:r>
            <a:endParaRPr lang="en-US" sz="3300" dirty="0"/>
          </a:p>
        </p:txBody>
      </p:sp>
      <p:sp>
        <p:nvSpPr>
          <p:cNvPr id="4" name="Text 2"/>
          <p:cNvSpPr/>
          <p:nvPr/>
        </p:nvSpPr>
        <p:spPr>
          <a:xfrm>
            <a:off x="566928" y="4434840"/>
            <a:ext cx="8650224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50" dirty="0">
                <a:solidFill>
                  <a:srgbClr val="5A64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It is the single most expensive error in applied data science, because it announces itself as excellent validation performance and only fails in production.</a:t>
            </a:r>
            <a:endParaRPr lang="en-US" sz="1550" dirty="0"/>
          </a:p>
        </p:txBody>
      </p:sp>
      <p:sp>
        <p:nvSpPr>
          <p:cNvPr id="5" name="Text 3"/>
          <p:cNvSpPr/>
          <p:nvPr/>
        </p:nvSpPr>
        <p:spPr>
          <a:xfrm>
            <a:off x="566928" y="6437376"/>
            <a:ext cx="64008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8B91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DATA209 · Module 4 — Feature Engineering &amp; Structure</a:t>
            </a:r>
            <a:endParaRPr lang="en-US" sz="900" dirty="0"/>
          </a:p>
        </p:txBody>
      </p:sp>
      <p:sp>
        <p:nvSpPr>
          <p:cNvPr id="6" name="Text 4"/>
          <p:cNvSpPr/>
          <p:nvPr/>
        </p:nvSpPr>
        <p:spPr>
          <a:xfrm>
            <a:off x="10954512" y="6437376"/>
            <a:ext cx="6400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8B919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32</a:t>
            </a:r>
            <a:endParaRPr lang="en-US" sz="900" dirty="0"/>
          </a:p>
        </p:txBody>
      </p:sp>
    </p:spTree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66928" y="384048"/>
            <a:ext cx="1102766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spc="160" kern="0" dirty="0">
                <a:solidFill>
                  <a:srgbClr val="6B4C7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L30 · LEAKAGE</a:t>
            </a:r>
            <a:endParaRPr lang="en-US" sz="1050" dirty="0"/>
          </a:p>
        </p:txBody>
      </p:sp>
      <p:sp>
        <p:nvSpPr>
          <p:cNvPr id="3" name="Text 1"/>
          <p:cNvSpPr/>
          <p:nvPr/>
        </p:nvSpPr>
        <p:spPr>
          <a:xfrm>
            <a:off x="566928" y="676656"/>
            <a:ext cx="11027664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000" b="1" dirty="0">
                <a:solidFill>
                  <a:srgbClr val="1B2229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Four paths, and how to close each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566928" y="1783080"/>
            <a:ext cx="5367528" cy="1842516"/>
          </a:xfrm>
          <a:prstGeom prst="roundRect">
            <a:avLst>
              <a:gd name="adj" fmla="val 3474"/>
            </a:avLst>
          </a:prstGeom>
          <a:solidFill>
            <a:srgbClr val="FFFFFF"/>
          </a:solidFill>
          <a:ln w="11430">
            <a:solidFill>
              <a:srgbClr val="D8DDE0"/>
            </a:solidFill>
            <a:prstDash val="solid"/>
          </a:ln>
          <a:effectLst>
            <a:outerShdw sx="100000" sy="100000" kx="0" ky="0" algn="bl" rotWithShape="0" blurRad="88900" dist="12700" dir="5400000">
              <a:srgbClr val="9AA5AC">
                <a:alpha val="18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804672" y="2002536"/>
            <a:ext cx="402336" cy="402336"/>
          </a:xfrm>
          <a:prstGeom prst="ellipse">
            <a:avLst/>
          </a:prstGeom>
          <a:solidFill>
            <a:srgbClr val="EFE8F2"/>
          </a:solidFill>
          <a:ln/>
        </p:spPr>
      </p:sp>
      <p:sp>
        <p:nvSpPr>
          <p:cNvPr id="6" name="Text 4"/>
          <p:cNvSpPr/>
          <p:nvPr/>
        </p:nvSpPr>
        <p:spPr>
          <a:xfrm>
            <a:off x="804672" y="2002536"/>
            <a:ext cx="40233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4E375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01</a:t>
            </a:r>
            <a:endParaRPr lang="en-US" sz="1300" dirty="0"/>
          </a:p>
        </p:txBody>
      </p:sp>
      <p:sp>
        <p:nvSpPr>
          <p:cNvPr id="7" name="Text 5"/>
          <p:cNvSpPr/>
          <p:nvPr/>
        </p:nvSpPr>
        <p:spPr>
          <a:xfrm>
            <a:off x="1316736" y="2002536"/>
            <a:ext cx="4361688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1B222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Preprocessing on all data</a:t>
            </a:r>
            <a:endParaRPr lang="en-US" sz="1450" dirty="0"/>
          </a:p>
        </p:txBody>
      </p:sp>
      <p:sp>
        <p:nvSpPr>
          <p:cNvPr id="8" name="Text 6"/>
          <p:cNvSpPr/>
          <p:nvPr/>
        </p:nvSpPr>
        <p:spPr>
          <a:xfrm>
            <a:off x="822960" y="2532888"/>
            <a:ext cx="4855464" cy="9098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dirty="0">
                <a:solidFill>
                  <a:srgbClr val="5A64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Scaler or imputer fitted before the split sees test statistics. Fix: fit inside a Pipeline, on train only.</a:t>
            </a:r>
            <a:endParaRPr lang="en-US" sz="1250" dirty="0"/>
          </a:p>
        </p:txBody>
      </p:sp>
      <p:sp>
        <p:nvSpPr>
          <p:cNvPr id="9" name="Shape 7"/>
          <p:cNvSpPr/>
          <p:nvPr/>
        </p:nvSpPr>
        <p:spPr>
          <a:xfrm>
            <a:off x="6227064" y="1783080"/>
            <a:ext cx="5367528" cy="1842516"/>
          </a:xfrm>
          <a:prstGeom prst="roundRect">
            <a:avLst>
              <a:gd name="adj" fmla="val 3474"/>
            </a:avLst>
          </a:prstGeom>
          <a:solidFill>
            <a:srgbClr val="FFFFFF"/>
          </a:solidFill>
          <a:ln w="11430">
            <a:solidFill>
              <a:srgbClr val="D8DDE0"/>
            </a:solidFill>
            <a:prstDash val="solid"/>
          </a:ln>
          <a:effectLst>
            <a:outerShdw sx="100000" sy="100000" kx="0" ky="0" algn="bl" rotWithShape="0" blurRad="88900" dist="12700" dir="5400000">
              <a:srgbClr val="9AA5AC">
                <a:alpha val="18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6464808" y="2002536"/>
            <a:ext cx="402336" cy="402336"/>
          </a:xfrm>
          <a:prstGeom prst="ellipse">
            <a:avLst/>
          </a:prstGeom>
          <a:solidFill>
            <a:srgbClr val="EFE8F2"/>
          </a:solidFill>
          <a:ln/>
        </p:spPr>
      </p:sp>
      <p:sp>
        <p:nvSpPr>
          <p:cNvPr id="11" name="Text 9"/>
          <p:cNvSpPr/>
          <p:nvPr/>
        </p:nvSpPr>
        <p:spPr>
          <a:xfrm>
            <a:off x="6464808" y="2002536"/>
            <a:ext cx="40233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4E375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02</a:t>
            </a:r>
            <a:endParaRPr lang="en-US" sz="1300" dirty="0"/>
          </a:p>
        </p:txBody>
      </p:sp>
      <p:sp>
        <p:nvSpPr>
          <p:cNvPr id="12" name="Text 10"/>
          <p:cNvSpPr/>
          <p:nvPr/>
        </p:nvSpPr>
        <p:spPr>
          <a:xfrm>
            <a:off x="6976872" y="2002536"/>
            <a:ext cx="4361688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1B222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Target leakage</a:t>
            </a:r>
            <a:endParaRPr lang="en-US" sz="1450" dirty="0"/>
          </a:p>
        </p:txBody>
      </p:sp>
      <p:sp>
        <p:nvSpPr>
          <p:cNvPr id="13" name="Text 11"/>
          <p:cNvSpPr/>
          <p:nvPr/>
        </p:nvSpPr>
        <p:spPr>
          <a:xfrm>
            <a:off x="6483096" y="2532888"/>
            <a:ext cx="4855464" cy="9098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dirty="0">
                <a:solidFill>
                  <a:srgbClr val="5A64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feature contains the answer — a discharge code, or a target-encoded category. Fix: audit each feature's availability at prediction time.</a:t>
            </a:r>
            <a:endParaRPr lang="en-US" sz="1250" dirty="0"/>
          </a:p>
        </p:txBody>
      </p:sp>
      <p:sp>
        <p:nvSpPr>
          <p:cNvPr id="14" name="Shape 12"/>
          <p:cNvSpPr/>
          <p:nvPr/>
        </p:nvSpPr>
        <p:spPr>
          <a:xfrm>
            <a:off x="566928" y="3918204"/>
            <a:ext cx="5367528" cy="1842516"/>
          </a:xfrm>
          <a:prstGeom prst="roundRect">
            <a:avLst>
              <a:gd name="adj" fmla="val 3474"/>
            </a:avLst>
          </a:prstGeom>
          <a:solidFill>
            <a:srgbClr val="FFFFFF"/>
          </a:solidFill>
          <a:ln w="11430">
            <a:solidFill>
              <a:srgbClr val="D8DDE0"/>
            </a:solidFill>
            <a:prstDash val="solid"/>
          </a:ln>
          <a:effectLst>
            <a:outerShdw sx="100000" sy="100000" kx="0" ky="0" algn="bl" rotWithShape="0" blurRad="88900" dist="12700" dir="5400000">
              <a:srgbClr val="9AA5AC">
                <a:alpha val="18000"/>
              </a:srgbClr>
            </a:outerShdw>
          </a:effectLst>
        </p:spPr>
      </p:sp>
      <p:sp>
        <p:nvSpPr>
          <p:cNvPr id="15" name="Shape 13"/>
          <p:cNvSpPr/>
          <p:nvPr/>
        </p:nvSpPr>
        <p:spPr>
          <a:xfrm>
            <a:off x="804672" y="4137660"/>
            <a:ext cx="402336" cy="402336"/>
          </a:xfrm>
          <a:prstGeom prst="ellipse">
            <a:avLst/>
          </a:prstGeom>
          <a:solidFill>
            <a:srgbClr val="EFE8F2"/>
          </a:solidFill>
          <a:ln/>
        </p:spPr>
      </p:sp>
      <p:sp>
        <p:nvSpPr>
          <p:cNvPr id="16" name="Text 14"/>
          <p:cNvSpPr/>
          <p:nvPr/>
        </p:nvSpPr>
        <p:spPr>
          <a:xfrm>
            <a:off x="804672" y="4137660"/>
            <a:ext cx="40233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4E375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03</a:t>
            </a:r>
            <a:endParaRPr lang="en-US" sz="1300" dirty="0"/>
          </a:p>
        </p:txBody>
      </p:sp>
      <p:sp>
        <p:nvSpPr>
          <p:cNvPr id="17" name="Text 15"/>
          <p:cNvSpPr/>
          <p:nvPr/>
        </p:nvSpPr>
        <p:spPr>
          <a:xfrm>
            <a:off x="1316736" y="4137660"/>
            <a:ext cx="4361688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1B222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Temporal leakage</a:t>
            </a:r>
            <a:endParaRPr lang="en-US" sz="1450" dirty="0"/>
          </a:p>
        </p:txBody>
      </p:sp>
      <p:sp>
        <p:nvSpPr>
          <p:cNvPr id="18" name="Text 16"/>
          <p:cNvSpPr/>
          <p:nvPr/>
        </p:nvSpPr>
        <p:spPr>
          <a:xfrm>
            <a:off x="822960" y="4668012"/>
            <a:ext cx="4855464" cy="9098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dirty="0">
                <a:solidFill>
                  <a:srgbClr val="5A64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Training on rows recorded after the test rows. Fix: split by time, and check the date ranges of both sides.</a:t>
            </a:r>
            <a:endParaRPr lang="en-US" sz="1250" dirty="0"/>
          </a:p>
        </p:txBody>
      </p:sp>
      <p:sp>
        <p:nvSpPr>
          <p:cNvPr id="19" name="Shape 17"/>
          <p:cNvSpPr/>
          <p:nvPr/>
        </p:nvSpPr>
        <p:spPr>
          <a:xfrm>
            <a:off x="6227064" y="3918204"/>
            <a:ext cx="5367528" cy="1842516"/>
          </a:xfrm>
          <a:prstGeom prst="roundRect">
            <a:avLst>
              <a:gd name="adj" fmla="val 3474"/>
            </a:avLst>
          </a:prstGeom>
          <a:solidFill>
            <a:srgbClr val="FFFFFF"/>
          </a:solidFill>
          <a:ln w="11430">
            <a:solidFill>
              <a:srgbClr val="D8DDE0"/>
            </a:solidFill>
            <a:prstDash val="solid"/>
          </a:ln>
          <a:effectLst>
            <a:outerShdw sx="100000" sy="100000" kx="0" ky="0" algn="bl" rotWithShape="0" blurRad="88900" dist="12700" dir="5400000">
              <a:srgbClr val="9AA5AC">
                <a:alpha val="18000"/>
              </a:srgbClr>
            </a:outerShdw>
          </a:effectLst>
        </p:spPr>
      </p:sp>
      <p:sp>
        <p:nvSpPr>
          <p:cNvPr id="20" name="Shape 18"/>
          <p:cNvSpPr/>
          <p:nvPr/>
        </p:nvSpPr>
        <p:spPr>
          <a:xfrm>
            <a:off x="6464808" y="4137660"/>
            <a:ext cx="402336" cy="402336"/>
          </a:xfrm>
          <a:prstGeom prst="ellipse">
            <a:avLst/>
          </a:prstGeom>
          <a:solidFill>
            <a:srgbClr val="EFE8F2"/>
          </a:solidFill>
          <a:ln/>
        </p:spPr>
      </p:sp>
      <p:sp>
        <p:nvSpPr>
          <p:cNvPr id="21" name="Text 19"/>
          <p:cNvSpPr/>
          <p:nvPr/>
        </p:nvSpPr>
        <p:spPr>
          <a:xfrm>
            <a:off x="6464808" y="4137660"/>
            <a:ext cx="40233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4E375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04</a:t>
            </a:r>
            <a:endParaRPr lang="en-US" sz="1300" dirty="0"/>
          </a:p>
        </p:txBody>
      </p:sp>
      <p:sp>
        <p:nvSpPr>
          <p:cNvPr id="22" name="Text 20"/>
          <p:cNvSpPr/>
          <p:nvPr/>
        </p:nvSpPr>
        <p:spPr>
          <a:xfrm>
            <a:off x="6976872" y="4137660"/>
            <a:ext cx="4361688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1B222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Duplicate leakage</a:t>
            </a:r>
            <a:endParaRPr lang="en-US" sz="1450" dirty="0"/>
          </a:p>
        </p:txBody>
      </p:sp>
      <p:sp>
        <p:nvSpPr>
          <p:cNvPr id="23" name="Text 21"/>
          <p:cNvSpPr/>
          <p:nvPr/>
        </p:nvSpPr>
        <p:spPr>
          <a:xfrm>
            <a:off x="6483096" y="4668012"/>
            <a:ext cx="4855464" cy="9098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dirty="0">
                <a:solidFill>
                  <a:srgbClr val="5A64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same entity in train and test through duplicate rows. Fix: deduplicate first, then split by group.</a:t>
            </a:r>
            <a:endParaRPr lang="en-US" sz="1250" dirty="0"/>
          </a:p>
        </p:txBody>
      </p:sp>
      <p:sp>
        <p:nvSpPr>
          <p:cNvPr id="24" name="Text 22"/>
          <p:cNvSpPr/>
          <p:nvPr/>
        </p:nvSpPr>
        <p:spPr>
          <a:xfrm>
            <a:off x="566928" y="6437376"/>
            <a:ext cx="64008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8B91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DATA209 · Module 4 — Feature Engineering &amp; Structure</a:t>
            </a:r>
            <a:endParaRPr lang="en-US" sz="900" dirty="0"/>
          </a:p>
        </p:txBody>
      </p:sp>
      <p:sp>
        <p:nvSpPr>
          <p:cNvPr id="25" name="Text 23"/>
          <p:cNvSpPr/>
          <p:nvPr/>
        </p:nvSpPr>
        <p:spPr>
          <a:xfrm>
            <a:off x="10954512" y="6437376"/>
            <a:ext cx="6400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8B919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33</a:t>
            </a:r>
            <a:endParaRPr lang="en-US" sz="900" dirty="0"/>
          </a:p>
        </p:txBody>
      </p:sp>
    </p:spTree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66928" y="384048"/>
            <a:ext cx="1102766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spc="160" kern="0" dirty="0">
                <a:solidFill>
                  <a:srgbClr val="6B4C7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L30 · PREVENTION</a:t>
            </a:r>
            <a:endParaRPr lang="en-US" sz="1050" dirty="0"/>
          </a:p>
        </p:txBody>
      </p:sp>
      <p:sp>
        <p:nvSpPr>
          <p:cNvPr id="3" name="Text 1"/>
          <p:cNvSpPr/>
          <p:nvPr/>
        </p:nvSpPr>
        <p:spPr>
          <a:xfrm>
            <a:off x="566928" y="676656"/>
            <a:ext cx="11027664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000" b="1" dirty="0">
                <a:solidFill>
                  <a:srgbClr val="1B2229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The pipeline is the answer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566928" y="1783080"/>
            <a:ext cx="6947428" cy="3840480"/>
          </a:xfrm>
          <a:prstGeom prst="roundRect">
            <a:avLst>
              <a:gd name="adj" fmla="val 1429"/>
            </a:avLst>
          </a:prstGeom>
          <a:solidFill>
            <a:srgbClr val="1B2229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822960" y="1938528"/>
            <a:ext cx="6435364" cy="35295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dirty="0">
                <a:solidFill>
                  <a:srgbClr val="E4E9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from sklearn.model_selection import train_test_split, cross_val_score</a:t>
            </a:r>
            <a:endParaRPr lang="en-US" sz="1150" dirty="0"/>
          </a:p>
          <a:p>
            <a:pPr indent="0" marL="0">
              <a:buNone/>
            </a:pPr>
            <a:r>
              <a:rPr lang="en-US" sz="1150" dirty="0">
                <a:solidFill>
                  <a:srgbClr val="E4E9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from sklearn.pipeline import Pipeline</a:t>
            </a:r>
            <a:endParaRPr lang="en-US" sz="1150" dirty="0"/>
          </a:p>
          <a:p>
            <a:pPr indent="0" marL="0">
              <a:buNone/>
            </a:pPr>
            <a:r>
              <a:rPr lang="en-US" sz="1150" dirty="0">
                <a:solidFill>
                  <a:srgbClr val="E4E9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from sklearn.impute import SimpleImputer</a:t>
            </a:r>
            <a:endParaRPr lang="en-US" sz="1150" dirty="0"/>
          </a:p>
          <a:p>
            <a:pPr indent="0" marL="0">
              <a:buNone/>
            </a:pPr>
            <a:r>
              <a:rPr lang="en-US" sz="1150" dirty="0">
                <a:solidFill>
                  <a:srgbClr val="E4E9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from sklearn.preprocessing import StandardScaler</a:t>
            </a:r>
            <a:endParaRPr lang="en-US" sz="1150" dirty="0"/>
          </a:p>
          <a:p>
            <a:pPr indent="0" marL="0">
              <a:buNone/>
            </a:pPr>
            <a:r>
              <a:rPr lang="en-US" sz="1150" dirty="0">
                <a:solidFill>
                  <a:srgbClr val="E4E9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from sklearn.linear_model import LogisticRegression</a:t>
            </a:r>
            <a:endParaRPr lang="en-US" sz="1150" dirty="0"/>
          </a:p>
          <a:p>
            <a:pPr indent="0" marL="0">
              <a:buNone/>
            </a:pPr>
            <a:r>
              <a:rPr lang="en-US" sz="1150" dirty="0">
                <a:solidFill>
                  <a:srgbClr val="E4E9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endParaRPr lang="en-US" sz="1150" dirty="0"/>
          </a:p>
          <a:p>
            <a:pPr indent="0" marL="0">
              <a:buNone/>
            </a:pPr>
            <a:r>
              <a:rPr lang="en-US" sz="1150" dirty="0">
                <a:solidFill>
                  <a:srgbClr val="7FA8A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 1 — split FIRST, stratified, with a seed</a:t>
            </a:r>
            <a:endParaRPr lang="en-US" sz="1150" dirty="0"/>
          </a:p>
          <a:p>
            <a:pPr indent="0" marL="0">
              <a:buNone/>
            </a:pPr>
            <a:r>
              <a:rPr lang="en-US" sz="1150" dirty="0">
                <a:solidFill>
                  <a:srgbClr val="E4E9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X_tr, X_te, y_tr, y_te = train_test_split(</a:t>
            </a:r>
            <a:endParaRPr lang="en-US" sz="1150" dirty="0"/>
          </a:p>
          <a:p>
            <a:pPr indent="0" marL="0">
              <a:buNone/>
            </a:pPr>
            <a:r>
              <a:rPr lang="en-US" sz="1150" dirty="0">
                <a:solidFill>
                  <a:srgbClr val="E4E9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X, y, test_size=0.2, stratify=y, random_state=42)</a:t>
            </a:r>
            <a:endParaRPr lang="en-US" sz="1150" dirty="0"/>
          </a:p>
          <a:p>
            <a:pPr indent="0" marL="0">
              <a:buNone/>
            </a:pPr>
            <a:r>
              <a:rPr lang="en-US" sz="1150" dirty="0">
                <a:solidFill>
                  <a:srgbClr val="E4E9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endParaRPr lang="en-US" sz="1150" dirty="0"/>
          </a:p>
          <a:p>
            <a:pPr indent="0" marL="0">
              <a:buNone/>
            </a:pPr>
            <a:r>
              <a:rPr lang="en-US" sz="1150" dirty="0">
                <a:solidFill>
                  <a:srgbClr val="7FA8A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 2 — every fitted step lives inside the pipeline</a:t>
            </a:r>
            <a:endParaRPr lang="en-US" sz="1150" dirty="0"/>
          </a:p>
          <a:p>
            <a:pPr indent="0" marL="0">
              <a:buNone/>
            </a:pPr>
            <a:r>
              <a:rPr lang="en-US" sz="1150" dirty="0">
                <a:solidFill>
                  <a:srgbClr val="E4E9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pipe = Pipeline([('impute', SimpleImputer(strategy='median')),</a:t>
            </a:r>
            <a:endParaRPr lang="en-US" sz="1150" dirty="0"/>
          </a:p>
          <a:p>
            <a:pPr indent="0" marL="0">
              <a:buNone/>
            </a:pPr>
            <a:r>
              <a:rPr lang="en-US" sz="1150" dirty="0">
                <a:solidFill>
                  <a:srgbClr val="E4E9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         ('scale',  StandardScaler()),</a:t>
            </a:r>
            <a:endParaRPr lang="en-US" sz="1150" dirty="0"/>
          </a:p>
          <a:p>
            <a:pPr indent="0" marL="0">
              <a:buNone/>
            </a:pPr>
            <a:r>
              <a:rPr lang="en-US" sz="1150" dirty="0">
                <a:solidFill>
                  <a:srgbClr val="E4E9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         ('model',  LogisticRegression(max_iter=1000))])</a:t>
            </a:r>
            <a:endParaRPr lang="en-US" sz="1150" dirty="0"/>
          </a:p>
          <a:p>
            <a:pPr indent="0" marL="0">
              <a:buNone/>
            </a:pPr>
            <a:r>
              <a:rPr lang="en-US" sz="1150" dirty="0">
                <a:solidFill>
                  <a:srgbClr val="E4E9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endParaRPr lang="en-US" sz="1150" dirty="0"/>
          </a:p>
          <a:p>
            <a:pPr indent="0" marL="0">
              <a:buNone/>
            </a:pPr>
            <a:r>
              <a:rPr lang="en-US" sz="1150" dirty="0">
                <a:solidFill>
                  <a:srgbClr val="7FA8A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 3 — CV refits the whole pipeline on each fold</a:t>
            </a:r>
            <a:endParaRPr lang="en-US" sz="1150" dirty="0"/>
          </a:p>
          <a:p>
            <a:pPr indent="0" marL="0">
              <a:buNone/>
            </a:pPr>
            <a:r>
              <a:rPr lang="en-US" sz="1150" dirty="0">
                <a:solidFill>
                  <a:srgbClr val="E4E9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scores = cross_val_score(pipe, X_tr, y_tr, cv=5, scoring='roc_auc')</a:t>
            </a:r>
            <a:endParaRPr lang="en-US" sz="1150" dirty="0"/>
          </a:p>
          <a:p>
            <a:pPr indent="0" marL="0">
              <a:buNone/>
            </a:pPr>
            <a:r>
              <a:rPr lang="en-US" sz="1150" dirty="0">
                <a:solidFill>
                  <a:srgbClr val="E4E9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print(scores.mean().round(3), scores.std().round(3))</a:t>
            </a:r>
            <a:endParaRPr lang="en-US" sz="1150" dirty="0"/>
          </a:p>
        </p:txBody>
      </p:sp>
      <p:sp>
        <p:nvSpPr>
          <p:cNvPr id="6" name="Text 4"/>
          <p:cNvSpPr/>
          <p:nvPr/>
        </p:nvSpPr>
        <p:spPr>
          <a:xfrm>
            <a:off x="7955463" y="1828800"/>
            <a:ext cx="3639129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4E375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Why this works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7955463" y="2286000"/>
            <a:ext cx="3639129" cy="3291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228600" indent="-228600">
              <a:spcAft>
                <a:spcPts val="800"/>
              </a:spcAft>
              <a:buSzPct val="100000"/>
              <a:buChar char="•"/>
            </a:pPr>
            <a:r>
              <a:rPr lang="en-US" sz="1250" dirty="0">
                <a:solidFill>
                  <a:srgbClr val="5A64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Nothing is fitted before the split</a:t>
            </a:r>
            <a:endParaRPr lang="en-US" sz="1250" dirty="0"/>
          </a:p>
          <a:p>
            <a:pPr marL="228600" indent="-228600">
              <a:spcAft>
                <a:spcPts val="800"/>
              </a:spcAft>
              <a:buSzPct val="100000"/>
              <a:buChar char="•"/>
            </a:pPr>
            <a:r>
              <a:rPr lang="en-US" sz="1250" dirty="0">
                <a:solidFill>
                  <a:srgbClr val="5A64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cross_val_score refits every step on each fold's training portion</a:t>
            </a:r>
            <a:endParaRPr lang="en-US" sz="1250" dirty="0"/>
          </a:p>
          <a:p>
            <a:pPr marL="228600" indent="-228600">
              <a:spcAft>
                <a:spcPts val="800"/>
              </a:spcAft>
              <a:buSzPct val="100000"/>
              <a:buChar char="•"/>
            </a:pPr>
            <a:r>
              <a:rPr lang="en-US" sz="1250" dirty="0">
                <a:solidFill>
                  <a:srgbClr val="5A64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X_te is untouched until the very final evaluation</a:t>
            </a:r>
            <a:endParaRPr lang="en-US" sz="1250" dirty="0"/>
          </a:p>
          <a:p>
            <a:pPr marL="228600" indent="-228600">
              <a:spcAft>
                <a:spcPts val="800"/>
              </a:spcAft>
              <a:buSzPct val="100000"/>
              <a:buChar char="•"/>
            </a:pPr>
            <a:r>
              <a:rPr lang="en-US" sz="1250" dirty="0">
                <a:solidFill>
                  <a:srgbClr val="5A64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This exact structure is expected in the final project</a:t>
            </a:r>
            <a:endParaRPr lang="en-US" sz="1250" dirty="0"/>
          </a:p>
        </p:txBody>
      </p:sp>
      <p:sp>
        <p:nvSpPr>
          <p:cNvPr id="8" name="Text 6"/>
          <p:cNvSpPr/>
          <p:nvPr/>
        </p:nvSpPr>
        <p:spPr>
          <a:xfrm>
            <a:off x="566928" y="6437376"/>
            <a:ext cx="64008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8B91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DATA209 · Module 4 — Feature Engineering &amp; Structure</a:t>
            </a:r>
            <a:endParaRPr lang="en-US" sz="900" dirty="0"/>
          </a:p>
        </p:txBody>
      </p:sp>
      <p:sp>
        <p:nvSpPr>
          <p:cNvPr id="9" name="Text 7"/>
          <p:cNvSpPr/>
          <p:nvPr/>
        </p:nvSpPr>
        <p:spPr>
          <a:xfrm>
            <a:off x="10954512" y="6437376"/>
            <a:ext cx="6400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8B919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34</a:t>
            </a:r>
            <a:endParaRPr lang="en-US" sz="900" dirty="0"/>
          </a:p>
        </p:txBody>
      </p:sp>
    </p:spTree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66928" y="384048"/>
            <a:ext cx="1102766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spc="160" kern="0" dirty="0">
                <a:solidFill>
                  <a:srgbClr val="6B4C7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L30 · SAMPLING SKEWED DATA</a:t>
            </a:r>
            <a:endParaRPr lang="en-US" sz="1050" dirty="0"/>
          </a:p>
        </p:txBody>
      </p:sp>
      <p:sp>
        <p:nvSpPr>
          <p:cNvPr id="3" name="Text 1"/>
          <p:cNvSpPr/>
          <p:nvPr/>
        </p:nvSpPr>
        <p:spPr>
          <a:xfrm>
            <a:off x="566928" y="676656"/>
            <a:ext cx="11027664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000" b="1" dirty="0">
                <a:solidFill>
                  <a:srgbClr val="1B2229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Working with an imbalanced target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566928" y="1783080"/>
            <a:ext cx="6616598" cy="3931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228600" indent="-228600">
              <a:spcAft>
                <a:spcPts val="900"/>
              </a:spcAft>
              <a:buSzPct val="100000"/>
              <a:buChar char="•"/>
            </a:pPr>
            <a:r>
              <a:rPr lang="en-US" sz="1500" b="1" dirty="0">
                <a:solidFill>
                  <a:srgbClr val="1B222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Identify the imbalance during EDA and state it. It changes every downstream decision.</a:t>
            </a:r>
            <a:endParaRPr lang="en-US" sz="1500" dirty="0"/>
          </a:p>
          <a:p>
            <a:pPr marL="228600" indent="-228600">
              <a:spcAft>
                <a:spcPts val="900"/>
              </a:spcAft>
              <a:buSzPct val="100000"/>
              <a:buChar char="•"/>
            </a:pPr>
            <a:r>
              <a:rPr lang="en-US" sz="1500" dirty="0">
                <a:solidFill>
                  <a:srgbClr val="5A64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Accuracy is not an honest metric at 85 / 15 — a model predicting 'never' scores 85%</a:t>
            </a:r>
            <a:endParaRPr lang="en-US" sz="1500" dirty="0"/>
          </a:p>
          <a:p>
            <a:pPr marL="228600" indent="-228600">
              <a:spcAft>
                <a:spcPts val="900"/>
              </a:spcAft>
              <a:buSzPct val="100000"/>
              <a:buChar char="•"/>
            </a:pPr>
            <a:r>
              <a:rPr lang="en-US" sz="1500" dirty="0">
                <a:solidFill>
                  <a:srgbClr val="5A64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Report precision, recall, F1 and PR-AUC instead; choose by which error costs more</a:t>
            </a:r>
            <a:endParaRPr lang="en-US" sz="1500" dirty="0"/>
          </a:p>
          <a:p>
            <a:pPr marL="228600" indent="-228600">
              <a:spcAft>
                <a:spcPts val="900"/>
              </a:spcAft>
              <a:buSzPct val="100000"/>
              <a:buChar char="•"/>
            </a:pPr>
            <a:r>
              <a:rPr lang="en-US" sz="1500" dirty="0">
                <a:solidFill>
                  <a:srgbClr val="5A64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Stratify every split and every cross-validation fold</a:t>
            </a:r>
            <a:endParaRPr lang="en-US" sz="1500" dirty="0"/>
          </a:p>
          <a:p>
            <a:pPr marL="228600" indent="-228600">
              <a:spcAft>
                <a:spcPts val="900"/>
              </a:spcAft>
              <a:buSzPct val="100000"/>
              <a:buChar char="•"/>
            </a:pPr>
            <a:r>
              <a:rPr lang="en-US" sz="1500" dirty="0">
                <a:solidFill>
                  <a:srgbClr val="5A64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Resampling — oversampling the minority, undersampling the majority, SMOTE — belongs inside the training fold only</a:t>
            </a:r>
            <a:endParaRPr lang="en-US" sz="1500" dirty="0"/>
          </a:p>
          <a:p>
            <a:pPr marL="228600" indent="-228600">
              <a:spcAft>
                <a:spcPts val="900"/>
              </a:spcAft>
              <a:buSzPct val="100000"/>
              <a:buChar char="•"/>
            </a:pPr>
            <a:r>
              <a:rPr lang="en-US" sz="1500" dirty="0">
                <a:solidFill>
                  <a:srgbClr val="5A64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Class weights are often simpler and safer than resampling, and leak nothing</a:t>
            </a:r>
            <a:endParaRPr lang="en-US" sz="1500" dirty="0"/>
          </a:p>
        </p:txBody>
      </p:sp>
      <p:sp>
        <p:nvSpPr>
          <p:cNvPr id="5" name="Shape 3"/>
          <p:cNvSpPr/>
          <p:nvPr/>
        </p:nvSpPr>
        <p:spPr>
          <a:xfrm>
            <a:off x="7624633" y="1783080"/>
            <a:ext cx="3969959" cy="2679192"/>
          </a:xfrm>
          <a:prstGeom prst="roundRect">
            <a:avLst>
              <a:gd name="adj" fmla="val 2048"/>
            </a:avLst>
          </a:prstGeom>
          <a:solidFill>
            <a:srgbClr val="EFE8F2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7880665" y="1993392"/>
            <a:ext cx="3457895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4E375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 this course</a:t>
            </a:r>
            <a:endParaRPr lang="en-US" sz="1300" dirty="0"/>
          </a:p>
        </p:txBody>
      </p:sp>
      <p:sp>
        <p:nvSpPr>
          <p:cNvPr id="7" name="Text 5"/>
          <p:cNvSpPr/>
          <p:nvPr/>
        </p:nvSpPr>
        <p:spPr>
          <a:xfrm>
            <a:off x="7880665" y="2395728"/>
            <a:ext cx="3457895" cy="190195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228600" indent="-228600">
              <a:spcAft>
                <a:spcPts val="600"/>
              </a:spcAft>
              <a:buSzPct val="100000"/>
              <a:buChar char="•"/>
            </a:pPr>
            <a:r>
              <a:rPr lang="en-US" sz="1250" dirty="0">
                <a:solidFill>
                  <a:srgbClr val="5A64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Detect imbalance in EDA</a:t>
            </a:r>
            <a:endParaRPr lang="en-US" sz="1250" dirty="0"/>
          </a:p>
          <a:p>
            <a:pPr marL="228600" indent="-228600">
              <a:spcAft>
                <a:spcPts val="600"/>
              </a:spcAft>
              <a:buSzPct val="100000"/>
              <a:buChar char="•"/>
            </a:pPr>
            <a:r>
              <a:rPr lang="en-US" sz="1250" dirty="0">
                <a:solidFill>
                  <a:srgbClr val="5A64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Stratify the split</a:t>
            </a:r>
            <a:endParaRPr lang="en-US" sz="1250" dirty="0"/>
          </a:p>
          <a:p>
            <a:pPr marL="228600" indent="-228600">
              <a:spcAft>
                <a:spcPts val="600"/>
              </a:spcAft>
              <a:buSzPct val="100000"/>
              <a:buChar char="•"/>
            </a:pPr>
            <a:r>
              <a:rPr lang="en-US" sz="1250" dirty="0">
                <a:solidFill>
                  <a:srgbClr val="5A64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Report the right metric</a:t>
            </a:r>
            <a:endParaRPr lang="en-US" sz="1250" dirty="0"/>
          </a:p>
          <a:p>
            <a:pPr marL="228600" indent="-228600">
              <a:spcAft>
                <a:spcPts val="600"/>
              </a:spcAft>
              <a:buSzPct val="100000"/>
              <a:buChar char="•"/>
            </a:pPr>
            <a:r>
              <a:rPr lang="en-US" sz="1250" dirty="0">
                <a:solidFill>
                  <a:srgbClr val="5A64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Leave resampling to modelling</a:t>
            </a:r>
            <a:endParaRPr lang="en-US" sz="1250" dirty="0"/>
          </a:p>
        </p:txBody>
      </p:sp>
      <p:sp>
        <p:nvSpPr>
          <p:cNvPr id="8" name="Text 6"/>
          <p:cNvSpPr/>
          <p:nvPr/>
        </p:nvSpPr>
        <p:spPr>
          <a:xfrm>
            <a:off x="566928" y="5833872"/>
            <a:ext cx="10661904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rgbClr val="4E375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Resampling applied before the split duplicates minority rows across train and test. That is leakage path five.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566928" y="6437376"/>
            <a:ext cx="64008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8B91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DATA209 · Module 4 — Feature Engineering &amp; Structure</a:t>
            </a:r>
            <a:endParaRPr lang="en-US" sz="900" dirty="0"/>
          </a:p>
        </p:txBody>
      </p:sp>
      <p:sp>
        <p:nvSpPr>
          <p:cNvPr id="10" name="Text 8"/>
          <p:cNvSpPr/>
          <p:nvPr/>
        </p:nvSpPr>
        <p:spPr>
          <a:xfrm>
            <a:off x="10954512" y="6437376"/>
            <a:ext cx="6400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8B919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35</a:t>
            </a:r>
            <a:endParaRPr lang="en-US" sz="900" dirty="0"/>
          </a:p>
        </p:txBody>
      </p:sp>
    </p:spTree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66928" y="384048"/>
            <a:ext cx="1102766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spc="160" kern="0" dirty="0">
                <a:solidFill>
                  <a:srgbClr val="6B4C7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L30 · THE DELIVERABLE</a:t>
            </a:r>
            <a:endParaRPr lang="en-US" sz="1050" dirty="0"/>
          </a:p>
        </p:txBody>
      </p:sp>
      <p:sp>
        <p:nvSpPr>
          <p:cNvPr id="3" name="Text 1"/>
          <p:cNvSpPr/>
          <p:nvPr/>
        </p:nvSpPr>
        <p:spPr>
          <a:xfrm>
            <a:off x="566928" y="676656"/>
            <a:ext cx="11027664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000" b="1" dirty="0">
                <a:solidFill>
                  <a:srgbClr val="1B2229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Turning exploration into insight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566928" y="1783080"/>
            <a:ext cx="5367528" cy="1842516"/>
          </a:xfrm>
          <a:prstGeom prst="roundRect">
            <a:avLst>
              <a:gd name="adj" fmla="val 3474"/>
            </a:avLst>
          </a:prstGeom>
          <a:solidFill>
            <a:srgbClr val="FFFFFF"/>
          </a:solidFill>
          <a:ln w="11430">
            <a:solidFill>
              <a:srgbClr val="D8DDE0"/>
            </a:solidFill>
            <a:prstDash val="solid"/>
          </a:ln>
          <a:effectLst>
            <a:outerShdw sx="100000" sy="100000" kx="0" ky="0" algn="bl" rotWithShape="0" blurRad="88900" dist="12700" dir="5400000">
              <a:srgbClr val="9AA5AC">
                <a:alpha val="18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804672" y="2002536"/>
            <a:ext cx="402336" cy="402336"/>
          </a:xfrm>
          <a:prstGeom prst="ellipse">
            <a:avLst/>
          </a:prstGeom>
          <a:solidFill>
            <a:srgbClr val="EFE8F2"/>
          </a:solidFill>
          <a:ln/>
        </p:spPr>
      </p:sp>
      <p:sp>
        <p:nvSpPr>
          <p:cNvPr id="6" name="Text 4"/>
          <p:cNvSpPr/>
          <p:nvPr/>
        </p:nvSpPr>
        <p:spPr>
          <a:xfrm>
            <a:off x="804672" y="2002536"/>
            <a:ext cx="40233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4E375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</a:t>
            </a:r>
            <a:endParaRPr lang="en-US" sz="1300" dirty="0"/>
          </a:p>
        </p:txBody>
      </p:sp>
      <p:sp>
        <p:nvSpPr>
          <p:cNvPr id="7" name="Text 5"/>
          <p:cNvSpPr/>
          <p:nvPr/>
        </p:nvSpPr>
        <p:spPr>
          <a:xfrm>
            <a:off x="1316736" y="2002536"/>
            <a:ext cx="4361688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1B222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the data is</a:t>
            </a:r>
            <a:endParaRPr lang="en-US" sz="1450" dirty="0"/>
          </a:p>
        </p:txBody>
      </p:sp>
      <p:sp>
        <p:nvSpPr>
          <p:cNvPr id="8" name="Text 6"/>
          <p:cNvSpPr/>
          <p:nvPr/>
        </p:nvSpPr>
        <p:spPr>
          <a:xfrm>
            <a:off x="822960" y="2532888"/>
            <a:ext cx="4855464" cy="9098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dirty="0">
                <a:solidFill>
                  <a:srgbClr val="5A64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Source, sampling frame, rows, columns, period. What it can and cannot speak to.</a:t>
            </a:r>
            <a:endParaRPr lang="en-US" sz="1250" dirty="0"/>
          </a:p>
        </p:txBody>
      </p:sp>
      <p:sp>
        <p:nvSpPr>
          <p:cNvPr id="9" name="Shape 7"/>
          <p:cNvSpPr/>
          <p:nvPr/>
        </p:nvSpPr>
        <p:spPr>
          <a:xfrm>
            <a:off x="6227064" y="1783080"/>
            <a:ext cx="5367528" cy="1842516"/>
          </a:xfrm>
          <a:prstGeom prst="roundRect">
            <a:avLst>
              <a:gd name="adj" fmla="val 3474"/>
            </a:avLst>
          </a:prstGeom>
          <a:solidFill>
            <a:srgbClr val="FFFFFF"/>
          </a:solidFill>
          <a:ln w="11430">
            <a:solidFill>
              <a:srgbClr val="D8DDE0"/>
            </a:solidFill>
            <a:prstDash val="solid"/>
          </a:ln>
          <a:effectLst>
            <a:outerShdw sx="100000" sy="100000" kx="0" ky="0" algn="bl" rotWithShape="0" blurRad="88900" dist="12700" dir="5400000">
              <a:srgbClr val="9AA5AC">
                <a:alpha val="18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6464808" y="2002536"/>
            <a:ext cx="402336" cy="402336"/>
          </a:xfrm>
          <a:prstGeom prst="ellipse">
            <a:avLst/>
          </a:prstGeom>
          <a:solidFill>
            <a:srgbClr val="EFE8F2"/>
          </a:solidFill>
          <a:ln/>
        </p:spPr>
      </p:sp>
      <p:sp>
        <p:nvSpPr>
          <p:cNvPr id="11" name="Text 9"/>
          <p:cNvSpPr/>
          <p:nvPr/>
        </p:nvSpPr>
        <p:spPr>
          <a:xfrm>
            <a:off x="6464808" y="2002536"/>
            <a:ext cx="40233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4E375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2</a:t>
            </a:r>
            <a:endParaRPr lang="en-US" sz="1300" dirty="0"/>
          </a:p>
        </p:txBody>
      </p:sp>
      <p:sp>
        <p:nvSpPr>
          <p:cNvPr id="12" name="Text 10"/>
          <p:cNvSpPr/>
          <p:nvPr/>
        </p:nvSpPr>
        <p:spPr>
          <a:xfrm>
            <a:off x="6976872" y="2002536"/>
            <a:ext cx="4361688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1B222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was wrong with it</a:t>
            </a:r>
            <a:endParaRPr lang="en-US" sz="1450" dirty="0"/>
          </a:p>
        </p:txBody>
      </p:sp>
      <p:sp>
        <p:nvSpPr>
          <p:cNvPr id="13" name="Text 11"/>
          <p:cNvSpPr/>
          <p:nvPr/>
        </p:nvSpPr>
        <p:spPr>
          <a:xfrm>
            <a:off x="6483096" y="2532888"/>
            <a:ext cx="4855464" cy="9098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dirty="0">
                <a:solidFill>
                  <a:srgbClr val="5A64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cleaning log: missingness, outliers, duplicates, and every decision you made.</a:t>
            </a:r>
            <a:endParaRPr lang="en-US" sz="1250" dirty="0"/>
          </a:p>
        </p:txBody>
      </p:sp>
      <p:sp>
        <p:nvSpPr>
          <p:cNvPr id="14" name="Shape 12"/>
          <p:cNvSpPr/>
          <p:nvPr/>
        </p:nvSpPr>
        <p:spPr>
          <a:xfrm>
            <a:off x="566928" y="3918204"/>
            <a:ext cx="5367528" cy="1842516"/>
          </a:xfrm>
          <a:prstGeom prst="roundRect">
            <a:avLst>
              <a:gd name="adj" fmla="val 3474"/>
            </a:avLst>
          </a:prstGeom>
          <a:solidFill>
            <a:srgbClr val="FFFFFF"/>
          </a:solidFill>
          <a:ln w="11430">
            <a:solidFill>
              <a:srgbClr val="D8DDE0"/>
            </a:solidFill>
            <a:prstDash val="solid"/>
          </a:ln>
          <a:effectLst>
            <a:outerShdw sx="100000" sy="100000" kx="0" ky="0" algn="bl" rotWithShape="0" blurRad="88900" dist="12700" dir="5400000">
              <a:srgbClr val="9AA5AC">
                <a:alpha val="18000"/>
              </a:srgbClr>
            </a:outerShdw>
          </a:effectLst>
        </p:spPr>
      </p:sp>
      <p:sp>
        <p:nvSpPr>
          <p:cNvPr id="15" name="Shape 13"/>
          <p:cNvSpPr/>
          <p:nvPr/>
        </p:nvSpPr>
        <p:spPr>
          <a:xfrm>
            <a:off x="804672" y="4137660"/>
            <a:ext cx="402336" cy="402336"/>
          </a:xfrm>
          <a:prstGeom prst="ellipse">
            <a:avLst/>
          </a:prstGeom>
          <a:solidFill>
            <a:srgbClr val="EFE8F2"/>
          </a:solidFill>
          <a:ln/>
        </p:spPr>
      </p:sp>
      <p:sp>
        <p:nvSpPr>
          <p:cNvPr id="16" name="Text 14"/>
          <p:cNvSpPr/>
          <p:nvPr/>
        </p:nvSpPr>
        <p:spPr>
          <a:xfrm>
            <a:off x="804672" y="4137660"/>
            <a:ext cx="40233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4E375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3</a:t>
            </a:r>
            <a:endParaRPr lang="en-US" sz="1300" dirty="0"/>
          </a:p>
        </p:txBody>
      </p:sp>
      <p:sp>
        <p:nvSpPr>
          <p:cNvPr id="17" name="Text 15"/>
          <p:cNvSpPr/>
          <p:nvPr/>
        </p:nvSpPr>
        <p:spPr>
          <a:xfrm>
            <a:off x="1316736" y="4137660"/>
            <a:ext cx="4361688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1B222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it shows</a:t>
            </a:r>
            <a:endParaRPr lang="en-US" sz="1450" dirty="0"/>
          </a:p>
        </p:txBody>
      </p:sp>
      <p:sp>
        <p:nvSpPr>
          <p:cNvPr id="18" name="Text 16"/>
          <p:cNvSpPr/>
          <p:nvPr/>
        </p:nvSpPr>
        <p:spPr>
          <a:xfrm>
            <a:off x="822960" y="4668012"/>
            <a:ext cx="4855464" cy="9098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dirty="0">
                <a:solidFill>
                  <a:srgbClr val="5A64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findings, each with the figure that supports it and a sentence saying what it means.</a:t>
            </a:r>
            <a:endParaRPr lang="en-US" sz="1250" dirty="0"/>
          </a:p>
        </p:txBody>
      </p:sp>
      <p:sp>
        <p:nvSpPr>
          <p:cNvPr id="19" name="Shape 17"/>
          <p:cNvSpPr/>
          <p:nvPr/>
        </p:nvSpPr>
        <p:spPr>
          <a:xfrm>
            <a:off x="6227064" y="3918204"/>
            <a:ext cx="5367528" cy="1842516"/>
          </a:xfrm>
          <a:prstGeom prst="roundRect">
            <a:avLst>
              <a:gd name="adj" fmla="val 3474"/>
            </a:avLst>
          </a:prstGeom>
          <a:solidFill>
            <a:srgbClr val="FFFFFF"/>
          </a:solidFill>
          <a:ln w="11430">
            <a:solidFill>
              <a:srgbClr val="D8DDE0"/>
            </a:solidFill>
            <a:prstDash val="solid"/>
          </a:ln>
          <a:effectLst>
            <a:outerShdw sx="100000" sy="100000" kx="0" ky="0" algn="bl" rotWithShape="0" blurRad="88900" dist="12700" dir="5400000">
              <a:srgbClr val="9AA5AC">
                <a:alpha val="18000"/>
              </a:srgbClr>
            </a:outerShdw>
          </a:effectLst>
        </p:spPr>
      </p:sp>
      <p:sp>
        <p:nvSpPr>
          <p:cNvPr id="20" name="Shape 18"/>
          <p:cNvSpPr/>
          <p:nvPr/>
        </p:nvSpPr>
        <p:spPr>
          <a:xfrm>
            <a:off x="6464808" y="4137660"/>
            <a:ext cx="402336" cy="402336"/>
          </a:xfrm>
          <a:prstGeom prst="ellipse">
            <a:avLst/>
          </a:prstGeom>
          <a:solidFill>
            <a:srgbClr val="EFE8F2"/>
          </a:solidFill>
          <a:ln/>
        </p:spPr>
      </p:sp>
      <p:sp>
        <p:nvSpPr>
          <p:cNvPr id="21" name="Text 19"/>
          <p:cNvSpPr/>
          <p:nvPr/>
        </p:nvSpPr>
        <p:spPr>
          <a:xfrm>
            <a:off x="6464808" y="4137660"/>
            <a:ext cx="40233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4E375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4</a:t>
            </a:r>
            <a:endParaRPr lang="en-US" sz="1300" dirty="0"/>
          </a:p>
        </p:txBody>
      </p:sp>
      <p:sp>
        <p:nvSpPr>
          <p:cNvPr id="22" name="Text 20"/>
          <p:cNvSpPr/>
          <p:nvPr/>
        </p:nvSpPr>
        <p:spPr>
          <a:xfrm>
            <a:off x="6976872" y="4137660"/>
            <a:ext cx="4361688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1B222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comes next</a:t>
            </a:r>
            <a:endParaRPr lang="en-US" sz="1450" dirty="0"/>
          </a:p>
        </p:txBody>
      </p:sp>
      <p:sp>
        <p:nvSpPr>
          <p:cNvPr id="23" name="Text 21"/>
          <p:cNvSpPr/>
          <p:nvPr/>
        </p:nvSpPr>
        <p:spPr>
          <a:xfrm>
            <a:off x="6483096" y="4668012"/>
            <a:ext cx="4855464" cy="9098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dirty="0">
                <a:solidFill>
                  <a:srgbClr val="5A64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Hypotheses with falsification conditions, the modelling-ready dataset, and the caveats.</a:t>
            </a:r>
            <a:endParaRPr lang="en-US" sz="1250" dirty="0"/>
          </a:p>
        </p:txBody>
      </p:sp>
      <p:sp>
        <p:nvSpPr>
          <p:cNvPr id="24" name="Text 22"/>
          <p:cNvSpPr/>
          <p:nvPr/>
        </p:nvSpPr>
        <p:spPr>
          <a:xfrm>
            <a:off x="566928" y="6437376"/>
            <a:ext cx="64008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8B91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DATA209 · Module 4 — Feature Engineering &amp; Structure</a:t>
            </a:r>
            <a:endParaRPr lang="en-US" sz="900" dirty="0"/>
          </a:p>
        </p:txBody>
      </p:sp>
      <p:sp>
        <p:nvSpPr>
          <p:cNvPr id="25" name="Text 23"/>
          <p:cNvSpPr/>
          <p:nvPr/>
        </p:nvSpPr>
        <p:spPr>
          <a:xfrm>
            <a:off x="10954512" y="6437376"/>
            <a:ext cx="6400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8B919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36</a:t>
            </a:r>
            <a:endParaRPr lang="en-US" sz="900" dirty="0"/>
          </a:p>
        </p:txBody>
      </p:sp>
    </p:spTree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7">
    <p:bg>
      <p:bgPr>
        <a:solidFill>
          <a:srgbClr val="F2F4F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66928" y="457200"/>
            <a:ext cx="237744" cy="237744"/>
          </a:xfrm>
          <a:prstGeom prst="rect">
            <a:avLst/>
          </a:prstGeom>
          <a:solidFill>
            <a:srgbClr val="6B4C7A"/>
          </a:solidFill>
          <a:ln/>
        </p:spPr>
      </p:sp>
      <p:sp>
        <p:nvSpPr>
          <p:cNvPr id="3" name="Text 1"/>
          <p:cNvSpPr/>
          <p:nvPr/>
        </p:nvSpPr>
        <p:spPr>
          <a:xfrm>
            <a:off x="950976" y="402336"/>
            <a:ext cx="54864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160" kern="0" dirty="0">
                <a:solidFill>
                  <a:srgbClr val="4E375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PRACTICE SESSION P29–30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566928" y="841248"/>
            <a:ext cx="11027664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000" b="1" dirty="0">
                <a:solidFill>
                  <a:srgbClr val="1B2229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Full pipeline — final project build</a:t>
            </a:r>
            <a:endParaRPr lang="en-US" sz="3000" dirty="0"/>
          </a:p>
        </p:txBody>
      </p:sp>
      <p:sp>
        <p:nvSpPr>
          <p:cNvPr id="5" name="Shape 3"/>
          <p:cNvSpPr/>
          <p:nvPr/>
        </p:nvSpPr>
        <p:spPr>
          <a:xfrm>
            <a:off x="566928" y="1664208"/>
            <a:ext cx="6175492" cy="3566160"/>
          </a:xfrm>
          <a:prstGeom prst="roundRect">
            <a:avLst>
              <a:gd name="adj" fmla="val 1795"/>
            </a:avLst>
          </a:prstGeom>
          <a:solidFill>
            <a:srgbClr val="FFFFFF"/>
          </a:solidFill>
          <a:ln w="11430">
            <a:solidFill>
              <a:srgbClr val="D8DDE0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859536" y="1865376"/>
            <a:ext cx="559027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4E375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you do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877824" y="2286000"/>
            <a:ext cx="5553700" cy="2834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254000" indent="-254000">
              <a:spcAft>
                <a:spcPts val="900"/>
              </a:spcAft>
              <a:buSzPct val="100000"/>
              <a:buFont typeface="+mj-lt"/>
              <a:buAutoNum type="arabicPeriod" startAt="1"/>
            </a:pPr>
            <a:r>
              <a:rPr lang="en-US" sz="1350" dirty="0">
                <a:solidFill>
                  <a:srgbClr val="5A64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Assemble the complete pipeline: audit, clean, impute, transform, scale, encode, engineer, select</a:t>
            </a:r>
            <a:endParaRPr lang="en-US" sz="1350" dirty="0"/>
          </a:p>
          <a:p>
            <a:pPr marL="254000" indent="-254000">
              <a:spcAft>
                <a:spcPts val="900"/>
              </a:spcAft>
              <a:buSzPct val="100000"/>
              <a:buFont typeface="+mj-lt"/>
              <a:buAutoNum type="arabicPeriod" startAt="1"/>
            </a:pPr>
            <a:r>
              <a:rPr lang="en-US" sz="1350" dirty="0">
                <a:solidFill>
                  <a:srgbClr val="5A64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Split correctly — stratified or time-based — before any step is fitted</a:t>
            </a:r>
            <a:endParaRPr lang="en-US" sz="1350" dirty="0"/>
          </a:p>
          <a:p>
            <a:pPr marL="254000" indent="-254000">
              <a:spcAft>
                <a:spcPts val="900"/>
              </a:spcAft>
              <a:buSzPct val="100000"/>
              <a:buFont typeface="+mj-lt"/>
              <a:buAutoNum type="arabicPeriod" startAt="1"/>
            </a:pPr>
            <a:r>
              <a:rPr lang="en-US" sz="1350" dirty="0">
                <a:solidFill>
                  <a:srgbClr val="5A64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Wrap every fitted step in a Pipeline and validate with cross-validation</a:t>
            </a:r>
            <a:endParaRPr lang="en-US" sz="1350" dirty="0"/>
          </a:p>
          <a:p>
            <a:pPr marL="254000" indent="-254000">
              <a:spcAft>
                <a:spcPts val="900"/>
              </a:spcAft>
              <a:buSzPct val="100000"/>
              <a:buFont typeface="+mj-lt"/>
              <a:buAutoNum type="arabicPeriod" startAt="1"/>
            </a:pPr>
            <a:r>
              <a:rPr lang="en-US" sz="1350" dirty="0">
                <a:solidFill>
                  <a:srgbClr val="5A64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Audit your own work for all four leakage paths and document the check</a:t>
            </a:r>
            <a:endParaRPr lang="en-US" sz="1350" dirty="0"/>
          </a:p>
          <a:p>
            <a:pPr marL="254000" indent="-254000">
              <a:spcAft>
                <a:spcPts val="900"/>
              </a:spcAft>
              <a:buSzPct val="100000"/>
              <a:buFont typeface="+mj-lt"/>
              <a:buAutoNum type="arabicPeriod" startAt="1"/>
            </a:pPr>
            <a:r>
              <a:rPr lang="en-US" sz="1350" dirty="0">
                <a:solidFill>
                  <a:srgbClr val="5A64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Produce the findings section: what the data shows and what it cannot</a:t>
            </a:r>
            <a:endParaRPr lang="en-US" sz="1350" dirty="0"/>
          </a:p>
          <a:p>
            <a:pPr marL="254000" indent="-254000">
              <a:spcAft>
                <a:spcPts val="900"/>
              </a:spcAft>
              <a:buSzPct val="100000"/>
              <a:buFont typeface="+mj-lt"/>
              <a:buAutoNum type="arabicPeriod" startAt="1"/>
            </a:pPr>
            <a:r>
              <a:rPr lang="en-US" sz="1350" dirty="0">
                <a:solidFill>
                  <a:srgbClr val="5A64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State three hypotheses with falsification conditions and a recommendation on what to model next</a:t>
            </a:r>
            <a:endParaRPr lang="en-US" sz="1350" dirty="0"/>
          </a:p>
        </p:txBody>
      </p:sp>
      <p:sp>
        <p:nvSpPr>
          <p:cNvPr id="8" name="Shape 6"/>
          <p:cNvSpPr/>
          <p:nvPr/>
        </p:nvSpPr>
        <p:spPr>
          <a:xfrm>
            <a:off x="7183526" y="1664208"/>
            <a:ext cx="4411066" cy="1051560"/>
          </a:xfrm>
          <a:prstGeom prst="roundRect">
            <a:avLst>
              <a:gd name="adj" fmla="val 5217"/>
            </a:avLst>
          </a:prstGeom>
          <a:solidFill>
            <a:srgbClr val="FFFFFF"/>
          </a:solidFill>
          <a:ln w="11430">
            <a:solidFill>
              <a:srgbClr val="D8DDE0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7421270" y="1810512"/>
            <a:ext cx="3935578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spc="120" kern="0" dirty="0">
                <a:solidFill>
                  <a:srgbClr val="8B919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DATASET</a:t>
            </a:r>
            <a:endParaRPr lang="en-US" sz="950" dirty="0"/>
          </a:p>
        </p:txBody>
      </p:sp>
      <p:sp>
        <p:nvSpPr>
          <p:cNvPr id="10" name="Text 8"/>
          <p:cNvSpPr/>
          <p:nvPr/>
        </p:nvSpPr>
        <p:spPr>
          <a:xfrm>
            <a:off x="7421270" y="2066544"/>
            <a:ext cx="3935578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1B222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Your chosen dataset — at least 1,000 rows, mixed types</a:t>
            </a:r>
            <a:endParaRPr lang="en-US" sz="1300" dirty="0"/>
          </a:p>
        </p:txBody>
      </p:sp>
      <p:sp>
        <p:nvSpPr>
          <p:cNvPr id="11" name="Shape 9"/>
          <p:cNvSpPr/>
          <p:nvPr/>
        </p:nvSpPr>
        <p:spPr>
          <a:xfrm>
            <a:off x="7183526" y="2807208"/>
            <a:ext cx="4411066" cy="1298448"/>
          </a:xfrm>
          <a:prstGeom prst="roundRect">
            <a:avLst>
              <a:gd name="adj" fmla="val 4225"/>
            </a:avLst>
          </a:prstGeom>
          <a:solidFill>
            <a:srgbClr val="FFFFFF"/>
          </a:solidFill>
          <a:ln w="11430">
            <a:solidFill>
              <a:srgbClr val="D8DDE0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7421270" y="2953512"/>
            <a:ext cx="3935578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spc="120" kern="0" dirty="0">
                <a:solidFill>
                  <a:srgbClr val="8B919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NOTEBOOK IN THE COURSE DRIVE</a:t>
            </a:r>
            <a:endParaRPr lang="en-US" sz="950" dirty="0"/>
          </a:p>
        </p:txBody>
      </p:sp>
      <p:sp>
        <p:nvSpPr>
          <p:cNvPr id="13" name="Text 11"/>
          <p:cNvSpPr/>
          <p:nvPr/>
        </p:nvSpPr>
        <p:spPr>
          <a:xfrm>
            <a:off x="7421270" y="3209544"/>
            <a:ext cx="3935578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1B222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data_splitting_methods.ipynb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1B222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pima_data_splitting_explained.ipynb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1B222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Advanced EDA Components Pattern Mining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1B222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Hypothesis Creation Data Interpretability.ipynb</a:t>
            </a:r>
            <a:endParaRPr lang="en-US" sz="1100" dirty="0"/>
          </a:p>
        </p:txBody>
      </p:sp>
      <p:sp>
        <p:nvSpPr>
          <p:cNvPr id="14" name="Shape 12"/>
          <p:cNvSpPr/>
          <p:nvPr/>
        </p:nvSpPr>
        <p:spPr>
          <a:xfrm>
            <a:off x="7183526" y="4215384"/>
            <a:ext cx="4411066" cy="1014984"/>
          </a:xfrm>
          <a:prstGeom prst="roundRect">
            <a:avLst>
              <a:gd name="adj" fmla="val 5405"/>
            </a:avLst>
          </a:prstGeom>
          <a:solidFill>
            <a:srgbClr val="FFFFFF"/>
          </a:solidFill>
          <a:ln w="11430">
            <a:solidFill>
              <a:srgbClr val="D8DDE0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7421270" y="4361688"/>
            <a:ext cx="3935578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spc="120" kern="0" dirty="0">
                <a:solidFill>
                  <a:srgbClr val="8B919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SUBMIT</a:t>
            </a:r>
            <a:endParaRPr lang="en-US" sz="950" dirty="0"/>
          </a:p>
        </p:txBody>
      </p:sp>
      <p:sp>
        <p:nvSpPr>
          <p:cNvPr id="16" name="Text 14"/>
          <p:cNvSpPr/>
          <p:nvPr/>
        </p:nvSpPr>
        <p:spPr>
          <a:xfrm>
            <a:off x="7421270" y="4617720"/>
            <a:ext cx="3935578" cy="4663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1B222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Industry-style notebook plus a 12-minute presentation. Week 16, worth 30%.</a:t>
            </a:r>
            <a:endParaRPr lang="en-US" sz="1300" dirty="0"/>
          </a:p>
        </p:txBody>
      </p:sp>
      <p:sp>
        <p:nvSpPr>
          <p:cNvPr id="17" name="Text 15"/>
          <p:cNvSpPr/>
          <p:nvPr/>
        </p:nvSpPr>
        <p:spPr>
          <a:xfrm>
            <a:off x="566928" y="6437376"/>
            <a:ext cx="64008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8B91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DATA209 · Module 4 — Feature Engineering &amp; Structure</a:t>
            </a:r>
            <a:endParaRPr lang="en-US" sz="900" dirty="0"/>
          </a:p>
        </p:txBody>
      </p:sp>
      <p:sp>
        <p:nvSpPr>
          <p:cNvPr id="18" name="Text 16"/>
          <p:cNvSpPr/>
          <p:nvPr/>
        </p:nvSpPr>
        <p:spPr>
          <a:xfrm>
            <a:off x="10954512" y="6437376"/>
            <a:ext cx="6400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8B919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37</a:t>
            </a:r>
            <a:endParaRPr lang="en-US" sz="900" dirty="0"/>
          </a:p>
        </p:txBody>
      </p:sp>
    </p:spTree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8">
    <p:bg>
      <p:bgPr>
        <a:solidFill>
          <a:srgbClr val="4E375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66928" y="658368"/>
            <a:ext cx="11027664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Module 4 — what you should now be able to do</a:t>
            </a:r>
            <a:endParaRPr lang="en-US" sz="3200" dirty="0"/>
          </a:p>
        </p:txBody>
      </p:sp>
      <p:sp>
        <p:nvSpPr>
          <p:cNvPr id="3" name="Text 1"/>
          <p:cNvSpPr/>
          <p:nvPr/>
        </p:nvSpPr>
        <p:spPr>
          <a:xfrm>
            <a:off x="566928" y="1417320"/>
            <a:ext cx="1102766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AEBAC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You should now be able to:</a:t>
            </a:r>
            <a:endParaRPr lang="en-US" sz="1400" dirty="0"/>
          </a:p>
        </p:txBody>
      </p:sp>
      <p:sp>
        <p:nvSpPr>
          <p:cNvPr id="4" name="Text 2"/>
          <p:cNvSpPr/>
          <p:nvPr/>
        </p:nvSpPr>
        <p:spPr>
          <a:xfrm>
            <a:off x="566928" y="1874520"/>
            <a:ext cx="5239512" cy="3657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228600" indent="-228600">
              <a:spcAft>
                <a:spcPts val="1200"/>
              </a:spcAft>
              <a:buSzPct val="100000"/>
              <a:buChar char="•"/>
            </a:pPr>
            <a:r>
              <a:rPr lang="en-US" sz="1450" dirty="0">
                <a:solidFill>
                  <a:srgbClr val="E2E7E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Choose a transformation from measured skew and verify it worked</a:t>
            </a:r>
            <a:endParaRPr lang="en-US" sz="1450" dirty="0"/>
          </a:p>
          <a:p>
            <a:pPr marL="228600" indent="-228600">
              <a:spcAft>
                <a:spcPts val="1200"/>
              </a:spcAft>
              <a:buSzPct val="100000"/>
              <a:buChar char="•"/>
            </a:pPr>
            <a:r>
              <a:rPr lang="en-US" sz="1450" dirty="0">
                <a:solidFill>
                  <a:srgbClr val="E2E7E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Select a scaler that matches the data's outliers and the model's assumptions</a:t>
            </a:r>
            <a:endParaRPr lang="en-US" sz="1450" dirty="0"/>
          </a:p>
          <a:p>
            <a:pPr marL="228600" indent="-228600">
              <a:spcAft>
                <a:spcPts val="1200"/>
              </a:spcAft>
              <a:buSzPct val="100000"/>
              <a:buChar char="•"/>
            </a:pPr>
            <a:r>
              <a:rPr lang="en-US" sz="1450" dirty="0">
                <a:solidFill>
                  <a:srgbClr val="E2E7E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Order the steps correctly: split, impute, transform, scale, encode</a:t>
            </a:r>
            <a:endParaRPr lang="en-US" sz="1450" dirty="0"/>
          </a:p>
          <a:p>
            <a:pPr marL="228600" indent="-228600">
              <a:spcAft>
                <a:spcPts val="1200"/>
              </a:spcAft>
              <a:buSzPct val="100000"/>
              <a:buChar char="•"/>
            </a:pPr>
            <a:r>
              <a:rPr lang="en-US" sz="1450" dirty="0">
                <a:solidFill>
                  <a:srgbClr val="E2E7E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Construct features that encode domain knowledge, each with a rationale</a:t>
            </a:r>
            <a:endParaRPr lang="en-US" sz="1450" dirty="0"/>
          </a:p>
        </p:txBody>
      </p:sp>
      <p:sp>
        <p:nvSpPr>
          <p:cNvPr id="5" name="Text 3"/>
          <p:cNvSpPr/>
          <p:nvPr/>
        </p:nvSpPr>
        <p:spPr>
          <a:xfrm>
            <a:off x="6263640" y="1874520"/>
            <a:ext cx="5239512" cy="3657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228600" indent="-228600">
              <a:spcAft>
                <a:spcPts val="1200"/>
              </a:spcAft>
              <a:buSzPct val="100000"/>
              <a:buChar char="•"/>
            </a:pPr>
            <a:r>
              <a:rPr lang="en-US" sz="1450" dirty="0">
                <a:solidFill>
                  <a:srgbClr val="E2E7E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Apply filter, wrapper and embedded selection and read the agreement between them</a:t>
            </a:r>
            <a:endParaRPr lang="en-US" sz="1450" dirty="0"/>
          </a:p>
          <a:p>
            <a:pPr marL="228600" indent="-228600">
              <a:spcAft>
                <a:spcPts val="1200"/>
              </a:spcAft>
              <a:buSzPct val="100000"/>
              <a:buChar char="•"/>
            </a:pPr>
            <a:r>
              <a:rPr lang="en-US" sz="1450" dirty="0">
                <a:solidFill>
                  <a:srgbClr val="E2E7E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Run PCA, choose a retention threshold, and name each retained component</a:t>
            </a:r>
            <a:endParaRPr lang="en-US" sz="1450" dirty="0"/>
          </a:p>
          <a:p>
            <a:pPr marL="228600" indent="-228600">
              <a:spcAft>
                <a:spcPts val="1200"/>
              </a:spcAft>
              <a:buSzPct val="100000"/>
              <a:buChar char="•"/>
            </a:pPr>
            <a:r>
              <a:rPr lang="en-US" sz="1450" dirty="0">
                <a:solidFill>
                  <a:srgbClr val="E2E7E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Split honestly — stratified, time-based or grouped — and validate with cross-validation</a:t>
            </a:r>
            <a:endParaRPr lang="en-US" sz="1450" dirty="0"/>
          </a:p>
          <a:p>
            <a:pPr marL="228600" indent="-228600">
              <a:spcAft>
                <a:spcPts val="1200"/>
              </a:spcAft>
              <a:buSzPct val="100000"/>
              <a:buChar char="•"/>
            </a:pPr>
            <a:r>
              <a:rPr lang="en-US" sz="1450" dirty="0">
                <a:solidFill>
                  <a:srgbClr val="E2E7E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Identify and close all four leakage paths, and structure an EDA report that a reader can act on</a:t>
            </a:r>
            <a:endParaRPr lang="en-US" sz="1450" dirty="0"/>
          </a:p>
        </p:txBody>
      </p:sp>
    </p:spTree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66928" y="384048"/>
            <a:ext cx="1102766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spc="160" kern="0" dirty="0">
                <a:solidFill>
                  <a:srgbClr val="6B4C7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WHERE TO READ MORE</a:t>
            </a:r>
            <a:endParaRPr lang="en-US" sz="1050" dirty="0"/>
          </a:p>
        </p:txBody>
      </p:sp>
      <p:sp>
        <p:nvSpPr>
          <p:cNvPr id="3" name="Text 1"/>
          <p:cNvSpPr/>
          <p:nvPr/>
        </p:nvSpPr>
        <p:spPr>
          <a:xfrm>
            <a:off x="566928" y="676656"/>
            <a:ext cx="11027664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000" b="1" dirty="0">
                <a:solidFill>
                  <a:srgbClr val="1B2229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References for Module 4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566928" y="1783080"/>
            <a:ext cx="348081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4E375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Prescribed</a:t>
            </a:r>
            <a:endParaRPr lang="en-US" sz="1400" dirty="0"/>
          </a:p>
        </p:txBody>
      </p:sp>
      <p:sp>
        <p:nvSpPr>
          <p:cNvPr id="5" name="Shape 3"/>
          <p:cNvSpPr/>
          <p:nvPr/>
        </p:nvSpPr>
        <p:spPr>
          <a:xfrm>
            <a:off x="566928" y="2176272"/>
            <a:ext cx="3480816" cy="13716"/>
          </a:xfrm>
          <a:prstGeom prst="rect">
            <a:avLst/>
          </a:prstGeom>
          <a:solidFill>
            <a:srgbClr val="D8DDE0"/>
          </a:solidFill>
          <a:ln/>
        </p:spPr>
      </p:sp>
      <p:sp>
        <p:nvSpPr>
          <p:cNvPr id="6" name="Text 4"/>
          <p:cNvSpPr/>
          <p:nvPr/>
        </p:nvSpPr>
        <p:spPr>
          <a:xfrm>
            <a:off x="566928" y="2331720"/>
            <a:ext cx="3480816" cy="3291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1100"/>
              </a:spcAft>
              <a:buNone/>
            </a:pPr>
            <a:r>
              <a:rPr lang="en-US" sz="1200" dirty="0">
                <a:solidFill>
                  <a:srgbClr val="5A64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Myatt &amp; Johnson — Making Sense of Data I, Ch. 5–6</a:t>
            </a:r>
            <a:endParaRPr lang="en-US" sz="1200" dirty="0"/>
          </a:p>
          <a:p>
            <a:pPr indent="0" marL="0">
              <a:spcAft>
                <a:spcPts val="1100"/>
              </a:spcAft>
              <a:buNone/>
            </a:pPr>
            <a:r>
              <a:rPr lang="en-US" sz="1200" dirty="0">
                <a:solidFill>
                  <a:srgbClr val="5A64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Hastie, Tibshirani &amp; Friedman — Elements of Statistical Learning, Ch. 14</a:t>
            </a:r>
            <a:endParaRPr lang="en-US" sz="1200" dirty="0"/>
          </a:p>
          <a:p>
            <a:pPr indent="0" marL="0">
              <a:spcAft>
                <a:spcPts val="1100"/>
              </a:spcAft>
              <a:buNone/>
            </a:pPr>
            <a:r>
              <a:rPr lang="en-US" sz="1200" dirty="0">
                <a:solidFill>
                  <a:srgbClr val="5A64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Mukhiya &amp; Ahmed — Hands-On EDA with Python, Ch. 7–9</a:t>
            </a:r>
            <a:endParaRPr lang="en-US" sz="1200" dirty="0"/>
          </a:p>
          <a:p>
            <a:pPr indent="0" marL="0">
              <a:spcAft>
                <a:spcPts val="1100"/>
              </a:spcAft>
              <a:buNone/>
            </a:pPr>
            <a:r>
              <a:rPr lang="en-US" sz="1200" dirty="0">
                <a:solidFill>
                  <a:srgbClr val="5A64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Unpingco — Python for Probability, Statistics and ML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4340352" y="1783080"/>
            <a:ext cx="348081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4E375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Open access</a:t>
            </a:r>
            <a:endParaRPr lang="en-US" sz="1400" dirty="0"/>
          </a:p>
        </p:txBody>
      </p:sp>
      <p:sp>
        <p:nvSpPr>
          <p:cNvPr id="8" name="Shape 6"/>
          <p:cNvSpPr/>
          <p:nvPr/>
        </p:nvSpPr>
        <p:spPr>
          <a:xfrm>
            <a:off x="4340352" y="2176272"/>
            <a:ext cx="3480816" cy="13716"/>
          </a:xfrm>
          <a:prstGeom prst="rect">
            <a:avLst/>
          </a:prstGeom>
          <a:solidFill>
            <a:srgbClr val="D8DDE0"/>
          </a:solidFill>
          <a:ln/>
        </p:spPr>
      </p:sp>
      <p:sp>
        <p:nvSpPr>
          <p:cNvPr id="9" name="Text 7"/>
          <p:cNvSpPr/>
          <p:nvPr/>
        </p:nvSpPr>
        <p:spPr>
          <a:xfrm>
            <a:off x="4340352" y="2331720"/>
            <a:ext cx="3480816" cy="3291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1100"/>
              </a:spcAft>
              <a:buNone/>
            </a:pPr>
            <a:r>
              <a:rPr lang="en-US" sz="1200" dirty="0">
                <a:solidFill>
                  <a:srgbClr val="5A64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Kuhn &amp; Johnson — Feature Engineering and Selection (feat.engineering)</a:t>
            </a:r>
            <a:endParaRPr lang="en-US" sz="1200" dirty="0"/>
          </a:p>
          <a:p>
            <a:pPr indent="0" marL="0">
              <a:spcAft>
                <a:spcPts val="1100"/>
              </a:spcAft>
              <a:buNone/>
            </a:pPr>
            <a:r>
              <a:rPr lang="en-US" sz="1200" dirty="0">
                <a:solidFill>
                  <a:srgbClr val="5A64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James et al. — Introduction to Statistical Learning, Ch. 12</a:t>
            </a:r>
            <a:endParaRPr lang="en-US" sz="1200" dirty="0"/>
          </a:p>
          <a:p>
            <a:pPr indent="0" marL="0">
              <a:spcAft>
                <a:spcPts val="1100"/>
              </a:spcAft>
              <a:buNone/>
            </a:pPr>
            <a:r>
              <a:rPr lang="en-US" sz="1200" dirty="0">
                <a:solidFill>
                  <a:srgbClr val="5A64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Stanford CS229 — PCA and dimensionality reduction notes</a:t>
            </a:r>
            <a:endParaRPr lang="en-US" sz="1200" dirty="0"/>
          </a:p>
          <a:p>
            <a:pPr indent="0" marL="0">
              <a:spcAft>
                <a:spcPts val="1100"/>
              </a:spcAft>
              <a:buNone/>
            </a:pPr>
            <a:r>
              <a:rPr lang="en-US" sz="1200" dirty="0">
                <a:solidFill>
                  <a:srgbClr val="5A64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Berkeley Data 100 — PCA course notes</a:t>
            </a:r>
            <a:endParaRPr lang="en-US" sz="1200" dirty="0"/>
          </a:p>
        </p:txBody>
      </p:sp>
      <p:sp>
        <p:nvSpPr>
          <p:cNvPr id="10" name="Text 8"/>
          <p:cNvSpPr/>
          <p:nvPr/>
        </p:nvSpPr>
        <p:spPr>
          <a:xfrm>
            <a:off x="8113776" y="1783080"/>
            <a:ext cx="348081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4E375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Documentation</a:t>
            </a:r>
            <a:endParaRPr lang="en-US" sz="1400" dirty="0"/>
          </a:p>
        </p:txBody>
      </p:sp>
      <p:sp>
        <p:nvSpPr>
          <p:cNvPr id="11" name="Shape 9"/>
          <p:cNvSpPr/>
          <p:nvPr/>
        </p:nvSpPr>
        <p:spPr>
          <a:xfrm>
            <a:off x="8113776" y="2176272"/>
            <a:ext cx="3480816" cy="13716"/>
          </a:xfrm>
          <a:prstGeom prst="rect">
            <a:avLst/>
          </a:prstGeom>
          <a:solidFill>
            <a:srgbClr val="D8DDE0"/>
          </a:solidFill>
          <a:ln/>
        </p:spPr>
      </p:sp>
      <p:sp>
        <p:nvSpPr>
          <p:cNvPr id="12" name="Text 10"/>
          <p:cNvSpPr/>
          <p:nvPr/>
        </p:nvSpPr>
        <p:spPr>
          <a:xfrm>
            <a:off x="8113776" y="2331720"/>
            <a:ext cx="3480816" cy="3291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1100"/>
              </a:spcAft>
              <a:buNone/>
            </a:pPr>
            <a:r>
              <a:rPr lang="en-US" sz="1200" dirty="0">
                <a:solidFill>
                  <a:srgbClr val="5A64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scikit-learn — comparing the effect of different scalers</a:t>
            </a:r>
            <a:endParaRPr lang="en-US" sz="1200" dirty="0"/>
          </a:p>
          <a:p>
            <a:pPr indent="0" marL="0">
              <a:spcAft>
                <a:spcPts val="1100"/>
              </a:spcAft>
              <a:buNone/>
            </a:pPr>
            <a:r>
              <a:rPr lang="en-US" sz="1200" dirty="0">
                <a:solidFill>
                  <a:srgbClr val="5A64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scikit-learn — feature selection; decomposition; cross-validation</a:t>
            </a:r>
            <a:endParaRPr lang="en-US" sz="1200" dirty="0"/>
          </a:p>
          <a:p>
            <a:pPr indent="0" marL="0">
              <a:spcAft>
                <a:spcPts val="1100"/>
              </a:spcAft>
              <a:buNone/>
            </a:pPr>
            <a:r>
              <a:rPr lang="en-US" sz="1200" dirty="0">
                <a:solidFill>
                  <a:srgbClr val="5A64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scikit-learn — common pitfalls and data leakage</a:t>
            </a:r>
            <a:endParaRPr lang="en-US" sz="1200" dirty="0"/>
          </a:p>
          <a:p>
            <a:pPr indent="0" marL="0">
              <a:spcAft>
                <a:spcPts val="1100"/>
              </a:spcAft>
              <a:buNone/>
            </a:pPr>
            <a:r>
              <a:rPr lang="en-US" sz="1200" dirty="0">
                <a:solidFill>
                  <a:srgbClr val="5A64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Kaggle Learn — Feature Engineering</a:t>
            </a:r>
            <a:endParaRPr lang="en-US" sz="1200" dirty="0"/>
          </a:p>
        </p:txBody>
      </p:sp>
      <p:sp>
        <p:nvSpPr>
          <p:cNvPr id="13" name="Text 11"/>
          <p:cNvSpPr/>
          <p:nvPr/>
        </p:nvSpPr>
        <p:spPr>
          <a:xfrm>
            <a:off x="566928" y="6437376"/>
            <a:ext cx="64008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8B91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DATA209 · Module 4 — Feature Engineering &amp; Structure</a:t>
            </a:r>
            <a:endParaRPr lang="en-US" sz="900" dirty="0"/>
          </a:p>
        </p:txBody>
      </p:sp>
      <p:sp>
        <p:nvSpPr>
          <p:cNvPr id="14" name="Text 12"/>
          <p:cNvSpPr/>
          <p:nvPr/>
        </p:nvSpPr>
        <p:spPr>
          <a:xfrm>
            <a:off x="10954512" y="6437376"/>
            <a:ext cx="6400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8B919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39</a:t>
            </a:r>
            <a:endParaRPr lang="en-US" sz="9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39</Slides>
  <Notes>39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39</vt:i4>
      </vt:variant>
    </vt:vector>
  </HeadingPairs>
  <TitlesOfParts>
    <vt:vector size="42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  <vt:lpstr>Slide 18</vt:lpstr>
      <vt:lpstr>Slide 19</vt:lpstr>
      <vt:lpstr>Slide 20</vt:lpstr>
      <vt:lpstr>Slide 21</vt:lpstr>
      <vt:lpstr>Slide 22</vt:lpstr>
      <vt:lpstr>Slide 23</vt:lpstr>
      <vt:lpstr>Slide 24</vt:lpstr>
      <vt:lpstr>Slide 25</vt:lpstr>
      <vt:lpstr>Slide 26</vt:lpstr>
      <vt:lpstr>Slide 27</vt:lpstr>
      <vt:lpstr>Slide 28</vt:lpstr>
      <vt:lpstr>Slide 29</vt:lpstr>
      <vt:lpstr>Slide 30</vt:lpstr>
      <vt:lpstr>Slide 31</vt:lpstr>
      <vt:lpstr>Slide 32</vt:lpstr>
      <vt:lpstr>Slide 33</vt:lpstr>
      <vt:lpstr>Slide 34</vt:lpstr>
      <vt:lpstr>Slide 35</vt:lpstr>
      <vt:lpstr>Slide 36</vt:lpstr>
      <vt:lpstr>Slide 37</vt:lpstr>
      <vt:lpstr>Slide 38</vt:lpstr>
      <vt:lpstr>Slide 39</vt:lpstr>
    </vt:vector>
  </TitlesOfParts>
  <Company>Vidyashilp University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DATA209 Module 4 — Feature Engineering &amp; Structure</dc:title>
  <dc:subject>Advanced Exploratory Data Analysis</dc:subject>
  <dc:creator>Dr. Shital Bhatt</dc:creator>
  <cp:lastModifiedBy>Dr. Shital Bhatt</cp:lastModifiedBy>
  <cp:revision>1</cp:revision>
  <dcterms:created xsi:type="dcterms:W3CDTF">2026-07-29T13:14:08Z</dcterms:created>
  <dcterms:modified xsi:type="dcterms:W3CDTF">2026-07-29T13:14:08Z</dcterms:modified>
</cp:coreProperties>
</file>