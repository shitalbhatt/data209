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0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recorded as zero</c:v>
                </c:pt>
              </c:strCache>
            </c:strRef>
          </c:tx>
          <c:spPr>
            <a:solidFill>
              <a:srgbClr val="A675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Insulin</c:v>
                  </c:pt>
                  <c:pt idx="1">
                    <c:v>SkinThickness</c:v>
                  </c:pt>
                  <c:pt idx="2">
                    <c:v>BloodPressure</c:v>
                  </c:pt>
                  <c:pt idx="3">
                    <c:v>BMI</c:v>
                  </c:pt>
                  <c:pt idx="4">
                    <c:v>Glucose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374</c:v>
                </c:pt>
                <c:pt idx="1">
                  <c:v>227</c:v>
                </c:pt>
                <c:pt idx="2">
                  <c:v>35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30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deviation of Insulin</c:v>
                </c:pt>
              </c:strCache>
            </c:strRef>
          </c:tx>
          <c:spPr>
            <a:solidFill>
              <a:srgbClr val="A675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75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1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1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Observed values only</c:v>
                  </c:pt>
                  <c:pt idx="1">
                    <c:v>After mean imputation</c:v>
                  </c:pt>
                  <c:pt idx="2">
                    <c:v>After median imputation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118.8</c:v>
                </c:pt>
                <c:pt idx="1">
                  <c:v>85</c:v>
                </c:pt>
                <c:pt idx="2">
                  <c:v>86.4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outside the 1.5 × IQR fence</c:v>
                </c:pt>
              </c:strCache>
            </c:strRef>
          </c:tx>
          <c:spPr>
            <a:solidFill>
              <a:srgbClr val="A675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Insulin</c:v>
                  </c:pt>
                  <c:pt idx="1">
                    <c:v>DiabetesPedigree</c:v>
                  </c:pt>
                  <c:pt idx="2">
                    <c:v>BMI</c:v>
                  </c:pt>
                  <c:pt idx="3">
                    <c:v>Age</c:v>
                  </c:pt>
                  <c:pt idx="4">
                    <c:v>Pregnancies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29</c:v>
                </c:pt>
                <c:pt idx="2">
                  <c:v>19</c:v>
                </c:pt>
                <c:pt idx="3">
                  <c:v>9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0"/>
        <c:axPos val="b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is where most real analytical time is spent. Set that expectation on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recurring theme of the module: cleaning is not janitorial work, it is inference under a different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insulin is missing because the test was ordered only for at-risk patients, missingness itself predicts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run isna().sum() first, see all zeros, and then discover this. The surprise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number to remember: imputation bought completeness by manufacturing false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Module 4: log-transform first, then re-run the fence and watch most flags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03 · WEEKS 8–11 · CO3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Engineering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Anomaly Management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raw, multi-source, imperfect data into an analytical dataset you can defend.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Lectures · 4 Practicals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 · Application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· time series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· Week 11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 dataset against the six quality dimensions and produce a defensible cleaning log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data from multiple sources and resolve the inconsistencies that creates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missingness as MCAR, MAR or MNAR and choose a treatment that matches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by several methods and decide, per case, whether to treat, keep or investigate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 without introducing leakage or the dummy variable trap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what your cleaning did to the data, rather than assuming it helped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(25%, week 11)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assessment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course outcome CO3 — design and implement data pre-processing and transformation strategies.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cleaning decision is a modelling decision made early, with less evidence and usually without a record.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a mean asserts something about the missing values. Deleting an outlier asserts it was an error. Neither is neutral, and both must be written down.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A67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L15–16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dimensions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· integrating multiple sources · duplicates · inconsistent encodings · validation rules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 · THE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dimensions of data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values reflect reality? A blood pressure of 0 is precise, recorded, and wrong.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absent that should be present? Both explicit nulls and disguised 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values agree across records and sources? Same customer, two spellings, three formats.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values conform to the rules? Type, range, allowed set, cross-field logic.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0352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8096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8096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0160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6384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real-world entity represented once? Duplicates inflate counts and bias every statistic.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3776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1520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3584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9808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current enough for the question, and is every record from the same period?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L15 · PROFILING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dtypes, and memory — then per-column: nulls, zeros, unique count, min, max, top values.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exact duplicate rows, then duplicates on the business key alone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numeric column, check the range against what is physically possible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categorical column, list the full value set and look for near-duplicates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date column, check the range, the ordering, and the parse failures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finding in a cleaning log before you change anything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3154680"/>
          </a:xfrm>
          <a:prstGeom prst="roundRect">
            <a:avLst>
              <a:gd name="adj" fmla="val 173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cleaning 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found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is a deliverable, not a courtesy. Assignment 2 and the final project are both marked on 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 · MULTI-SOURCE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breaks when you join two sources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175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produces far fewer rows than 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 keys: trim, case-fold, strip punctuation, check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Granularity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count explodes after the join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side is finer-grained; aggregate it first, then join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drift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column, different meaning or unit across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explicitly; convert units before combining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entity appears in both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Deduplicate after the join, on the business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sources disagree about the same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precedence in advance and record which source won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row counts before and after a join. An unexplained change in row count is a bug until proven otherwise.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 · TWO EVERYDAY FAULTS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and inconsistent encodings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duplicates: identical across all columns — safe to drop, but count them first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duplicates: same entity, differing fields — the harder and more common case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duplicates: 'Ramesh Kumar' and 'Ramesh  Kumar' — needs string distance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record survives: most recent, most complete, or a merge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encodings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and whitespace: 'Male', 'male', 'male ' are three values to a computer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kg and lb, cm and m, INR and USD in one column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Dates: DD/MM/YYYY against MM/DD/YYYY — silently wrong for the first twelve days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Sentinels: 999, −1, 'NA', 'N/A', '', 'unknown' all meaning missing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before you count. Every frequency table computed on unstandardised categories is wrong.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 · VALIDATION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rules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an integer; Date parses as a date; Revenue is boolean. Enforce on load.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rules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between 40 and 400. BMI between 10 and 70. Age at least 21 in the Pima frame.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rules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VisitorType is one of three known values. Anything else is a data-entry error to investigate.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rules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date is not before admission. Total equals the sum of its parts.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quality audit in a dozen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40480"/>
          </a:xfrm>
          <a:prstGeom prst="roundRect">
            <a:avLst>
              <a:gd name="adj" fmla="val 142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= pd.DataFrame({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'dtype'   : df.dtypes.astype(str),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'nulls'   : df.isna().sum(),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'null_pct': (df.isna().mean() * 100).round(1),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'zeros'   : (df == 0).sum(),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'unique'  : df.nunique(),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'min'     : df.min(numeric_only=True),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'max'     : df.max(numeric_only=True),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print(audit)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print('exact duplicate rows:', df.duplicated().sum())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validity: physically impossible values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= {'Glucose': (40, 400), 'BMI': (10, 70), 'Age': (21, 100)}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col, (lo, hi) in rules.items():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bad = ~df[col].between(lo, hi)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print(col, 'out of range:', int(bad.sum()))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zeros column is the one that finds disguised missingness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null_pct decides strategy: 2% is imputable, 60% may not be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rules come from the domain, never from the data itself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P15–16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audit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full profile table: dtype, nulls, zeros, unique count, min, max per column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exact and key-level duplicates and decide which records survive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five validity rules from domain knowledge and measure the violations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categorical labels and show the value counts before and after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second source and reconcile the row counts before and after the join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cleaning log: finding, rows affected, action, justification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 · demographics.csv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Raw_Data_and_MultiSource.ipynb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data_preprocessing_notebook.ipynb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plus the cleaning log as a table. The log carries most of the marks.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A67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L17–18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MCAR, MAR and MNAR · detection including disguised missingness · imputation and what it costs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Missingness is data. The pattern of what is absent often carries more information than the values would have.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imputing anything, ask why the value is missing. The answer determines whether any imputation is legitimate.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L17 · THE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mechanisms of missingness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completely at random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unrelated to anything. A tube was dropped. Deletion is unbiased but wasteful; imputation is safe.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at random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depends on observed variables. Older patients skipped a test. Imputation conditioned on those variables works.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not at random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depends on the unobserved value itself. High earners hide income. No imputation is unbiased — model the missingness.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L17 · TELLING THEM APART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you can actually gather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binary indicator for missingness in each column, then explore it like any other variable.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the indicator with other observed columns — a strong relationship argues against MCAR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distribution of other variables between the missing and non-missing groups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Little's MCAR test gives formal evidence against MCAR, but not a distinction between MAR and MNAR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the missingness matrix: block patterns reveal structural causes such as a form change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data owner why the field is blank. This beats every statistical test available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indicator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legitimate feature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preserves the information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documents your assumption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was_missing column often improves both interpretability and downstream models. Do it before you impute.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 · DISGUISED MISSINGNESS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Zeros in the Pima dataset that are not zeros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carefully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df.isna().sum() returns zero for every column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48.7% of Insulin and 29.6% of SkinThickness are absent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person cannot have zero BMI or zero blood pressure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values defeat every automatic null check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directly from pima.csv. The single most important slide in this module.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 · OPTIONS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values: the menu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017520"/>
                <a:gridCol w="31638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Listwise deletion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any row with a missing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MCAR and few affected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Pima loses 49% of rows to Insulin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deletion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the variable entirely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Missingness is extreme and the column is weak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Loses a possibly predictive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/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with a central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baseline; low missingness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variance; distorts correlations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the k most similar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MAR; features are genuinely related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scaling; slow on large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/ MICE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each column from the 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MAR; several columns affected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Complex; can leak if fitted on all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+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was_missing, then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Missingness itself is informative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extra column per affected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default. Choose by mechanism and missingness rate, then measure what the choice did.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 · THE COST OF IMPUTING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mean imputation does to spread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collapses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 rows all receive the identical value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rows contribute zero deviation from the mean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falls by 28%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weaken and confidence intervals become dishonestly narrow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pima.csv after converting the disguised zeros to NaN. Always measure this before and after.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 · DOING IT HONESTLY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imputation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imputer on the training data only. Fitting on everything leaks test information — see Module 4.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after the train/test split, inside a pipeline, never on the full table beforehand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distribution before and after: plot both, and report the change in mean, standard deviation and skew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missingness indicator; it costs one column and preserves the information you just overwrote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at least two strategies and report the difference rather than defending your first choice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assumed mechanism in writing. 'Median imputation, assuming MAR given Age and BMI' is a complete claim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each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assumed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used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affected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mean and SD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imputation you cannot justify in one sentence should not be in the notebook.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imputation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40480"/>
          </a:xfrm>
          <a:prstGeom prst="roundRect">
            <a:avLst>
              <a:gd name="adj" fmla="val 142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SimpleImputer, KNNImputer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— make the disguised missingness visible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['Glucose','BloodPressure','SkinThickness','Insulin','BMI']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df[cols] = df[cols].replace(0, np.nan)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df[cols].isna().mean().round(3) * 100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— keep the information before overwriting 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cols: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df[f'{c}_missing'] = df[c].isna().astype(int)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— compare, do not assume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imp in [('median', SimpleImputer(strategy='median')),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('knn',    KNNImputer(n_neighbors=5))]: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pd.DataFrame(imp.fit_transform(df[cols]), columns=cols)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out.std().round(1).to_dict())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sentinels first — otherwise the imputer treats 0 as a real value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indicators before filling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final project this goes inside a Pipeline, fitted on train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P17–18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disguised zeros to NaN and report the true missingness rate per column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missingness indicators and test whether missingness correlates with other variables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for a mechanism — MCAR, MAR or MNAR — for at least two columns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mean, median and KNN imputation and compare the resulting distributions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change in mean, standard deviation and skew for each strategy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strategy and justify it in three sentences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Handling_Missing_Values.ipynb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VALUES.ipynb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Missing_Values_Complete_Analysis.ipynb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Missing_Values_Pima_Interactive_Fixed.ipynb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with a before/after comparison table and a written justification.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A67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L19–20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by z-score, MAD and IQR · multivariate methods · influence on modelling · treat, keep or investigate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L19 · DEFINITION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outlier is — and is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outlier 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far from the bulk of the data, by some stated rule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raised by a threshold you chose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an error: a typo, a unit slip, a sentinel value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most valuable record in the dataset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outlier is not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wrong, and not automatically deletable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without a threshold — 'outlier' alone is not a claim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in skewed data using symmetric rules; the IQR fence flags the tail by construction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 as an influential point in a model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fault diagnosis and rare-disease screening are all fields where the outliers are the entire point.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L19 · UNIVARIATE DETECTION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and when each fails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2377440"/>
                <a:gridCol w="37124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|x − mean| / SD &gt;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normal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inflate the SD and mask themselves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z (MAD)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0.6745·|x − median| / MAD &gt; 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Symmetric, not necessarily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Heavily skewed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fence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Q1 − 1.5·IQR or Q3 + 1.5·IQR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about the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data — over-flags the long 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the 1st or 99th percentile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flags 2% whether or not any exist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is the trap: with two extreme values, the standard deviation grows enough that neither exceeds 3. Use the MAD version.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L19 · ON THE PIMA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IQR-flagged points, by variable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deleting anything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and DiabetesPedigree are the most skewed columns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fence flags the tail of a skewed distribution by construction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candidates for transformation in Module 4, not deletion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glucose reading in a diabetes study is the signal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on pima.csv with the raw values. Flagging is cheap; the decision that follows is the work.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 · BEYOND ONE VARIABLE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outlier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distance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the centre accounting for covariance. Catches points that are ordinary on each axis but impossible jointly.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isolate anomalies in fewer cuts. Scales well, handles many dimensions, needs little tuning.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 point's local density to its neighbours'. Finds outliers relative to their own region.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 Envelope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robust Gaussian and flags what falls outside. Good when the data really is elliptical.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 · INFLUENCE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outliers do to an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 the mean and inflate the standard deviation, distorting every statistic built on them.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dominate squared-error objectives: linear regression, k-means and PCA all chase them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High-leverage points — extreme in the predictors — can rotate a fitted line on their own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defeat min–max scaling by stretching the range so every other value compresses toward zero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create or destroy an apparent correlation single-handedly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methods, medians and rank correlations are comparatively unbothered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alternatives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over mean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over SD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over Pearson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over StandardScaler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your headline statistic with and without the flagged points. If it barely moves, stop worrying about them.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 · 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Treat, keep or investigate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first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Always. Check against domain limits and the source record. Most decisions become obvious once you know what the value 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demonstrably an error — impossible value, duplicate, sentinel. Record the count and the reason.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Winsorise or cap at a percentile, or transform the variable. Keeps the row, limits the influence.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a genuine extreme observation. Report it, and use robust methods rather than deleting 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Detect, compare,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22192"/>
          </a:xfrm>
          <a:prstGeom prst="roundRect">
            <a:avLst>
              <a:gd name="adj" fmla="val 1435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iqr_flags(s, k=1.5):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q1, q3 = s.quantile([.25, .75]); iqr = q3 - q1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 &lt; q1 - k*iqr) | (s &gt; q3 + k*iqr)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mad_flags(s, t=3.5):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 = s.median()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mad = (s - med).abs().median()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0.6745 * (s - med).abs() / mad &gt; 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 = pd.DataFrame({c: iqr_flags(df[c]) for c in num})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print(flags.sum().sort_values(ascending=False))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does it actually matter?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= ~flags.any(axis=1)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print('with   :', df['Glucose'].corr(df['Outcome']).round(3))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print('without:', df.loc[keep,'Glucose'].corr(df.loc[keep,'Outcome']).round(3))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convert an argument into a measurement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correlation barely moves, the outliers are not driving your conclusion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moves a lot, you have found something that needs explaining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P19–20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outliers with the IQR fence and the modified z-score, and compare the two flag sets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multivariate method and identify rows that no univariate rule caught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five flagged records, check them against domain limits and state what you think each is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the key summary statistics and one correlation with and without the flagged points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treatment per variable — remove, cap, transform or keep — and justify each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before-and-after distribution plots for every variable you treated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Missing_Values_and_Outliers.ipynb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PIMA_Missing_Outliers_Complete.ipynb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with a per-variable decision table and the measured impact of each decision.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A67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L21–22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strategies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One-hot, label and target encoding · the dummy variable trap · imbalance and high cardinality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 · WHY ENCODE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have to become numbers — carefully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algorithms require numeric input. The encoding you pick decides what the model can learn.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1, 2, 3 to unordered categories invents an order and a spacing that do not exist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will then treat category 3 as 'more' than category 1, and as equidistant from 2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genuinely ordinal data, an ordered integer mapping is correct and desirable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nominal data with few levels, one-hot is the safe default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interacts with scaling, with imputation and with the train/test split — order matters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ordinal or nominal?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levels?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level set stable?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handle categories natively?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tolerate label encoding of nominal data better than linear models, but interpretation still suffers.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L21 · THE MAIN SCHEMES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an encoding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3108960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5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integer per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data, or tree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Invents order on nominal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(mapped)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Integers in a stated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ordinal, order 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equal spacing between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binary column per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Nominal, low 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explosion; dummy 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/ hashing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numeric encoding of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Collisions; loses interpretability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level with its count or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cardinality, frequency is meaningful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unrelated levels share a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level with the mean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cardinality and predictive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— the strongest trap in the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one-hot. Move to something cleverer only when cardinality forces you, and then be explicit about the risk.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 · TWO TRAPS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dummy variable trap and target leakage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variable trap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on k levels produces k perfectly collinear columns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column is exactly one minus the sum of the others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cannot invert the resulting matrix; coefficients become unstable or undefined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drop one level as the reference — drop_first=True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and regularised models are unaffected, but the redundancy remains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leakage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 level with its mean target uses the answer to build the feature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full dataset, every row sees its own target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looks excellent; live performance collapses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compute the mapping inside cross-validation folds, on training data only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smoothing so rare levels are pulled toward the global mean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feature seems implausibly predictive, suspect leakage before celebrating.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 · HARDER CASES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cardinality, imbalance and unseen levels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cardinality: group rare levels into 'Other' by a stated frequency threshold before encoding.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threshold as a parameter and report it — 'levels under 1% of rows' is reproducible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levels at prediction time will break a naive encoder; set handle_unknown='ignore'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in the target changes evaluation, not encoding — but note it here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imbalanced targets prefer stratified splits, and report precision, recall and PR-AUC rather than accuracy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targets: check that every class survives the split, and that rare classes have enough rows to learn from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and shoppers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outcome 65 / 35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revenue ≈ 85 / 15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need stratified splits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techniques belong to modelling, not EDA. Identify the imbalance here; handle it in the modelling course.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inside 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40480"/>
          </a:xfrm>
          <a:prstGeom prst="roundRect">
            <a:avLst>
              <a:gd name="adj" fmla="val 142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OneHotEncoder, OrdinalEncoder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nominal = ['VisitorType', 'TrafficType']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ordinal = ['Month']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 = ['Feb','Mar','May','June','Jul','Aug','Sep','Oct','Nov','Dec']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 = ColumnTransformer([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('num', SimpleImputer(strategy='median'), numeric_cols),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('nom', OneHotEncoder(drop='first',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handle_unknown='ignore'), nominal),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('ord', OrdinalEncoder(categories=[months]), ordinal),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Pipeline([('pre', pre)])   # fit on TRAIN only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drop='first' avoids the dummy trap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handle_unknown='ignore' survives unseen levels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whole pipeline on train only is what prevents leakage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object transforms test data identically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P21–22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2 — data quality mini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 messy dataset against the six quality dimensions and log every finding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resolve duplicates and inconsistent encodings, showing counts before and after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missingness mechanism per column and justify your imputation choice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by two methods and decide treat, keep or investigate for each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all categorical variables, avoiding the dummy trap and any target leakage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distributions before and after: did you improve the data or flatten it?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in the Module 3 brief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DataCleaning_NumericPreprocessing_PIMA.ipynb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feature_encoding_pima.ipynb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2.pdf (brief)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cleaning log and presentation. Due week 11, worth 25%.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what you should now be able to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 dataset against accuracy, completeness, consistency, validity, uniqueness and timeliness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multiple sources and explain any change in row count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disguised missingness that isna() cannot see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for a missingness mechanism and choose an imputation that matches it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imputation did to the mean, spread and shape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outliers univariately and multivariately, and decide per case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 without the dummy trap or target leakage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cleaning log that another analyst could follow and reproduce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for Module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Myatt &amp; Johnson — Making Sense of Data I, Ch. 2 (data preparation)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Mukhiya &amp; Ahmed — Hands-On EDA with Python, Ch. 4–6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Tabachnick &amp; Fidell — Using Multivariate Statistics, Ch.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— Feature Engineering and Selection (feat.engineering)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Data 100 — course notes on data cleaning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Buuren — Flexible Imputation of Missing Data (online)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NIST/SEMATECH e-Handbook — outlier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working with missing data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imputation of missing values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novelty and outlier detection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— Data Cleaning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Data Quality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3 — Data Quality Engineering</dc:title>
  <dc:subject>Advanced Exploratory Data Analysis</dc:subject>
  <dc:creator>Dr. Shital Bhatt</dc:creator>
  <cp:lastModifiedBy>Dr. Shital Bhatt</cp:lastModifiedBy>
  <cp:revision>1</cp:revision>
  <dcterms:created xsi:type="dcterms:W3CDTF">2026-07-29T13:14:08Z</dcterms:created>
  <dcterms:modified xsi:type="dcterms:W3CDTF">2026-07-29T13:14:08Z</dcterms:modified>
</cp:coreProperties>
</file>