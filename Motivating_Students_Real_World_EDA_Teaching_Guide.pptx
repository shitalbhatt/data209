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7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108960"/>
            <a:ext cx="4206240" cy="42062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3749040"/>
            <a:ext cx="2926080" cy="292608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50292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9692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Through Real-World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(DATA209)   |   BTech Hons. Data Science   |   Semester III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real-world problems and solutions to build curiosity and buy-in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 Statement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07992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vague brief into a sharp, testable statement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84464" y="24414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Analysis Approach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84464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diagnostic, predictive or prescriptive?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96512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2611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Hypothesis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curiosity to a testable claim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4096512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07992" y="42611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07992" y="4846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Dataset Features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0799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what a dataset is actually telling you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55864" y="4096512"/>
            <a:ext cx="3520440" cy="2148840"/>
          </a:xfrm>
          <a:prstGeom prst="rect">
            <a:avLst/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84464" y="42611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284464" y="4846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a Dataset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84464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credible, sufficient, ethical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REAL WORLD 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Real Datasets, Real Solutions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domain anchors — matched to the course's own resource list (Insurance, Retail, Pharma, Healthcare) — open each module.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554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965960"/>
            <a:ext cx="32918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1965960"/>
            <a:ext cx="31089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Angle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58200" y="1965960"/>
            <a:ext cx="30632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1965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Path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1554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23160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057400" y="2423160"/>
            <a:ext cx="32918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2423160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basket size dropping in some stores?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349240" y="2423160"/>
            <a:ext cx="31089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8968" y="2423160"/>
            <a:ext cx="28895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+ bivariate trends, seasonality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458200" y="2423160"/>
            <a:ext cx="3063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2423160"/>
            <a:ext cx="2843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stores, flag outlier SKUs, redesign promos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3264408"/>
            <a:ext cx="155448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264408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057400" y="3264408"/>
            <a:ext cx="329184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326440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patients are likely to be readmitted?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349240" y="3264408"/>
            <a:ext cx="310896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3264408"/>
            <a:ext cx="28895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patterns, correlation, distributions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458200" y="3264408"/>
            <a:ext cx="306324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928" y="3264408"/>
            <a:ext cx="2843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Feature-driven risk flags for care teams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4105656"/>
            <a:ext cx="1554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105656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2057400" y="4105656"/>
            <a:ext cx="32918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4105656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claims look like fraud?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349240" y="4105656"/>
            <a:ext cx="31089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4105656"/>
            <a:ext cx="28895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detection, categorical imbalance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58200" y="4105656"/>
            <a:ext cx="3063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928" y="4105656"/>
            <a:ext cx="2843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rules feeding a review queue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02920" y="4946904"/>
            <a:ext cx="155448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4946904"/>
            <a:ext cx="13350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2057400" y="4946904"/>
            <a:ext cx="329184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67128" y="4946904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a trial batch underperform?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349240" y="4946904"/>
            <a:ext cx="310896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4946904"/>
            <a:ext cx="28895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audit, multivariate grouping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8458200" y="4946904"/>
            <a:ext cx="3063240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67928" y="4946904"/>
            <a:ext cx="2843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hypothesis for the process team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 LIVE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Walkthrough: Retail Customer Churn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581912"/>
            <a:ext cx="585216" cy="585216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8105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retailer loses 18% of loyalty members every quarter — why?”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734056" y="187452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3483864" y="1581912"/>
            <a:ext cx="585216" cy="585216"/>
          </a:xfrm>
          <a:prstGeom prst="ellipse">
            <a:avLst/>
          </a:prstGeom>
          <a:solidFill>
            <a:srgbClr val="1B2A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71216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71216" y="2743200"/>
            <a:ext cx="18105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behavioural and transactional signals that precede churn, using last 12 months of purchase data.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965192" y="187452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1581912"/>
            <a:ext cx="585216" cy="585216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02352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 class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02352" y="2743200"/>
            <a:ext cx="18105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Live-code univariate spend distributions, segmentation, correlation heatmap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196328" y="187452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46136" y="1581912"/>
            <a:ext cx="585216" cy="585216"/>
          </a:xfrm>
          <a:prstGeom prst="ellipse">
            <a:avLst/>
          </a:prstGeom>
          <a:solidFill>
            <a:srgbClr val="D9695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6136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33488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33488" y="2743200"/>
            <a:ext cx="18105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with declining visit frequency in the last 60 days are more likely to churn.”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9427464" y="187452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77272" y="1581912"/>
            <a:ext cx="585216" cy="585216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64624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64624" y="2743200"/>
            <a:ext cx="18105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churn-risk segment the class just built could feed a real retention campaign.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TOPIC TO STATEMENT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Decide a 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367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business question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9385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“analyze this dataset” but “why are claims rejected 30% more in Region B?”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60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0545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decision it feeds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8072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 on the answer, and what will they do differently?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3741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it to what data can answer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6758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available variables, timeframe and granularity before committing.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2428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specific and measurable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544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population, the metric, and the time window explicitly.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5166360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166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11149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with 'so what?'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54132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wouldn't change a decision, tighten the statement further.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4652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2194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the healthcare dataset and find insights.”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4652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7F3F2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4297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“Among patients over 60 discharged in the last 12 months, which pre-discharge indicators predict readmission within 30 days?”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CLASSROOM TOOL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 Canvas (C-C-Q-O)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109728" cy="2148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928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setting? Which organization, process, or dataset are we in?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691640"/>
            <a:ext cx="109728" cy="2148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928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pain point or gap is being felt right now, and by whom?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4023360"/>
            <a:ext cx="109728" cy="2148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245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single, answerable question will this analysis pursue?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4023360"/>
            <a:ext cx="109728" cy="214884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2245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55080" y="475488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or action will the answer enable?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box can't be filled in one sentence, the problem isn't ready yet.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HOW TO ANALYZE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 Analysis Approaches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2606040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stats, distributions, trends over time.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2057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8912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average claim size look like by region?”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691640"/>
            <a:ext cx="260604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8803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segmentation, drill-down comparisons.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520440" y="4206240"/>
            <a:ext cx="2057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38912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claim rejections spike in Q3?”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1691640"/>
            <a:ext cx="2606040" cy="5486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8803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on engineered features, trained on history.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63640" y="4206240"/>
            <a:ext cx="2057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38912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claims are likely to be rejected next month?”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3252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732520" y="1691640"/>
            <a:ext cx="2606040" cy="54864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28" name="Text 26"/>
          <p:cNvSpPr/>
          <p:nvPr/>
        </p:nvSpPr>
        <p:spPr>
          <a:xfrm>
            <a:off x="873252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15400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28803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/ recommendation on top of a predictive layer.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006840" y="4206240"/>
            <a:ext cx="2057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438912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claims should be auto-flagged for review?”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035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centers on Descriptive and Diagnostic EDA — the foundation every Predictive/Prescriptive model later depends 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AID FOR STUDENTS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just need to summarize what's in the data?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0" y="1947672"/>
            <a:ext cx="2011680" cy="5394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947672"/>
            <a:ext cx="2011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Descriptive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to explain a cause behind a pattern?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999232"/>
            <a:ext cx="2011680" cy="5394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999232"/>
            <a:ext cx="2011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Diagnostic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to estimate a future value or class?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4050792"/>
            <a:ext cx="2011680" cy="5394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050792"/>
            <a:ext cx="2011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(needs a model, beyond EDA)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93776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a recommended action, not just a forecast?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5102352"/>
            <a:ext cx="2011680" cy="539496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5102352"/>
            <a:ext cx="2011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Prescriptive (needs optimization, beyond EDA)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78308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011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EDA Fits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0" y="246888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the descriptive + diagnostic engine that every predictive or prescriptive step depends on.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EDA: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Surfaces the pattern worth explaining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Rules out data-quality artefacts as “findings”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the features a later model will use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the hypotheses a model will test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PATTERN TO CLAIM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Hypothesis from EDA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is a specific, testable claim about a relationship in the data — not a vague hunch. EDA is where that claim is born, from a chart or a summary statistic that looks like a real pattern.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(H₀)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is no relationship between visit frequency and churn — any difference we see is noise.”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E7F3F2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514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Hypothesis (H₁)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whose visit frequency drops ≥40% in 60 days churn at a significantly higher rate.”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classroom hypothesis is SPECIFIC (named variables), DIRECTIONAL (states an expected relationship), and TESTABLE (a plot or test can support or refute it).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9377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hypotheses come from in EDA:  </a:t>
            </a: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skew in a distribution · a gap between group medians · a strong correlation on a heatmap · a spike in a time series · an unexpected cluster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PROCESS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Hypothesis-Building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57300" y="219456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pattern via summary stats or a plot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624328" y="2523744"/>
            <a:ext cx="100584" cy="73152"/>
          </a:xfrm>
          <a:prstGeom prst="rect">
            <a:avLst/>
          </a:prstGeom>
          <a:solidFill>
            <a:srgbClr val="C4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3360420" y="21945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36042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429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the pattern might exist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727448" y="2523744"/>
            <a:ext cx="100584" cy="73152"/>
          </a:xfrm>
          <a:prstGeom prst="rect">
            <a:avLst/>
          </a:prstGeom>
          <a:solidFill>
            <a:srgbClr val="C4CCD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63540" y="21945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6354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and H₁ in plain, specific language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830568" y="2523744"/>
            <a:ext cx="100584" cy="73152"/>
          </a:xfrm>
          <a:prstGeom prst="rect">
            <a:avLst/>
          </a:prstGeom>
          <a:solidFill>
            <a:srgbClr val="C4CCD6"/>
          </a:solidFill>
          <a:ln/>
        </p:spPr>
      </p:sp>
      <p:sp>
        <p:nvSpPr>
          <p:cNvPr id="20" name="Shape 18"/>
          <p:cNvSpPr/>
          <p:nvPr/>
        </p:nvSpPr>
        <p:spPr>
          <a:xfrm>
            <a:off x="7566660" y="2194560"/>
            <a:ext cx="731520" cy="731520"/>
          </a:xfrm>
          <a:prstGeom prst="ellipse">
            <a:avLst/>
          </a:prstGeom>
          <a:solidFill>
            <a:srgbClr val="D96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56666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429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pattern across sub-groups / time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933688" y="2523744"/>
            <a:ext cx="100584" cy="73152"/>
          </a:xfrm>
          <a:prstGeom prst="rect">
            <a:avLst/>
          </a:prstGeom>
          <a:solidFill>
            <a:srgbClr val="C4CCD6"/>
          </a:solidFill>
          <a:ln/>
        </p:spPr>
      </p:sp>
      <p:sp>
        <p:nvSpPr>
          <p:cNvPr id="25" name="Shape 23"/>
          <p:cNvSpPr/>
          <p:nvPr/>
        </p:nvSpPr>
        <p:spPr>
          <a:xfrm>
            <a:off x="9669780" y="219456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6697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5256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3429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or reword based on what EDA shows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DATASET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Features in a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“feature” is any column/variable used to describe or explain an observation. Before any EDA technique is chosen, students should classify every feature they're given.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03120"/>
            <a:ext cx="91440" cy="1417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2128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2542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discrete measures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58952" y="2944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claim amount, temperature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103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2103120"/>
            <a:ext cx="91440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16552" y="22128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16552" y="2542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or ordinal labels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416552" y="2944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plan type, satisfaction tier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2103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8120" y="2103120"/>
            <a:ext cx="91440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074152" y="22128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74152" y="2542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or semi-structured strings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8074152" y="2944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notes, product reviews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657600"/>
            <a:ext cx="91440" cy="141732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37673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8952" y="4096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indexed by time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758952" y="44988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sales, sensor readings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657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160520" y="3657600"/>
            <a:ext cx="91440" cy="1417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4416552" y="37673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Audio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16552" y="4096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matrices or waveforms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416552" y="44988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call-center recordings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18120" y="36576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3657600"/>
            <a:ext cx="91440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074152" y="37673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Label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74152" y="4096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being explained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8074152" y="449884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(yes/no), readmitted (yes/no)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035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separate independent (predictor) features from the dependent variable / target — this decision shapes every plot that follows.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COLUMNS TO SIGNAL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Identification &amp; Selection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1109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3794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49040" y="1837944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column; note dtype, source, and units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7706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check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269748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this plausibly relate to the problem statement?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6301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55701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49040" y="3557016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Missingness, duplicates, inconsistent encoding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02920" y="436168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489704"/>
            <a:ext cx="457200" cy="457200"/>
          </a:xfrm>
          <a:prstGeom prst="ellipse">
            <a:avLst/>
          </a:prstGeom>
          <a:solidFill>
            <a:srgbClr val="D9695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4165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check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749040" y="4416552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/ association with the target and with each other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02920" y="5221224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3492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27608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&amp; select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49040" y="5276088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combine, or drop; keep what earns its place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50292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maps directly to Module 4 (Feature Engineering, Transformation &amp; Analytical Structure) — filter, wrapper and embedded selection methods formalize step 5.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D969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Collect a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5623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196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portals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23500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UCI ML Repository, government open-data portals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8562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196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16552" y="23500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finance, social/web platform APIs for live or historical pulls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818120" y="16916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18562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196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74152" y="23500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transactional, CRM, or sensor logs (with permission)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10712"/>
            <a:ext cx="365760" cy="365760"/>
          </a:xfrm>
          <a:prstGeom prst="ellipse">
            <a:avLst/>
          </a:prstGeom>
          <a:solidFill>
            <a:srgbClr val="D9695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3741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&amp; forms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" y="39044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primary data collection for a specific question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16052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341071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3741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16552" y="39044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from public web pages, used responsibly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81812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341071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33741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research datasets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74152" y="39044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released alongside academic papers or benchmarks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0"/>
            <a:ext cx="822960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TRUST A DATASET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Checklist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6537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answer the problem statement?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73405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sample size sufficient for the question?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6027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time window relevant and recent enough?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47141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source and license clear and permitted for use?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186537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population represented without obvious bias?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73405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personally identifiable / sensitive fields handled ethically?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035040" y="36576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36027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granularity (row = what?) appropriate for the analysis?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6035040" y="45262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447141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data be refreshed or extended if needed?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502920" y="553212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5321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for students: if you can't describe where a dataset came from and what its rows represent in one sentence, don't start analyzing it yet.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Exploratory Data Analysis  |  DATA209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1582</Words>
  <Application>Microsoft Office PowerPoint</Application>
  <PresentationFormat>Widescreen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Shital Bhatt</cp:lastModifiedBy>
  <cp:revision>3</cp:revision>
  <dcterms:created xsi:type="dcterms:W3CDTF">2026-08-04T10:16:12Z</dcterms:created>
  <dcterms:modified xsi:type="dcterms:W3CDTF">2026-08-04T16:43:35Z</dcterms:modified>
</cp:coreProperties>
</file>